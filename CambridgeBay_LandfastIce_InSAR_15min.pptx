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f05c24-6035-6677-7132-88983076f822}">
          <p14:sldIdLst>
            <p14:sldId id="256"/>
            <p14:sldId id="257"/>
          </p14:sldIdLst>
        </p14:section>
        <p14:section name="Data and method" id="{c43e51d6-070a-be53-73d7-b1e77ff77218}">
          <p14:sldIdLst>
            <p14:sldId id="258"/>
            <p14:sldId id="259"/>
            <p14:sldId id="260"/>
            <p14:sldId id="261"/>
          </p14:sldIdLst>
        </p14:section>
        <p14:section name="Results" id="{8cfa0c53-9869-b633-0c87-53121ca9b73a}">
          <p14:sldIdLst>
            <p14:sldId id="262"/>
            <p14:sldId id="263"/>
            <p14:sldId id="264"/>
            <p14:sldId id="265"/>
            <p14:sldId id="266"/>
          </p14:sldIdLst>
        </p14:section>
        <p14:section name="Conclusions" id="{b280a424-9185-6246-0491-9e70fbbfaf74}">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14"/>
          <c:w val="0.86"/>
          <c:h val="0.68"/>
        </c:manualLayout>
      </c:layout>
      <c:lineChart>
        <c:varyColors val="0"/>
        <c:ser>
          <c:idx val="0"/>
          <c:order val="0"/>
          <c:tx>
            <c:strRef>
              <c:f>Sheet1!$B$1</c:f>
              <c:strCache>
                <c:ptCount val="1"/>
                <c:pt idx="0">
                  <c:v>2018–19</c:v>
                </c:pt>
              </c:strCache>
            </c:strRef>
          </c:tx>
          <c:spPr>
            <a:solidFill>
              <a:srgbClr val="1B6A8C"/>
            </a:solidFill>
            <a:ln w="38100" cap="flat">
              <a:solidFill>
                <a:srgbClr val="1B6A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6A8C"/>
              </a:solidFill>
              <a:ln w="9525" cap="flat">
                <a:solidFill>
                  <a:srgbClr val="1B6A8C"/>
                </a:solidFill>
                <a:prstDash val="solid"/>
                <a:round/>
              </a:ln>
              <a:effectLst/>
            </c:spPr>
          </c:marker>
          <c:cat>
            <c:multiLvlStrRef>
              <c:f>Sheet1!$A$2:$A$11</c:f>
              <c:multiLvlStrCache>
                <c:ptCount val="10"/>
                <c:lvl>
                  <c:pt idx="0">
                    <c:v>Mid Dec</c:v>
                  </c:pt>
                  <c:pt idx="1">
                    <c:v>Late Dec</c:v>
                  </c:pt>
                  <c:pt idx="2">
                    <c:v>Early Jan</c:v>
                  </c:pt>
                  <c:pt idx="3">
                    <c:v>Mid Jan</c:v>
                  </c:pt>
                  <c:pt idx="4">
                    <c:v>Late Jan</c:v>
                  </c:pt>
                  <c:pt idx="5">
                    <c:v>Mid Feb</c:v>
                  </c:pt>
                  <c:pt idx="6">
                    <c:v>Late Feb</c:v>
                  </c:pt>
                  <c:pt idx="7">
                    <c:v>Early Mar</c:v>
                  </c:pt>
                  <c:pt idx="8">
                    <c:v>Mid Mar</c:v>
                  </c:pt>
                  <c:pt idx="9">
                    <c:v>Early Apr</c:v>
                  </c:pt>
                </c:lvl>
              </c:multiLvlStrCache>
            </c:multiLvlStrRef>
          </c:cat>
          <c:val>
            <c:numRef>
              <c:f>Sheet1!$B$2:$B$11</c:f>
              <c:numCache>
                <c:formatCode>General</c:formatCode>
                <c:ptCount val="10"/>
                <c:pt idx="0">
                  <c:v>9</c:v>
                </c:pt>
                <c:pt idx="1">
                  <c:v>15</c:v>
                </c:pt>
                <c:pt idx="2">
                  <c:v>39</c:v>
                </c:pt>
                <c:pt idx="3">
                  <c:v>27</c:v>
                </c:pt>
                <c:pt idx="4">
                  <c:v>55</c:v>
                </c:pt>
                <c:pt idx="5">
                  <c:v>57</c:v>
                </c:pt>
                <c:pt idx="6">
                  <c:v>90</c:v>
                </c:pt>
                <c:pt idx="7">
                  <c:v>88</c:v>
                </c:pt>
                <c:pt idx="8">
                  <c:v>96</c:v>
                </c:pt>
                <c:pt idx="9">
                  <c:v>95</c:v>
                </c:pt>
              </c:numCache>
            </c:numRef>
          </c:val>
          <c:smooth val="0"/>
        </c:ser>
        <c:ser>
          <c:idx val="1"/>
          <c:order val="1"/>
          <c:tx>
            <c:strRef>
              <c:f>Sheet1!$C$1</c:f>
              <c:strCache>
                <c:ptCount val="1"/>
                <c:pt idx="0">
                  <c:v>2020–21</c:v>
                </c:pt>
              </c:strCache>
            </c:strRef>
          </c:tx>
          <c:spPr>
            <a:solidFill>
              <a:srgbClr val="E07A2F"/>
            </a:solidFill>
            <a:ln w="38100" cap="flat">
              <a:solidFill>
                <a:srgbClr val="E07A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07A2F"/>
              </a:solidFill>
              <a:ln w="9525" cap="flat">
                <a:solidFill>
                  <a:srgbClr val="E07A2F"/>
                </a:solidFill>
                <a:prstDash val="solid"/>
                <a:round/>
              </a:ln>
              <a:effectLst/>
            </c:spPr>
          </c:marker>
          <c:cat>
            <c:multiLvlStrRef>
              <c:f>Sheet1!$A$2:$A$11</c:f>
              <c:multiLvlStrCache>
                <c:ptCount val="10"/>
                <c:lvl>
                  <c:pt idx="0">
                    <c:v>Mid Dec</c:v>
                  </c:pt>
                  <c:pt idx="1">
                    <c:v>Late Dec</c:v>
                  </c:pt>
                  <c:pt idx="2">
                    <c:v>Early Jan</c:v>
                  </c:pt>
                  <c:pt idx="3">
                    <c:v>Mid Jan</c:v>
                  </c:pt>
                  <c:pt idx="4">
                    <c:v>Late Jan</c:v>
                  </c:pt>
                  <c:pt idx="5">
                    <c:v>Mid Feb</c:v>
                  </c:pt>
                  <c:pt idx="6">
                    <c:v>Late Feb</c:v>
                  </c:pt>
                  <c:pt idx="7">
                    <c:v>Early Mar</c:v>
                  </c:pt>
                  <c:pt idx="8">
                    <c:v>Mid Mar</c:v>
                  </c:pt>
                  <c:pt idx="9">
                    <c:v>Early Apr</c:v>
                  </c:pt>
                </c:lvl>
              </c:multiLvlStrCache>
            </c:multiLvlStrRef>
          </c:cat>
          <c:val>
            <c:numRef>
              <c:f>Sheet1!$C$2:$C$11</c:f>
              <c:numCache>
                <c:formatCode>General</c:formatCode>
                <c:ptCount val="10"/>
                <c:pt idx="0">
                  <c:v>6</c:v>
                </c:pt>
                <c:pt idx="1">
                  <c:v>53</c:v>
                </c:pt>
                <c:pt idx="2">
                  <c:v>12</c:v>
                </c:pt>
                <c:pt idx="3">
                  <c:v>14</c:v>
                </c:pt>
                <c:pt idx="4">
                  <c:v>10</c:v>
                </c:pt>
                <c:pt idx="5">
                  <c:v>39</c:v>
                </c:pt>
                <c:pt idx="6">
                  <c:v>55</c:v>
                </c:pt>
                <c:pt idx="7">
                  <c:v>16</c:v>
                </c:pt>
                <c:pt idx="8">
                  <c:v>95</c:v>
                </c:pt>
                <c:pt idx="9">
                  <c:v>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5DEE7"/>
              </a:solidFill>
              <a:prstDash val="solid"/>
              <a:round/>
            </a:ln>
          </c:spPr>
        </c:majorGridlines>
        <c:title>
          <c:tx>
            <c:rich>
              <a:bodyPr/>
              <a:lstStyle/>
              <a:p>
                <a:pPr>
                  <a:defRPr sz="1300" b="0" i="0" u="none" strike="noStrike">
                    <a:solidFill>
                      <a:srgbClr val="5C6B7A"/>
                    </a:solidFill>
                    <a:latin typeface="+mn-lt"/>
                  </a:defRPr>
                </a:pPr>
                <a:r>
                  <a:rPr sz="1300" b="0" i="0" u="none" strike="noStrike">
                    <a:solidFill>
                      <a:srgbClr val="5C6B7A"/>
                    </a:solidFill>
                    <a:latin typeface="+mn-lt"/>
                  </a:rPr>
                  <a:t>Coherent ice area</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400">
              <a:solidFill>
                <a:srgbClr val="16243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2018–19</c:v>
                </c:pt>
              </c:strCache>
            </c:strRef>
          </c:tx>
          <c:spPr>
            <a:solidFill>
              <a:srgbClr val="1B6A8C"/>
            </a:solidFill>
            <a:effectLst/>
          </c:spPr>
          <c:invertIfNegative val="0"/>
          <c:dLbls>
            <c:numFmt formatCode="0.00" sourceLinked="0"/>
            <c:txPr>
              <a:bodyPr/>
              <a:lstStyle/>
              <a:p>
                <a:pPr>
                  <a:defRPr b="0" i="0" strike="noStrike" sz="1200" u="none">
                    <a:solidFill>
                      <a:srgbClr val="16243A"/>
                    </a:solidFill>
                    <a:latin typeface="+mn-lt"/>
                  </a:defRPr>
                </a:pPr>
              </a:p>
            </c:txPr>
            <c:showLegendKey val="0"/>
            <c:showVal val="1"/>
            <c:showCatName val="0"/>
            <c:showSerName val="0"/>
            <c:showPercent val="0"/>
            <c:showBubbleSize val="0"/>
            <c:showLeaderLines val="0"/>
          </c:dLbls>
          <c:cat>
            <c:multiLvlStrRef>
              <c:f>Sheet1!$A$2:$A$5</c:f>
              <c:multiLvlStrCache>
                <c:ptCount val="4"/>
                <c:lvl>
                  <c:pt idx="0">
                    <c:v>P1 horizontal</c:v>
                  </c:pt>
                  <c:pt idx="1">
                    <c:v>P1 vertical</c:v>
                  </c:pt>
                  <c:pt idx="2">
                    <c:v>P4 horizontal</c:v>
                  </c:pt>
                  <c:pt idx="3">
                    <c:v>P4 vertical</c:v>
                  </c:pt>
                </c:lvl>
              </c:multiLvlStrCache>
            </c:multiLvlStrRef>
          </c:cat>
          <c:val>
            <c:numRef>
              <c:f>Sheet1!$B$2:$B$5</c:f>
              <c:numCache>
                <c:formatCode>General</c:formatCode>
                <c:ptCount val="4"/>
                <c:pt idx="0">
                  <c:v>-0.33</c:v>
                </c:pt>
                <c:pt idx="1">
                  <c:v>0.31</c:v>
                </c:pt>
                <c:pt idx="2">
                  <c:v>-0.43</c:v>
                </c:pt>
                <c:pt idx="3">
                  <c:v>-0.18</c:v>
                </c:pt>
              </c:numCache>
            </c:numRef>
          </c:val>
        </c:ser>
        <c:ser>
          <c:idx val="1"/>
          <c:order val="1"/>
          <c:tx>
            <c:strRef>
              <c:f>Sheet1!$C$1</c:f>
              <c:strCache>
                <c:ptCount val="1"/>
                <c:pt idx="0">
                  <c:v>2020–21</c:v>
                </c:pt>
              </c:strCache>
            </c:strRef>
          </c:tx>
          <c:spPr>
            <a:solidFill>
              <a:srgbClr val="E07A2F"/>
            </a:solidFill>
            <a:effectLst/>
          </c:spPr>
          <c:invertIfNegative val="0"/>
          <c:dLbls>
            <c:numFmt formatCode="0.00" sourceLinked="0"/>
            <c:txPr>
              <a:bodyPr/>
              <a:lstStyle/>
              <a:p>
                <a:pPr>
                  <a:defRPr b="0" i="0" strike="noStrike" sz="1200" u="none">
                    <a:solidFill>
                      <a:srgbClr val="16243A"/>
                    </a:solidFill>
                    <a:latin typeface="+mn-lt"/>
                  </a:defRPr>
                </a:pPr>
              </a:p>
            </c:txPr>
            <c:showLegendKey val="0"/>
            <c:showVal val="1"/>
            <c:showCatName val="0"/>
            <c:showSerName val="0"/>
            <c:showPercent val="0"/>
            <c:showBubbleSize val="0"/>
            <c:showLeaderLines val="0"/>
          </c:dLbls>
          <c:cat>
            <c:multiLvlStrRef>
              <c:f>Sheet1!$A$2:$A$5</c:f>
              <c:multiLvlStrCache>
                <c:ptCount val="4"/>
                <c:lvl>
                  <c:pt idx="0">
                    <c:v>P1 horizontal</c:v>
                  </c:pt>
                  <c:pt idx="1">
                    <c:v>P1 vertical</c:v>
                  </c:pt>
                  <c:pt idx="2">
                    <c:v>P4 horizontal</c:v>
                  </c:pt>
                  <c:pt idx="3">
                    <c:v>P4 vertical</c:v>
                  </c:pt>
                </c:lvl>
              </c:multiLvlStrCache>
            </c:multiLvlStrRef>
          </c:cat>
          <c:val>
            <c:numRef>
              <c:f>Sheet1!$C$2:$C$5</c:f>
              <c:numCache>
                <c:formatCode>General</c:formatCode>
                <c:ptCount val="4"/>
                <c:pt idx="0">
                  <c:v>-0.18</c:v>
                </c:pt>
                <c:pt idx="1">
                  <c:v>0.04</c:v>
                </c:pt>
                <c:pt idx="2">
                  <c:v>-1.18</c:v>
                </c:pt>
                <c:pt idx="3">
                  <c:v>1.42</c:v>
                </c:pt>
              </c:numCache>
            </c:numRef>
          </c:val>
        </c:ser>
        <c:dLbls>
          <c:numFmt formatCode="0.00" sourceLinked="0"/>
          <c:txPr>
            <a:bodyPr/>
            <a:lstStyle/>
            <a:p>
              <a:pPr>
                <a:defRPr b="0" i="0" strike="noStrike" sz="1200" u="none">
                  <a:solidFill>
                    <a:srgbClr val="1624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1.75"/>
          <c:min val="-1.5"/>
        </c:scaling>
        <c:delete val="0"/>
        <c:axPos val="l"/>
        <c:majorGridlines>
          <c:spPr>
            <a:ln w="9525" cap="flat">
              <a:solidFill>
                <a:srgbClr val="D5DEE7"/>
              </a:solidFill>
              <a:prstDash val="solid"/>
              <a:round/>
            </a:ln>
          </c:spPr>
        </c:majorGridlines>
        <c:title>
          <c:tx>
            <c:rich>
              <a:bodyPr/>
              <a:lstStyle/>
              <a:p>
                <a:pPr>
                  <a:defRPr sz="1300" b="0" i="0" u="none" strike="noStrike">
                    <a:solidFill>
                      <a:srgbClr val="5C6B7A"/>
                    </a:solidFill>
                    <a:latin typeface="+mn-lt"/>
                  </a:defRPr>
                </a:pPr>
                <a:r>
                  <a:rPr sz="1300" b="0" i="0" u="none" strike="noStrike">
                    <a:solidFill>
                      <a:srgbClr val="5C6B7A"/>
                    </a:solidFill>
                    <a:latin typeface="+mn-lt"/>
                  </a:rPr>
                  <a:t>Rate (cm/day): + east, + up</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400">
              <a:solidFill>
                <a:srgbClr val="1624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Ananthanarayanan from Digital University Kerala. This talk is about using Sentinel-1 radar interferometry, from both the ascending and descending orbits, to see when landfast sea ice at Cambridge Bay becomes fixed, and how it then deforms, in two contrasting winters.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Landfast ice is ice frozen to the coast. Communities travel on it, and its timing is changing. InSAR has already been used here by Chen and by Zhu, but in both studies coherence was only a mask. Our idea: drifting ice decorrelates and fixed ice stays coherent, so coherence itself can date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Cambridge Bay sits on Dease Strait. We used Sentinel-1 interferometric wide-swath data, descending from Sentinel-1A and ascending from Sentinel-1B, processed in the free ASF HyP3 cloud. Four monitoring points sit at the same coordinates in both winters, with a land reference RP and a land control 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HyP3 makes the interferograms. Coherence gives the onset: the date the coherent ice area stays above fifty percent. We remove long-wavelength ramps over land, invert with SBAS against a fixed land reference, and combine the two orbits to separate east-west from vertical motion. P5, on land, tells us our error: 0.7 to 1.6 centimetres.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raw measurements: four consecutive descending interferograms from February to April 2019. One colour cycle is 2.8 centimetres of motion along the line of sight. The sea ice in the strait carries dense fringes while the land around it stays smooth; white is where coherence falls below 0.4. Notice how the pattern changes from pair to pair: this is the signal we turn into time series and, with the second orbit, into east-west and vertical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raw interferograms from both orbits. One colour cycle is 2.8 centimetres. A single orbit cannot tell sideways from up-down motion. But the two orbits look from opposite sides: east-west motion appears with opposite sign, vertical motion with the same sign. Two equations, two unknowns.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can free cloud processing reproduce the published result? Yes. At the two directly comparable points we agree with Chen et al. to within two centimetres, smaller than the spread between their own sensors. And the land control point bounds our precision at 0.7 to 1.6 centimetres.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The share of the ice that stays coherent, every twelve days. In 2018-19, blue, the ice consolidated once, on 30 January, and stayed. In 2020-21, orange, it reached 55 percent in late February, collapsed to 16 percent in early March, and only consolidated on 20 March: 49 days later. Coherence caught a failed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panel is the share of the ice that is coherent. It climbs to 55 percent in late February, collapses to 16 percent in early March, a mid-winter break-up and refreeze, and only after 20 March jumps to 95 percent and stays. That collapse is invisible to deformation measurements, which need coherence to exist at all. The same winter shows why we use 12-day pairs: at 24 days coherence drops to 0.54 and only three quarters of the ice is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on the left the onset, on the right the horizontal deformation of both winters on one colour scale. Ranges are similar to Chen et al. once you account for the shorter windows: 24 and 20 days here, 44 in their study. The later winter moved over a shorter window but just as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windows differ, we compare rates. At P4, our outermost reliable point, the horizontal rate nearly tripled, from minus 0.43 to minus 1.18 centimetres per day, and the vertical motion reversed sign. The intermittent winter was the more mobile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limits. Two winters cannot prove that late formation causes higher mobility. Snow and ice-growth changes also reduce coherence, so our dates are late-biased. Our networks are consecutive, so there is no phase-closure check, and we use polynomial ionosphere removal. Longer records and ice-draft data would bound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Coherence is not just a mask: it dates consolidation and reveals when it fails. Free cloud processing reproduces the published result within two centimetres. And the late, intermittent winter was the more mobile one, though two winters cannot yet separate cause from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is going. We are training a convolutional network to classify every sea-ice patch as horizontal or vertical deformation. Tested on winters it never saw, it is right 91 percent of the time. And without being told where the coast is, it finds vertical motion concentrated along the shore, as tidal bending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Ananthanarayanan B and Shamjid P  ·  Digital University Kerala</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lIns="0" tIns="0" rIns="0" bIns="0" rtlCol="0" anchor="b"/>
          <a:lstStyle/>
          <a:p>
            <a:pPr algn="l" indent="0" marL="0">
              <a:buNone/>
            </a:pPr>
            <a:r>
              <a:rPr lang="en-US" sz="3600" b="1" dirty="0">
                <a:solidFill>
                  <a:schemeClr val="bg1"/>
                </a:solidFill>
              </a:rPr>
              <a:t>Coherence onset and two-dimensional deformation of landfast sea ice at Cambridge Bay, Nunavut</a:t>
            </a: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lIns="0" tIns="0" rIns="0" bIns="0" rtlCol="0" anchor="t"/>
          <a:lstStyle/>
          <a:p>
            <a:pPr indent="0" marL="0">
              <a:buNone/>
            </a:pPr>
            <a:r>
              <a:rPr lang="en-US" sz="1800" dirty="0">
                <a:solidFill>
                  <a:schemeClr val="accent3"/>
                </a:solidFill>
              </a:rPr>
              <a:t>Sentinel-1 ascending + descending InSAR, winters 2018–19 and 2020–21</a:t>
            </a: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lIns="0" tIns="0" rIns="0" bIns="0" rtlCol="0" anchor="t"/>
          <a:lstStyle/>
          <a:p>
            <a:pPr indent="0" marL="0">
              <a:buNone/>
            </a:pPr>
            <a:r>
              <a:rPr lang="en-US" sz="1400" b="1" dirty="0">
                <a:solidFill>
                  <a:schemeClr val="bg1"/>
                </a:solidFill>
              </a:rPr>
              <a:t>Ananthanarayanan B, Shamjid P*</a:t>
            </a:r>
            <a:endParaRPr lang="en-US" sz="1400" dirty="0"/>
          </a:p>
          <a:p>
            <a:pPr indent="0" marL="0">
              <a:buNone/>
            </a:pPr>
            <a:r>
              <a:rPr lang="en-US" sz="1400" dirty="0">
                <a:solidFill>
                  <a:schemeClr val="bg1"/>
                </a:solidFill>
              </a:rPr>
              <a:t>School of Digital Sciences, Digital University Kerala</a:t>
            </a:r>
            <a:endParaRPr lang="en-US" sz="1400" dirty="0"/>
          </a:p>
          <a:p>
            <a:pPr indent="0" marL="0">
              <a:buNone/>
            </a:pPr>
            <a:r>
              <a:rPr lang="en-US" sz="1400" dirty="0">
                <a:solidFill>
                  <a:schemeClr val="bg1"/>
                </a:solidFill>
              </a:rPr>
              <a:t>*shamjid.p@duk.ac.in</a:t>
            </a:r>
            <a:endParaRPr lang="en-US" sz="1400" dirty="0"/>
          </a:p>
        </p:txBody>
      </p:sp>
      <p:sp>
        <p:nvSpPr>
          <p:cNvPr id="5" name="Study area frame"/>
          <p:cNvSpPr/>
          <p:nvPr/>
        </p:nvSpPr>
        <p:spPr>
          <a:xfrm>
            <a:off x="7818120" y="1749683"/>
            <a:ext cx="3931920" cy="3358634"/>
          </a:xfrm>
          <a:prstGeom prst="roundRect">
            <a:avLst>
              <a:gd name="adj" fmla="val 3267"/>
            </a:avLst>
          </a:prstGeom>
          <a:solidFill>
            <a:schemeClr val="bg2"/>
          </a:solidFill>
          <a:ln/>
        </p:spPr>
      </p:sp>
      <p:pic>
        <p:nvPicPr>
          <p:cNvPr id="6" name="Study area" descr="/Users/bhakthadarshan/Documents/DUK/Confernce/figures/figures_2019/fig01_study_area_2019.png">    </p:cNvPr>
          <p:cNvPicPr>
            <a:picLocks noChangeAspect="1"/>
          </p:cNvPicPr>
          <p:nvPr/>
        </p:nvPicPr>
        <p:blipFill>
          <a:blip r:embed="rId1"/>
          <a:stretch>
            <a:fillRect/>
          </a:stretch>
        </p:blipFill>
        <p:spPr>
          <a:xfrm>
            <a:off x="7955280" y="1886843"/>
            <a:ext cx="3657600" cy="30843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Why the timing of landfast ice matters</a:t>
            </a:r>
            <a:endParaRPr lang="en-US" sz="3400" dirty="0"/>
          </a:p>
        </p:txBody>
      </p:sp>
      <p:sp>
        <p:nvSpPr>
          <p:cNvPr id="3" name="Motivation points"/>
          <p:cNvSpPr txBox="1"/>
          <p:nvPr/>
        </p:nvSpPr>
        <p:spPr>
          <a:xfrm>
            <a:off x="548640" y="1371600"/>
            <a:ext cx="6035040" cy="3017520"/>
          </a:xfrm>
          <a:prstGeom prst="rect">
            <a:avLst/>
          </a:prstGeom>
          <a:noFill/>
          <a:ln/>
        </p:spPr>
        <p:txBody>
          <a:bodyPr wrap="square" lIns="0" tIns="0" rIns="0" bIns="0" rtlCol="0" anchor="t"/>
          <a:lstStyle/>
          <a:p>
            <a:pPr marL="177800" indent="-177800">
              <a:spcAft>
                <a:spcPts val="1000"/>
              </a:spcAft>
              <a:buSzPct val="100000"/>
              <a:buChar char="•"/>
            </a:pPr>
            <a:r>
              <a:rPr lang="en-US" sz="1700" b="1" dirty="0">
                <a:solidFill>
                  <a:schemeClr val="tx1"/>
                </a:solidFill>
              </a:rPr>
              <a:t>A travel surface and a habitat: </a:t>
            </a:r>
            <a:pPr indent="0" marL="0">
              <a:spcAft>
                <a:spcPts val="1000"/>
              </a:spcAft>
              <a:buNone/>
            </a:pPr>
            <a:r>
              <a:rPr lang="en-US" sz="1700" dirty="0">
                <a:solidFill>
                  <a:schemeClr val="tx1"/>
                </a:solidFill>
              </a:rPr>
              <a:t>landfast ice carries winter travel and shapes nearshore ecology across the Canadian Arctic Archipelago.</a:t>
            </a:r>
            <a:endParaRPr lang="en-US" sz="1700" dirty="0"/>
          </a:p>
          <a:p>
            <a:pPr marL="177800" indent="-177800">
              <a:spcAft>
                <a:spcPts val="1000"/>
              </a:spcAft>
              <a:buSzPct val="100000"/>
              <a:buChar char="•"/>
            </a:pPr>
            <a:r>
              <a:rPr lang="en-US" sz="1700" b="1" dirty="0">
                <a:solidFill>
                  <a:schemeClr val="tx1"/>
                </a:solidFill>
              </a:rPr>
              <a:t>Its calendar is shifting </a:t>
            </a:r>
            <a:pPr indent="0" marL="0">
              <a:spcAft>
                <a:spcPts val="1000"/>
              </a:spcAft>
              <a:buNone/>
            </a:pPr>
            <a:r>
              <a:rPr lang="en-US" sz="1700" dirty="0">
                <a:solidFill>
                  <a:schemeClr val="tx1"/>
                </a:solidFill>
              </a:rPr>
              <a:t>under Arctic amplification, so formation dates need measuring, not assuming.</a:t>
            </a:r>
            <a:endParaRPr lang="en-US" sz="1700" dirty="0"/>
          </a:p>
          <a:p>
            <a:pPr marL="177800" indent="-177800">
              <a:spcAft>
                <a:spcPts val="1000"/>
              </a:spcAft>
              <a:buSzPct val="100000"/>
              <a:buChar char="•"/>
            </a:pPr>
            <a:r>
              <a:rPr lang="en-US" sz="1700" b="1" dirty="0">
                <a:solidFill>
                  <a:schemeClr val="tx1"/>
                </a:solidFill>
              </a:rPr>
              <a:t>InSAR at Cambridge Bay </a:t>
            </a:r>
            <a:pPr indent="0" marL="0">
              <a:spcAft>
                <a:spcPts val="1000"/>
              </a:spcAft>
              <a:buNone/>
            </a:pPr>
            <a:r>
              <a:rPr lang="en-US" sz="1700" dirty="0">
                <a:solidFill>
                  <a:schemeClr val="tx1"/>
                </a:solidFill>
              </a:rPr>
              <a:t>has retrieved 2-D displacement (Chen et al., 2021) and its interannual change (Zhu et al., 2023).</a:t>
            </a:r>
            <a:endParaRPr lang="en-US" sz="1700" dirty="0"/>
          </a:p>
        </p:txBody>
      </p:sp>
      <p:sp>
        <p:nvSpPr>
          <p:cNvPr id="4" name="Key idea card"/>
          <p:cNvSpPr/>
          <p:nvPr/>
        </p:nvSpPr>
        <p:spPr>
          <a:xfrm>
            <a:off x="6949440" y="1371600"/>
            <a:ext cx="4663440" cy="2880360"/>
          </a:xfrm>
          <a:prstGeom prst="roundRect">
            <a:avLst>
              <a:gd name="adj" fmla="val 3810"/>
            </a:avLst>
          </a:prstGeom>
          <a:solidFill>
            <a:schemeClr val="tx2"/>
          </a:solidFill>
          <a:ln/>
        </p:spPr>
      </p:sp>
      <p:sp>
        <p:nvSpPr>
          <p:cNvPr id="5" name="Key idea text"/>
          <p:cNvSpPr txBox="1"/>
          <p:nvPr/>
        </p:nvSpPr>
        <p:spPr>
          <a:xfrm>
            <a:off x="7269480" y="1600200"/>
            <a:ext cx="4023360" cy="2468880"/>
          </a:xfrm>
          <a:prstGeom prst="rect">
            <a:avLst/>
          </a:prstGeom>
          <a:noFill/>
          <a:ln/>
        </p:spPr>
        <p:txBody>
          <a:bodyPr wrap="square" lIns="0" tIns="0" rIns="0" bIns="0" rtlCol="0" anchor="t"/>
          <a:lstStyle/>
          <a:p>
            <a:pPr indent="0" marL="0">
              <a:spcAft>
                <a:spcPts val="1000"/>
              </a:spcAft>
              <a:buNone/>
            </a:pPr>
            <a:r>
              <a:rPr lang="en-US" sz="1400" b="1" dirty="0">
                <a:solidFill>
                  <a:schemeClr val="accent3"/>
                </a:solidFill>
              </a:rPr>
              <a:t>The idea</a:t>
            </a:r>
            <a:endParaRPr lang="en-US" sz="1400" dirty="0"/>
          </a:p>
          <a:p>
            <a:pPr indent="0" marL="0">
              <a:spcAft>
                <a:spcPts val="1000"/>
              </a:spcAft>
              <a:buNone/>
            </a:pPr>
            <a:r>
              <a:rPr lang="en-US" sz="1800" dirty="0">
                <a:solidFill>
                  <a:schemeClr val="bg1"/>
                </a:solidFill>
              </a:rPr>
              <a:t>Coherence is normally used only to select measurable pixels.</a:t>
            </a:r>
            <a:endParaRPr lang="en-US" sz="1400" dirty="0"/>
          </a:p>
          <a:p>
            <a:pPr indent="0" marL="0">
              <a:spcAft>
                <a:spcPts val="1000"/>
              </a:spcAft>
              <a:buNone/>
            </a:pPr>
            <a:r>
              <a:rPr lang="en-US" sz="1800" dirty="0">
                <a:solidFill>
                  <a:schemeClr val="bg1"/>
                </a:solidFill>
              </a:rPr>
              <a:t>But drifting ice loses coherence and fixed ice regains it: its seasonal course can record when the ice consolidated.</a:t>
            </a:r>
            <a:endParaRPr lang="en-US" sz="1400" dirty="0"/>
          </a:p>
        </p:txBody>
      </p:sp>
      <p:sp>
        <p:nvSpPr>
          <p:cNvPr id="6" name="Stage 1"/>
          <p:cNvSpPr/>
          <p:nvPr/>
        </p:nvSpPr>
        <p:spPr>
          <a:xfrm>
            <a:off x="548640" y="4617720"/>
            <a:ext cx="3474720" cy="1463040"/>
          </a:xfrm>
          <a:prstGeom prst="roundRect">
            <a:avLst>
              <a:gd name="adj" fmla="val 7500"/>
            </a:avLst>
          </a:prstGeom>
          <a:solidFill>
            <a:schemeClr val="bg2"/>
          </a:solidFill>
          <a:ln/>
        </p:spPr>
      </p:sp>
      <p:sp>
        <p:nvSpPr>
          <p:cNvPr id="7" name="Stage 1 head"/>
          <p:cNvSpPr txBox="1"/>
          <p:nvPr/>
        </p:nvSpPr>
        <p:spPr>
          <a:xfrm>
            <a:off x="822960" y="4800600"/>
            <a:ext cx="2926080" cy="411480"/>
          </a:xfrm>
          <a:prstGeom prst="rect">
            <a:avLst/>
          </a:prstGeom>
          <a:noFill/>
          <a:ln/>
        </p:spPr>
        <p:txBody>
          <a:bodyPr wrap="square" lIns="0" tIns="0" rIns="0" bIns="0" rtlCol="0" anchor="ctr"/>
          <a:lstStyle/>
          <a:p>
            <a:pPr indent="0" marL="0">
              <a:buNone/>
            </a:pPr>
            <a:r>
              <a:rPr lang="en-US" sz="1800" b="1" dirty="0">
                <a:solidFill>
                  <a:schemeClr val="accent2"/>
                </a:solidFill>
              </a:rPr>
              <a:t>Drifting ice</a:t>
            </a:r>
            <a:endParaRPr lang="en-US" sz="1800" dirty="0"/>
          </a:p>
        </p:txBody>
      </p:sp>
      <p:sp>
        <p:nvSpPr>
          <p:cNvPr id="8" name="Stage 1 body"/>
          <p:cNvSpPr txBox="1"/>
          <p:nvPr/>
        </p:nvSpPr>
        <p:spPr>
          <a:xfrm>
            <a:off x="82296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coherence lost between passes</a:t>
            </a:r>
            <a:endParaRPr lang="en-US" sz="1400" dirty="0"/>
          </a:p>
        </p:txBody>
      </p:sp>
      <p:sp>
        <p:nvSpPr>
          <p:cNvPr id="9" name="Stage arrow 1"/>
          <p:cNvSpPr/>
          <p:nvPr/>
        </p:nvSpPr>
        <p:spPr>
          <a:xfrm>
            <a:off x="4069080" y="5349240"/>
            <a:ext cx="228600" cy="0"/>
          </a:xfrm>
          <a:prstGeom prst="line">
            <a:avLst/>
          </a:prstGeom>
          <a:noFill/>
          <a:ln w="25400">
            <a:solidFill>
              <a:srgbClr val="5C6B7A"/>
            </a:solidFill>
            <a:prstDash val="solid"/>
            <a:tailEnd type="triangle"/>
          </a:ln>
        </p:spPr>
      </p:sp>
      <p:sp>
        <p:nvSpPr>
          <p:cNvPr id="10" name="Stage 2"/>
          <p:cNvSpPr/>
          <p:nvPr/>
        </p:nvSpPr>
        <p:spPr>
          <a:xfrm>
            <a:off x="4343400" y="4617720"/>
            <a:ext cx="3474720" cy="1463040"/>
          </a:xfrm>
          <a:prstGeom prst="roundRect">
            <a:avLst>
              <a:gd name="adj" fmla="val 7500"/>
            </a:avLst>
          </a:prstGeom>
          <a:solidFill>
            <a:schemeClr val="bg2"/>
          </a:solidFill>
          <a:ln/>
        </p:spPr>
      </p:sp>
      <p:sp>
        <p:nvSpPr>
          <p:cNvPr id="11" name="Stage 2 head"/>
          <p:cNvSpPr txBox="1"/>
          <p:nvPr/>
        </p:nvSpPr>
        <p:spPr>
          <a:xfrm>
            <a:off x="4617720" y="4800600"/>
            <a:ext cx="2926080" cy="411480"/>
          </a:xfrm>
          <a:prstGeom prst="rect">
            <a:avLst/>
          </a:prstGeom>
          <a:noFill/>
          <a:ln/>
        </p:spPr>
        <p:txBody>
          <a:bodyPr wrap="square" lIns="0" tIns="0" rIns="0" bIns="0" rtlCol="0" anchor="ctr"/>
          <a:lstStyle/>
          <a:p>
            <a:pPr indent="0" marL="0">
              <a:buNone/>
            </a:pPr>
            <a:r>
              <a:rPr lang="en-US" sz="1800" b="1" dirty="0">
                <a:solidFill>
                  <a:schemeClr val="accent4"/>
                </a:solidFill>
              </a:rPr>
              <a:t>Consolidation</a:t>
            </a:r>
            <a:endParaRPr lang="en-US" sz="1800" dirty="0"/>
          </a:p>
        </p:txBody>
      </p:sp>
      <p:sp>
        <p:nvSpPr>
          <p:cNvPr id="12" name="Stage 2 body"/>
          <p:cNvSpPr txBox="1"/>
          <p:nvPr/>
        </p:nvSpPr>
        <p:spPr>
          <a:xfrm>
            <a:off x="461772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coherence returns as the ice locks in place</a:t>
            </a:r>
            <a:endParaRPr lang="en-US" sz="1400" dirty="0"/>
          </a:p>
        </p:txBody>
      </p:sp>
      <p:sp>
        <p:nvSpPr>
          <p:cNvPr id="13" name="Stage arrow 2"/>
          <p:cNvSpPr/>
          <p:nvPr/>
        </p:nvSpPr>
        <p:spPr>
          <a:xfrm>
            <a:off x="7863840" y="5349240"/>
            <a:ext cx="228600" cy="0"/>
          </a:xfrm>
          <a:prstGeom prst="line">
            <a:avLst/>
          </a:prstGeom>
          <a:noFill/>
          <a:ln w="25400">
            <a:solidFill>
              <a:srgbClr val="5C6B7A"/>
            </a:solidFill>
            <a:prstDash val="solid"/>
            <a:tailEnd type="triangle"/>
          </a:ln>
        </p:spPr>
      </p:sp>
      <p:sp>
        <p:nvSpPr>
          <p:cNvPr id="14" name="Stage 3"/>
          <p:cNvSpPr/>
          <p:nvPr/>
        </p:nvSpPr>
        <p:spPr>
          <a:xfrm>
            <a:off x="8138160" y="4617720"/>
            <a:ext cx="3474720" cy="1463040"/>
          </a:xfrm>
          <a:prstGeom prst="roundRect">
            <a:avLst>
              <a:gd name="adj" fmla="val 7500"/>
            </a:avLst>
          </a:prstGeom>
          <a:solidFill>
            <a:schemeClr val="bg2"/>
          </a:solidFill>
          <a:ln/>
        </p:spPr>
      </p:sp>
      <p:sp>
        <p:nvSpPr>
          <p:cNvPr id="15" name="Stage 3 head"/>
          <p:cNvSpPr txBox="1"/>
          <p:nvPr/>
        </p:nvSpPr>
        <p:spPr>
          <a:xfrm>
            <a:off x="8412480" y="4800600"/>
            <a:ext cx="2926080" cy="411480"/>
          </a:xfrm>
          <a:prstGeom prst="rect">
            <a:avLst/>
          </a:prstGeom>
          <a:noFill/>
          <a:ln/>
        </p:spPr>
        <p:txBody>
          <a:bodyPr wrap="square" lIns="0" tIns="0" rIns="0" bIns="0" rtlCol="0" anchor="ctr"/>
          <a:lstStyle/>
          <a:p>
            <a:pPr indent="0" marL="0">
              <a:buNone/>
            </a:pPr>
            <a:r>
              <a:rPr lang="en-US" sz="1800" b="1" dirty="0">
                <a:solidFill>
                  <a:schemeClr val="accent1"/>
                </a:solidFill>
              </a:rPr>
              <a:t>Landfast ice</a:t>
            </a:r>
            <a:endParaRPr lang="en-US" sz="1800" dirty="0"/>
          </a:p>
        </p:txBody>
      </p:sp>
      <p:sp>
        <p:nvSpPr>
          <p:cNvPr id="16" name="Stage 3 body"/>
          <p:cNvSpPr txBox="1"/>
          <p:nvPr/>
        </p:nvSpPr>
        <p:spPr>
          <a:xfrm>
            <a:off x="841248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coherent area stays above 50%: the onset date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Study area and data</a:t>
            </a:r>
            <a:endParaRPr lang="en-US" sz="3400" dirty="0"/>
          </a:p>
        </p:txBody>
      </p:sp>
      <p:sp>
        <p:nvSpPr>
          <p:cNvPr id="3" name="Study area map frame"/>
          <p:cNvSpPr/>
          <p:nvPr/>
        </p:nvSpPr>
        <p:spPr>
          <a:xfrm>
            <a:off x="548640" y="1325880"/>
            <a:ext cx="5208162" cy="4846320"/>
          </a:xfrm>
          <a:prstGeom prst="roundRect">
            <a:avLst>
              <a:gd name="adj" fmla="val 2264"/>
            </a:avLst>
          </a:prstGeom>
          <a:solidFill>
            <a:schemeClr val="bg2"/>
          </a:solidFill>
          <a:ln/>
        </p:spPr>
      </p:sp>
      <p:pic>
        <p:nvPicPr>
          <p:cNvPr id="4" name="Study area map" descr="/Users/bhakthadarshan/Documents/DUK/Confernce/figures/figures_2019/fig01_study_area_2019.png">    </p:cNvPr>
          <p:cNvPicPr>
            <a:picLocks noChangeAspect="1"/>
          </p:cNvPicPr>
          <p:nvPr/>
        </p:nvPicPr>
        <p:blipFill>
          <a:blip r:embed="rId1"/>
          <a:stretch>
            <a:fillRect/>
          </a:stretch>
        </p:blipFill>
        <p:spPr>
          <a:xfrm>
            <a:off x="685800" y="1463040"/>
            <a:ext cx="4933842" cy="4160520"/>
          </a:xfrm>
          <a:prstGeom prst="rect">
            <a:avLst/>
          </a:prstGeom>
        </p:spPr>
      </p:pic>
      <p:sp>
        <p:nvSpPr>
          <p:cNvPr id="5" name="Study area map caption"/>
          <p:cNvSpPr txBox="1"/>
          <p:nvPr/>
        </p:nvSpPr>
        <p:spPr>
          <a:xfrm>
            <a:off x="731520" y="5715000"/>
            <a:ext cx="4842402" cy="365760"/>
          </a:xfrm>
          <a:prstGeom prst="rect">
            <a:avLst/>
          </a:prstGeom>
          <a:noFill/>
          <a:ln/>
        </p:spPr>
        <p:txBody>
          <a:bodyPr wrap="square" lIns="0" tIns="0" rIns="0" bIns="0" rtlCol="0" anchor="ctr"/>
          <a:lstStyle/>
          <a:p>
            <a:pPr indent="0" marL="0">
              <a:buNone/>
            </a:pPr>
            <a:r>
              <a:rPr lang="en-US" sz="1100" i="1" dirty="0">
                <a:solidFill>
                  <a:schemeClr val="accent4"/>
                </a:solidFill>
              </a:rPr>
              <a:t>P1–P4 sea-ice points 1.2–8.2 km offshore, RP land reference, P5 land control</a:t>
            </a:r>
            <a:endParaRPr lang="en-US" sz="1100" dirty="0"/>
          </a:p>
        </p:txBody>
      </p:sp>
      <p:graphicFrame>
        <p:nvGraphicFramePr>
          <p:cNvPr id="4" name="Data table"/>
          <p:cNvGraphicFramePr>
            <a:graphicFrameLocks noGrp="1"/>
          </p:cNvGraphicFramePr>
          <p:nvPr>
            <p:extLst>
              <p:ext uri="{D42A27DB-BD31-4B8C-83A1-F6EECF244321}">
                <p14:modId xmlns:p14="http://schemas.microsoft.com/office/powerpoint/2010/main" val="1579011935"/>
              </p:ext>
            </p:extLst>
          </p:nvPr>
        </p:nvGraphicFramePr>
        <p:xfrm>
          <a:off x="6122562" y="1325880"/>
          <a:ext cx="5490318" cy="914400"/>
        </p:xfrm>
        <a:graphic>
          <a:graphicData uri="http://schemas.openxmlformats.org/drawingml/2006/table">
            <a:tbl>
              <a:tblPr/>
              <a:tblGrid>
                <a:gridCol w="1701999"/>
                <a:gridCol w="1894160"/>
                <a:gridCol w="1894160"/>
              </a:tblGrid>
              <a:tr h="0">
                <a:tc>
                  <a:txBody>
                    <a:bodyPr/>
                    <a:lstStyle/>
                    <a:p>
                      <a:pPr indent="0" marL="0">
                        <a:buNone/>
                      </a:pP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2018–19</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2020–21</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tx1"/>
                          </a:solidFill>
                        </a:rPr>
                        <a:t>Descending</a:t>
                      </a:r>
                      <a:endParaRPr lang="en-US" sz="1300" dirty="0"/>
                    </a:p>
                    <a:p>
                      <a:pPr indent="0" marL="0">
                        <a:buNone/>
                      </a:pPr>
                      <a:r>
                        <a:rPr lang="en-US" sz="1200" dirty="0">
                          <a:solidFill>
                            <a:schemeClr val="accent4"/>
                          </a:solidFill>
                        </a:rPr>
                        <a:t>S1A, HH</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17 Feb – 6 Apr</a:t>
                      </a:r>
                      <a:endParaRPr lang="en-US" sz="1300" dirty="0"/>
                    </a:p>
                    <a:p>
                      <a:pPr indent="0" marL="0">
                        <a:buNone/>
                      </a:pPr>
                      <a:r>
                        <a:rPr lang="en-US" sz="1200" dirty="0">
                          <a:solidFill>
                            <a:schemeClr val="accent4"/>
                          </a:solidFill>
                        </a:rPr>
                        <a:t>4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 Mar – 7 Apr</a:t>
                      </a:r>
                      <a:endParaRPr lang="en-US" sz="1300" dirty="0"/>
                    </a:p>
                    <a:p>
                      <a:pPr indent="0" marL="0">
                        <a:buNone/>
                      </a:pPr>
                      <a:r>
                        <a:rPr lang="en-US" sz="1200" dirty="0">
                          <a:solidFill>
                            <a:schemeClr val="accent4"/>
                          </a:solidFill>
                        </a:rPr>
                        <a:t>2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Ascending</a:t>
                      </a:r>
                      <a:endParaRPr lang="en-US" sz="1300" dirty="0"/>
                    </a:p>
                    <a:p>
                      <a:pPr indent="0" marL="0">
                        <a:buNone/>
                      </a:pPr>
                      <a:r>
                        <a:rPr lang="en-US" sz="1200" dirty="0">
                          <a:solidFill>
                            <a:schemeClr val="accent4"/>
                          </a:solidFill>
                        </a:rPr>
                        <a:t>S1B, VV</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21 Feb – 17 Mar</a:t>
                      </a:r>
                      <a:endParaRPr lang="en-US" sz="1300" dirty="0"/>
                    </a:p>
                    <a:p>
                      <a:pPr indent="0" marL="0">
                        <a:buNone/>
                      </a:pPr>
                      <a:r>
                        <a:rPr lang="en-US" sz="1200" dirty="0">
                          <a:solidFill>
                            <a:schemeClr val="accent4"/>
                          </a:solidFill>
                        </a:rPr>
                        <a:t>2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18 Mar – 23 Apr</a:t>
                      </a:r>
                      <a:endParaRPr lang="en-US" sz="1300" dirty="0"/>
                    </a:p>
                    <a:p>
                      <a:pPr indent="0" marL="0">
                        <a:buNone/>
                      </a:pPr>
                      <a:r>
                        <a:rPr lang="en-US" sz="1200" dirty="0">
                          <a:solidFill>
                            <a:schemeClr val="accent4"/>
                          </a:solidFill>
                        </a:rPr>
                        <a:t>3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Coherence</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0.52 – 0.85</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0.47 – 0.81</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bl>
          </a:graphicData>
        </a:graphic>
      </p:graphicFrame>
      <p:sp>
        <p:nvSpPr>
          <p:cNvPr id="7" name="Data notes"/>
          <p:cNvSpPr txBox="1"/>
          <p:nvPr/>
        </p:nvSpPr>
        <p:spPr>
          <a:xfrm>
            <a:off x="6122562" y="3429000"/>
            <a:ext cx="5490318" cy="2194560"/>
          </a:xfrm>
          <a:prstGeom prst="rect">
            <a:avLst/>
          </a:prstGeom>
          <a:noFill/>
          <a:ln/>
        </p:spPr>
        <p:txBody>
          <a:bodyPr wrap="square" lIns="0" tIns="0" rIns="0" bIns="0" rtlCol="0" anchor="t"/>
          <a:lstStyle/>
          <a:p>
            <a:pPr marL="177800" indent="-177800">
              <a:spcAft>
                <a:spcPts val="1000"/>
              </a:spcAft>
              <a:buSzPct val="100000"/>
              <a:buChar char="•"/>
            </a:pPr>
            <a:r>
              <a:rPr lang="en-US" sz="1500" b="1" dirty="0">
                <a:solidFill>
                  <a:schemeClr val="tx1"/>
                </a:solidFill>
              </a:rPr>
              <a:t>Sentinel-1 IW SLC, </a:t>
            </a:r>
            <a:pPr indent="0" marL="0">
              <a:spcAft>
                <a:spcPts val="1000"/>
              </a:spcAft>
              <a:buNone/>
            </a:pPr>
            <a:r>
              <a:rPr lang="en-US" sz="1500" dirty="0">
                <a:solidFill>
                  <a:schemeClr val="tx1"/>
                </a:solidFill>
              </a:rPr>
              <a:t>consecutive 12-day pairs, ASF HyP3 (GAMMA), 80 m</a:t>
            </a:r>
            <a:endParaRPr lang="en-US" sz="1500" dirty="0"/>
          </a:p>
          <a:p>
            <a:pPr marL="177800" indent="-177800">
              <a:spcAft>
                <a:spcPts val="1000"/>
              </a:spcAft>
              <a:buSzPct val="100000"/>
              <a:buChar char="•"/>
            </a:pPr>
            <a:r>
              <a:rPr lang="en-US" sz="1500" b="1" dirty="0">
                <a:solidFill>
                  <a:schemeClr val="tx1"/>
                </a:solidFill>
              </a:rPr>
              <a:t>Coherence tracked </a:t>
            </a:r>
            <a:pPr indent="0" marL="0">
              <a:spcAft>
                <a:spcPts val="1000"/>
              </a:spcAft>
              <a:buNone/>
            </a:pPr>
            <a:r>
              <a:rPr lang="en-US" sz="1500" dirty="0">
                <a:solidFill>
                  <a:schemeClr val="tx1"/>
                </a:solidFill>
              </a:rPr>
              <a:t>every 12 days, mid-December to late April</a:t>
            </a:r>
            <a:endParaRPr lang="en-US" sz="1500" dirty="0"/>
          </a:p>
          <a:p>
            <a:pPr marL="177800" indent="-177800">
              <a:spcAft>
                <a:spcPts val="1000"/>
              </a:spcAft>
              <a:buSzPct val="100000"/>
              <a:buChar char="•"/>
            </a:pPr>
            <a:r>
              <a:rPr lang="en-US" sz="1500" b="1" dirty="0">
                <a:solidFill>
                  <a:schemeClr val="tx1"/>
                </a:solidFill>
              </a:rPr>
              <a:t>Four sea-ice points </a:t>
            </a:r>
            <a:pPr indent="0" marL="0">
              <a:spcAft>
                <a:spcPts val="1000"/>
              </a:spcAft>
              <a:buNone/>
            </a:pPr>
            <a:r>
              <a:rPr lang="en-US" sz="1500" dirty="0">
                <a:solidFill>
                  <a:schemeClr val="tx1"/>
                </a:solidFill>
              </a:rPr>
              <a:t>1.2–8.2 km offshore, identical in both winters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From radar pairs to 2-D motion</a:t>
            </a:r>
            <a:endParaRPr lang="en-US" sz="3400" dirty="0"/>
          </a:p>
        </p:txBody>
      </p:sp>
      <p:sp>
        <p:nvSpPr>
          <p:cNvPr id="3" name="Step 1 badge"/>
          <p:cNvSpPr/>
          <p:nvPr/>
        </p:nvSpPr>
        <p:spPr>
          <a:xfrm>
            <a:off x="548640" y="1600200"/>
            <a:ext cx="566928" cy="566928"/>
          </a:xfrm>
          <a:prstGeom prst="ellipse">
            <a:avLst/>
          </a:prstGeom>
          <a:solidFill>
            <a:schemeClr val="accent1"/>
          </a:solidFill>
          <a:ln/>
        </p:spPr>
      </p:sp>
      <p:sp>
        <p:nvSpPr>
          <p:cNvPr id="4" name="Step 1 number"/>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548640" y="2331720"/>
            <a:ext cx="2011680" cy="411480"/>
          </a:xfrm>
          <a:prstGeom prst="rect">
            <a:avLst/>
          </a:prstGeom>
          <a:noFill/>
          <a:ln/>
        </p:spPr>
        <p:txBody>
          <a:bodyPr wrap="square" lIns="0" tIns="0" rIns="0" bIns="0" rtlCol="0" anchor="t"/>
          <a:lstStyle/>
          <a:p>
            <a:pPr indent="0" marL="0">
              <a:buNone/>
            </a:pPr>
            <a:r>
              <a:rPr lang="en-US" sz="1600" b="1" dirty="0">
                <a:solidFill>
                  <a:schemeClr val="tx2"/>
                </a:solidFill>
              </a:rPr>
              <a:t>Interferograms</a:t>
            </a:r>
            <a:endParaRPr lang="en-US" sz="1600" dirty="0"/>
          </a:p>
        </p:txBody>
      </p:sp>
      <p:sp>
        <p:nvSpPr>
          <p:cNvPr id="6" name="Step 1 body"/>
          <p:cNvSpPr txBox="1"/>
          <p:nvPr/>
        </p:nvSpPr>
        <p:spPr>
          <a:xfrm>
            <a:off x="548640" y="2761488"/>
            <a:ext cx="2011680" cy="1463040"/>
          </a:xfrm>
          <a:prstGeom prst="rect">
            <a:avLst/>
          </a:prstGeom>
          <a:noFill/>
          <a:ln/>
        </p:spPr>
        <p:txBody>
          <a:bodyPr wrap="square" lIns="0" tIns="0" rIns="0" bIns="0" rtlCol="0" anchor="t"/>
          <a:lstStyle/>
          <a:p>
            <a:pPr indent="0" marL="0">
              <a:buNone/>
            </a:pPr>
            <a:r>
              <a:rPr lang="en-US" sz="1400" dirty="0">
                <a:solidFill>
                  <a:schemeClr val="tx1"/>
                </a:solidFill>
              </a:rPr>
              <a:t>HyP3 INSAR_GAMMA, 12-day pairs, 20 × 4 looks, GLO-30 DEM</a:t>
            </a:r>
            <a:endParaRPr lang="en-US" sz="1400" dirty="0"/>
          </a:p>
        </p:txBody>
      </p:sp>
      <p:sp>
        <p:nvSpPr>
          <p:cNvPr id="7" name="Step 2 badge"/>
          <p:cNvSpPr/>
          <p:nvPr/>
        </p:nvSpPr>
        <p:spPr>
          <a:xfrm>
            <a:off x="2834640" y="1600200"/>
            <a:ext cx="566928" cy="566928"/>
          </a:xfrm>
          <a:prstGeom prst="ellipse">
            <a:avLst/>
          </a:prstGeom>
          <a:solidFill>
            <a:schemeClr val="accent1"/>
          </a:solidFill>
          <a:ln/>
        </p:spPr>
      </p:sp>
      <p:sp>
        <p:nvSpPr>
          <p:cNvPr id="8" name="Step 2 number"/>
          <p:cNvSpPr txBox="1"/>
          <p:nvPr/>
        </p:nvSpPr>
        <p:spPr>
          <a:xfrm>
            <a:off x="2834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Step 2 head"/>
          <p:cNvSpPr txBox="1"/>
          <p:nvPr/>
        </p:nvSpPr>
        <p:spPr>
          <a:xfrm>
            <a:off x="2834640" y="2331720"/>
            <a:ext cx="2011680" cy="411480"/>
          </a:xfrm>
          <a:prstGeom prst="rect">
            <a:avLst/>
          </a:prstGeom>
          <a:noFill/>
          <a:ln/>
        </p:spPr>
        <p:txBody>
          <a:bodyPr wrap="square" lIns="0" tIns="0" rIns="0" bIns="0" rtlCol="0" anchor="t"/>
          <a:lstStyle/>
          <a:p>
            <a:pPr indent="0" marL="0">
              <a:buNone/>
            </a:pPr>
            <a:r>
              <a:rPr lang="en-US" sz="1600" b="1" dirty="0">
                <a:solidFill>
                  <a:schemeClr val="tx2"/>
                </a:solidFill>
              </a:rPr>
              <a:t>Coherence onset</a:t>
            </a:r>
            <a:endParaRPr lang="en-US" sz="1600" dirty="0"/>
          </a:p>
        </p:txBody>
      </p:sp>
      <p:sp>
        <p:nvSpPr>
          <p:cNvPr id="10" name="Step 2 body"/>
          <p:cNvSpPr txBox="1"/>
          <p:nvPr/>
        </p:nvSpPr>
        <p:spPr>
          <a:xfrm>
            <a:off x="2834640" y="2761488"/>
            <a:ext cx="2011680" cy="1463040"/>
          </a:xfrm>
          <a:prstGeom prst="rect">
            <a:avLst/>
          </a:prstGeom>
          <a:noFill/>
          <a:ln/>
        </p:spPr>
        <p:txBody>
          <a:bodyPr wrap="square" lIns="0" tIns="0" rIns="0" bIns="0" rtlCol="0" anchor="t"/>
          <a:lstStyle/>
          <a:p>
            <a:pPr indent="0" marL="0">
              <a:buNone/>
            </a:pPr>
            <a:r>
              <a:rPr lang="en-US" sz="1400" dirty="0">
                <a:solidFill>
                  <a:schemeClr val="tx1"/>
                </a:solidFill>
              </a:rPr>
              <a:t>coherent ice area every 12 days; onset = sustained above 50%</a:t>
            </a:r>
            <a:endParaRPr lang="en-US" sz="1400" dirty="0"/>
          </a:p>
        </p:txBody>
      </p:sp>
      <p:sp>
        <p:nvSpPr>
          <p:cNvPr id="11" name="Step 3 badge"/>
          <p:cNvSpPr/>
          <p:nvPr/>
        </p:nvSpPr>
        <p:spPr>
          <a:xfrm>
            <a:off x="5120640" y="1600200"/>
            <a:ext cx="566928" cy="566928"/>
          </a:xfrm>
          <a:prstGeom prst="ellipse">
            <a:avLst/>
          </a:prstGeom>
          <a:solidFill>
            <a:schemeClr val="accent1"/>
          </a:solidFill>
          <a:ln/>
        </p:spPr>
      </p:sp>
      <p:sp>
        <p:nvSpPr>
          <p:cNvPr id="12" name="Step 3 number"/>
          <p:cNvSpPr txBox="1"/>
          <p:nvPr/>
        </p:nvSpPr>
        <p:spPr>
          <a:xfrm>
            <a:off x="5120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3 head"/>
          <p:cNvSpPr txBox="1"/>
          <p:nvPr/>
        </p:nvSpPr>
        <p:spPr>
          <a:xfrm>
            <a:off x="5120640" y="2331720"/>
            <a:ext cx="2011680" cy="411480"/>
          </a:xfrm>
          <a:prstGeom prst="rect">
            <a:avLst/>
          </a:prstGeom>
          <a:noFill/>
          <a:ln/>
        </p:spPr>
        <p:txBody>
          <a:bodyPr wrap="square" lIns="0" tIns="0" rIns="0" bIns="0" rtlCol="0" anchor="t"/>
          <a:lstStyle/>
          <a:p>
            <a:pPr indent="0" marL="0">
              <a:buNone/>
            </a:pPr>
            <a:r>
              <a:rPr lang="en-US" sz="1600" b="1" dirty="0">
                <a:solidFill>
                  <a:schemeClr val="tx2"/>
                </a:solidFill>
              </a:rPr>
              <a:t>Ramp removal</a:t>
            </a:r>
            <a:endParaRPr lang="en-US" sz="1600" dirty="0"/>
          </a:p>
        </p:txBody>
      </p:sp>
      <p:sp>
        <p:nvSpPr>
          <p:cNvPr id="14" name="Step 3 body"/>
          <p:cNvSpPr txBox="1"/>
          <p:nvPr/>
        </p:nvSpPr>
        <p:spPr>
          <a:xfrm>
            <a:off x="5120640" y="2761488"/>
            <a:ext cx="2011680" cy="1463040"/>
          </a:xfrm>
          <a:prstGeom prst="rect">
            <a:avLst/>
          </a:prstGeom>
          <a:noFill/>
          <a:ln/>
        </p:spPr>
        <p:txBody>
          <a:bodyPr wrap="square" lIns="0" tIns="0" rIns="0" bIns="0" rtlCol="0" anchor="t"/>
          <a:lstStyle/>
          <a:p>
            <a:pPr indent="0" marL="0">
              <a:buNone/>
            </a:pPr>
            <a:r>
              <a:rPr lang="en-US" sz="1400" dirty="0">
                <a:solidFill>
                  <a:schemeClr val="tx1"/>
                </a:solidFill>
              </a:rPr>
              <a:t>polynomial fit over stable land replaces split-spectrum</a:t>
            </a:r>
            <a:endParaRPr lang="en-US" sz="1400" dirty="0"/>
          </a:p>
        </p:txBody>
      </p:sp>
      <p:sp>
        <p:nvSpPr>
          <p:cNvPr id="15" name="Step 4 badge"/>
          <p:cNvSpPr/>
          <p:nvPr/>
        </p:nvSpPr>
        <p:spPr>
          <a:xfrm>
            <a:off x="7406640" y="1600200"/>
            <a:ext cx="566928" cy="566928"/>
          </a:xfrm>
          <a:prstGeom prst="ellipse">
            <a:avLst/>
          </a:prstGeom>
          <a:solidFill>
            <a:schemeClr val="accent1"/>
          </a:solidFill>
          <a:ln/>
        </p:spPr>
      </p:sp>
      <p:sp>
        <p:nvSpPr>
          <p:cNvPr id="16" name="Step 4 number"/>
          <p:cNvSpPr txBox="1"/>
          <p:nvPr/>
        </p:nvSpPr>
        <p:spPr>
          <a:xfrm>
            <a:off x="7406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Step 4 head"/>
          <p:cNvSpPr txBox="1"/>
          <p:nvPr/>
        </p:nvSpPr>
        <p:spPr>
          <a:xfrm>
            <a:off x="7406640" y="2331720"/>
            <a:ext cx="2011680" cy="411480"/>
          </a:xfrm>
          <a:prstGeom prst="rect">
            <a:avLst/>
          </a:prstGeom>
          <a:noFill/>
          <a:ln/>
        </p:spPr>
        <p:txBody>
          <a:bodyPr wrap="square" lIns="0" tIns="0" rIns="0" bIns="0" rtlCol="0" anchor="t"/>
          <a:lstStyle/>
          <a:p>
            <a:pPr indent="0" marL="0">
              <a:buNone/>
            </a:pPr>
            <a:r>
              <a:rPr lang="en-US" sz="1600" b="1" dirty="0">
                <a:solidFill>
                  <a:schemeClr val="tx2"/>
                </a:solidFill>
              </a:rPr>
              <a:t>SBAS time series</a:t>
            </a:r>
            <a:endParaRPr lang="en-US" sz="1600" dirty="0"/>
          </a:p>
        </p:txBody>
      </p:sp>
      <p:sp>
        <p:nvSpPr>
          <p:cNvPr id="18" name="Step 4 body"/>
          <p:cNvSpPr txBox="1"/>
          <p:nvPr/>
        </p:nvSpPr>
        <p:spPr>
          <a:xfrm>
            <a:off x="7406640" y="2761488"/>
            <a:ext cx="2011680" cy="1463040"/>
          </a:xfrm>
          <a:prstGeom prst="rect">
            <a:avLst/>
          </a:prstGeom>
          <a:noFill/>
          <a:ln/>
        </p:spPr>
        <p:txBody>
          <a:bodyPr wrap="square" lIns="0" tIns="0" rIns="0" bIns="0" rtlCol="0" anchor="t"/>
          <a:lstStyle/>
          <a:p>
            <a:pPr indent="0" marL="0">
              <a:buNone/>
            </a:pPr>
            <a:r>
              <a:rPr lang="en-US" sz="1400" dirty="0">
                <a:solidFill>
                  <a:schemeClr val="tx1"/>
                </a:solidFill>
              </a:rPr>
              <a:t>referenced to fixed land at the Arctic Research Station</a:t>
            </a:r>
            <a:endParaRPr lang="en-US" sz="1400" dirty="0"/>
          </a:p>
        </p:txBody>
      </p:sp>
      <p:sp>
        <p:nvSpPr>
          <p:cNvPr id="19" name="Step 5 badge"/>
          <p:cNvSpPr/>
          <p:nvPr/>
        </p:nvSpPr>
        <p:spPr>
          <a:xfrm>
            <a:off x="9692640" y="1600200"/>
            <a:ext cx="566928" cy="566928"/>
          </a:xfrm>
          <a:prstGeom prst="ellipse">
            <a:avLst/>
          </a:prstGeom>
          <a:solidFill>
            <a:schemeClr val="accent1"/>
          </a:solidFill>
          <a:ln/>
        </p:spPr>
      </p:sp>
      <p:sp>
        <p:nvSpPr>
          <p:cNvPr id="20" name="Step 5 number"/>
          <p:cNvSpPr txBox="1"/>
          <p:nvPr/>
        </p:nvSpPr>
        <p:spPr>
          <a:xfrm>
            <a:off x="9692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Step 5 head"/>
          <p:cNvSpPr txBox="1"/>
          <p:nvPr/>
        </p:nvSpPr>
        <p:spPr>
          <a:xfrm>
            <a:off x="9692640" y="2331720"/>
            <a:ext cx="2011680" cy="411480"/>
          </a:xfrm>
          <a:prstGeom prst="rect">
            <a:avLst/>
          </a:prstGeom>
          <a:noFill/>
          <a:ln/>
        </p:spPr>
        <p:txBody>
          <a:bodyPr wrap="square" lIns="0" tIns="0" rIns="0" bIns="0" rtlCol="0" anchor="t"/>
          <a:lstStyle/>
          <a:p>
            <a:pPr indent="0" marL="0">
              <a:buNone/>
            </a:pPr>
            <a:r>
              <a:rPr lang="en-US" sz="1600" b="1" dirty="0">
                <a:solidFill>
                  <a:schemeClr val="tx2"/>
                </a:solidFill>
              </a:rPr>
              <a:t>2-D decomposition</a:t>
            </a:r>
            <a:endParaRPr lang="en-US" sz="1600" dirty="0"/>
          </a:p>
        </p:txBody>
      </p:sp>
      <p:sp>
        <p:nvSpPr>
          <p:cNvPr id="22" name="Step 5 body"/>
          <p:cNvSpPr txBox="1"/>
          <p:nvPr/>
        </p:nvSpPr>
        <p:spPr>
          <a:xfrm>
            <a:off x="9692640" y="2761488"/>
            <a:ext cx="2011680" cy="1463040"/>
          </a:xfrm>
          <a:prstGeom prst="rect">
            <a:avLst/>
          </a:prstGeom>
          <a:noFill/>
          <a:ln/>
        </p:spPr>
        <p:txBody>
          <a:bodyPr wrap="square" lIns="0" tIns="0" rIns="0" bIns="0" rtlCol="0" anchor="t"/>
          <a:lstStyle/>
          <a:p>
            <a:pPr indent="0" marL="0">
              <a:buNone/>
            </a:pPr>
            <a:r>
              <a:rPr lang="en-US" sz="1400" dirty="0">
                <a:solidFill>
                  <a:schemeClr val="tx1"/>
                </a:solidFill>
              </a:rPr>
              <a:t>ascending + descending → east–west and vertical</a:t>
            </a:r>
            <a:endParaRPr lang="en-US" sz="1400" dirty="0"/>
          </a:p>
        </p:txBody>
      </p:sp>
      <p:sp>
        <p:nvSpPr>
          <p:cNvPr id="23" name="Step arrow 1"/>
          <p:cNvSpPr/>
          <p:nvPr/>
        </p:nvSpPr>
        <p:spPr>
          <a:xfrm>
            <a:off x="1234440" y="1883664"/>
            <a:ext cx="1463040" cy="0"/>
          </a:xfrm>
          <a:prstGeom prst="line">
            <a:avLst/>
          </a:prstGeom>
          <a:noFill/>
          <a:ln w="25400">
            <a:solidFill>
              <a:srgbClr val="8FC1DA"/>
            </a:solidFill>
            <a:prstDash val="solid"/>
            <a:tailEnd type="triangle"/>
          </a:ln>
        </p:spPr>
      </p:sp>
      <p:sp>
        <p:nvSpPr>
          <p:cNvPr id="24" name="Step arrow 2"/>
          <p:cNvSpPr/>
          <p:nvPr/>
        </p:nvSpPr>
        <p:spPr>
          <a:xfrm>
            <a:off x="3520440" y="1883664"/>
            <a:ext cx="1463040" cy="0"/>
          </a:xfrm>
          <a:prstGeom prst="line">
            <a:avLst/>
          </a:prstGeom>
          <a:noFill/>
          <a:ln w="25400">
            <a:solidFill>
              <a:srgbClr val="8FC1DA"/>
            </a:solidFill>
            <a:prstDash val="solid"/>
            <a:tailEnd type="triangle"/>
          </a:ln>
        </p:spPr>
      </p:sp>
      <p:sp>
        <p:nvSpPr>
          <p:cNvPr id="25" name="Step arrow 3"/>
          <p:cNvSpPr/>
          <p:nvPr/>
        </p:nvSpPr>
        <p:spPr>
          <a:xfrm>
            <a:off x="5806440" y="1883664"/>
            <a:ext cx="1463040" cy="0"/>
          </a:xfrm>
          <a:prstGeom prst="line">
            <a:avLst/>
          </a:prstGeom>
          <a:noFill/>
          <a:ln w="25400">
            <a:solidFill>
              <a:srgbClr val="8FC1DA"/>
            </a:solidFill>
            <a:prstDash val="solid"/>
            <a:tailEnd type="triangle"/>
          </a:ln>
        </p:spPr>
      </p:sp>
      <p:sp>
        <p:nvSpPr>
          <p:cNvPr id="26" name="Step arrow 4"/>
          <p:cNvSpPr/>
          <p:nvPr/>
        </p:nvSpPr>
        <p:spPr>
          <a:xfrm>
            <a:off x="8092440" y="1883664"/>
            <a:ext cx="1463040" cy="0"/>
          </a:xfrm>
          <a:prstGeom prst="line">
            <a:avLst/>
          </a:prstGeom>
          <a:noFill/>
          <a:ln w="25400">
            <a:solidFill>
              <a:srgbClr val="8FC1DA"/>
            </a:solidFill>
            <a:prstDash val="solid"/>
            <a:tailEnd type="triangle"/>
          </a:ln>
        </p:spPr>
      </p:sp>
      <p:sp>
        <p:nvSpPr>
          <p:cNvPr id="27" name="Precision card"/>
          <p:cNvSpPr/>
          <p:nvPr/>
        </p:nvSpPr>
        <p:spPr>
          <a:xfrm>
            <a:off x="548640" y="4572000"/>
            <a:ext cx="11064240" cy="1280160"/>
          </a:xfrm>
          <a:prstGeom prst="roundRect">
            <a:avLst>
              <a:gd name="adj" fmla="val 8571"/>
            </a:avLst>
          </a:prstGeom>
          <a:solidFill>
            <a:schemeClr val="bg2"/>
          </a:solidFill>
          <a:ln/>
        </p:spPr>
      </p:sp>
      <p:sp>
        <p:nvSpPr>
          <p:cNvPr id="28" name="Precision text"/>
          <p:cNvSpPr txBox="1"/>
          <p:nvPr/>
        </p:nvSpPr>
        <p:spPr>
          <a:xfrm>
            <a:off x="822960" y="4681728"/>
            <a:ext cx="10515600" cy="1051560"/>
          </a:xfrm>
          <a:prstGeom prst="rect">
            <a:avLst/>
          </a:prstGeom>
          <a:noFill/>
          <a:ln/>
        </p:spPr>
        <p:txBody>
          <a:bodyPr wrap="square" lIns="0" tIns="0" rIns="0" bIns="0" rtlCol="0" anchor="ctr"/>
          <a:lstStyle/>
          <a:p>
            <a:pPr indent="0" marL="0">
              <a:buNone/>
            </a:pPr>
            <a:r>
              <a:rPr lang="en-US" sz="1500" b="1" dirty="0">
                <a:solidFill>
                  <a:schemeClr val="tx1"/>
                </a:solidFill>
              </a:rPr>
              <a:t>Precision from an independent land control (P5): </a:t>
            </a:r>
            <a:pPr indent="0" marL="0">
              <a:buNone/>
            </a:pPr>
            <a:r>
              <a:rPr lang="en-US" sz="1500" dirty="0">
                <a:solidFill>
                  <a:schemeClr val="tx1"/>
                </a:solidFill>
              </a:rPr>
              <a:t>±1.6 cm (2018–19) and ±0.7 cm (2020–21), ±4 cm in the 2020–21 ascending series. Networks are consecutive, so phase closure is not available.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Interferograms: the raw signal</a:t>
            </a:r>
            <a:endParaRPr lang="en-US" sz="3400" dirty="0"/>
          </a:p>
        </p:txBody>
      </p:sp>
      <p:sp>
        <p:nvSpPr>
          <p:cNvPr id="3" name="Descending interferograms 2019 frame"/>
          <p:cNvSpPr/>
          <p:nvPr/>
        </p:nvSpPr>
        <p:spPr>
          <a:xfrm>
            <a:off x="548640" y="1325880"/>
            <a:ext cx="4625017" cy="4892040"/>
          </a:xfrm>
          <a:prstGeom prst="roundRect">
            <a:avLst>
              <a:gd name="adj" fmla="val 2372"/>
            </a:avLst>
          </a:prstGeom>
          <a:solidFill>
            <a:schemeClr val="bg2"/>
          </a:solidFill>
          <a:ln/>
        </p:spPr>
      </p:sp>
      <p:pic>
        <p:nvPicPr>
          <p:cNvPr id="4" name="Descending interferograms 2019" descr="/Users/bhakthadarshan/Documents/DUK/Confernce/figures/figures_2019/fig04_ifg_descending_2019.png">    </p:cNvPr>
          <p:cNvPicPr>
            <a:picLocks noChangeAspect="1"/>
          </p:cNvPicPr>
          <p:nvPr/>
        </p:nvPicPr>
        <p:blipFill>
          <a:blip r:embed="rId1"/>
          <a:stretch>
            <a:fillRect/>
          </a:stretch>
        </p:blipFill>
        <p:spPr>
          <a:xfrm>
            <a:off x="685800" y="1463040"/>
            <a:ext cx="4350697" cy="4206240"/>
          </a:xfrm>
          <a:prstGeom prst="rect">
            <a:avLst/>
          </a:prstGeom>
        </p:spPr>
      </p:pic>
      <p:sp>
        <p:nvSpPr>
          <p:cNvPr id="5" name="Descending interferograms 2019 caption"/>
          <p:cNvSpPr txBox="1"/>
          <p:nvPr/>
        </p:nvSpPr>
        <p:spPr>
          <a:xfrm>
            <a:off x="731520" y="5760720"/>
            <a:ext cx="4259257" cy="365760"/>
          </a:xfrm>
          <a:prstGeom prst="rect">
            <a:avLst/>
          </a:prstGeom>
          <a:noFill/>
          <a:ln/>
        </p:spPr>
        <p:txBody>
          <a:bodyPr wrap="square" lIns="0" tIns="0" rIns="0" bIns="0" rtlCol="0" anchor="ctr"/>
          <a:lstStyle/>
          <a:p>
            <a:pPr indent="0" marL="0">
              <a:buNone/>
            </a:pPr>
            <a:r>
              <a:rPr lang="en-US" sz="1100" i="1" dirty="0">
                <a:solidFill>
                  <a:schemeClr val="accent4"/>
                </a:solidFill>
              </a:rPr>
              <a:t>Descending (S1A, HH): four 12-day pairs, Feb–Apr 2019</a:t>
            </a:r>
            <a:endParaRPr lang="en-US" sz="1100" dirty="0"/>
          </a:p>
        </p:txBody>
      </p:sp>
      <p:sp>
        <p:nvSpPr>
          <p:cNvPr id="6" name="Reading heading"/>
          <p:cNvSpPr txBox="1"/>
          <p:nvPr/>
        </p:nvSpPr>
        <p:spPr>
          <a:xfrm>
            <a:off x="5585137" y="1371600"/>
            <a:ext cx="6027743" cy="411480"/>
          </a:xfrm>
          <a:prstGeom prst="rect">
            <a:avLst/>
          </a:prstGeom>
          <a:noFill/>
          <a:ln/>
        </p:spPr>
        <p:txBody>
          <a:bodyPr wrap="square" lIns="0" tIns="0" rIns="0" bIns="0" rtlCol="0" anchor="ctr"/>
          <a:lstStyle/>
          <a:p>
            <a:pPr indent="0" marL="0">
              <a:buNone/>
            </a:pPr>
            <a:r>
              <a:rPr lang="en-US" sz="1800" b="1" dirty="0">
                <a:solidFill>
                  <a:schemeClr val="tx2"/>
                </a:solidFill>
              </a:rPr>
              <a:t>How to read them</a:t>
            </a:r>
            <a:endParaRPr lang="en-US" sz="1800" dirty="0"/>
          </a:p>
        </p:txBody>
      </p:sp>
      <p:sp>
        <p:nvSpPr>
          <p:cNvPr id="7" name="Reading 1 dot"/>
          <p:cNvSpPr/>
          <p:nvPr/>
        </p:nvSpPr>
        <p:spPr>
          <a:xfrm>
            <a:off x="5585137" y="2011680"/>
            <a:ext cx="256032" cy="256032"/>
          </a:xfrm>
          <a:prstGeom prst="ellipse">
            <a:avLst/>
          </a:prstGeom>
          <a:solidFill>
            <a:schemeClr val="accent1"/>
          </a:solidFill>
          <a:ln/>
        </p:spPr>
      </p:sp>
      <p:sp>
        <p:nvSpPr>
          <p:cNvPr id="8" name="Reading 1 text"/>
          <p:cNvSpPr txBox="1"/>
          <p:nvPr/>
        </p:nvSpPr>
        <p:spPr>
          <a:xfrm>
            <a:off x="5996617" y="1965960"/>
            <a:ext cx="5616263" cy="91440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One colour cycle = 2.8 cm</a:t>
            </a:r>
            <a:endParaRPr lang="en-US" sz="1400" dirty="0"/>
          </a:p>
          <a:p>
            <a:pPr indent="0" marL="0">
              <a:spcAft>
                <a:spcPts val="300"/>
              </a:spcAft>
              <a:buNone/>
            </a:pPr>
            <a:r>
              <a:rPr lang="en-US" sz="1400" dirty="0">
                <a:solidFill>
                  <a:schemeClr val="tx1"/>
                </a:solidFill>
              </a:rPr>
              <a:t>of line-of-sight change between the two passes</a:t>
            </a:r>
            <a:endParaRPr lang="en-US" sz="1400" dirty="0"/>
          </a:p>
        </p:txBody>
      </p:sp>
      <p:sp>
        <p:nvSpPr>
          <p:cNvPr id="9" name="Reading 2 dot"/>
          <p:cNvSpPr/>
          <p:nvPr/>
        </p:nvSpPr>
        <p:spPr>
          <a:xfrm>
            <a:off x="5585137" y="3035808"/>
            <a:ext cx="256032" cy="256032"/>
          </a:xfrm>
          <a:prstGeom prst="ellipse">
            <a:avLst/>
          </a:prstGeom>
          <a:solidFill>
            <a:schemeClr val="accent2"/>
          </a:solidFill>
          <a:ln/>
        </p:spPr>
      </p:sp>
      <p:sp>
        <p:nvSpPr>
          <p:cNvPr id="10" name="Reading 2 text"/>
          <p:cNvSpPr txBox="1"/>
          <p:nvPr/>
        </p:nvSpPr>
        <p:spPr>
          <a:xfrm>
            <a:off x="5996617" y="2990088"/>
            <a:ext cx="5616263" cy="91440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Dense fringes = fast motion</a:t>
            </a:r>
            <a:endParaRPr lang="en-US" sz="1400" dirty="0"/>
          </a:p>
          <a:p>
            <a:pPr indent="0" marL="0">
              <a:spcAft>
                <a:spcPts val="300"/>
              </a:spcAft>
              <a:buNone/>
            </a:pPr>
            <a:r>
              <a:rPr lang="en-US" sz="1400" dirty="0">
                <a:solidFill>
                  <a:schemeClr val="tx1"/>
                </a:solidFill>
              </a:rPr>
              <a:t>the landfast ice in Dease Strait deforms; the land around it stays smooth</a:t>
            </a:r>
            <a:endParaRPr lang="en-US" sz="1400" dirty="0"/>
          </a:p>
        </p:txBody>
      </p:sp>
      <p:sp>
        <p:nvSpPr>
          <p:cNvPr id="11" name="Reading 3 dot"/>
          <p:cNvSpPr/>
          <p:nvPr/>
        </p:nvSpPr>
        <p:spPr>
          <a:xfrm>
            <a:off x="5585137" y="4059936"/>
            <a:ext cx="256032" cy="256032"/>
          </a:xfrm>
          <a:prstGeom prst="ellipse">
            <a:avLst/>
          </a:prstGeom>
          <a:solidFill>
            <a:schemeClr val="accent4"/>
          </a:solidFill>
          <a:ln/>
        </p:spPr>
      </p:sp>
      <p:sp>
        <p:nvSpPr>
          <p:cNvPr id="12" name="Reading 3 text"/>
          <p:cNvSpPr txBox="1"/>
          <p:nvPr/>
        </p:nvSpPr>
        <p:spPr>
          <a:xfrm>
            <a:off x="5996617" y="4014216"/>
            <a:ext cx="5616263" cy="91440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White = not measurable</a:t>
            </a:r>
            <a:endParaRPr lang="en-US" sz="1400" dirty="0"/>
          </a:p>
          <a:p>
            <a:pPr indent="0" marL="0">
              <a:spcAft>
                <a:spcPts val="300"/>
              </a:spcAft>
              <a:buNone/>
            </a:pPr>
            <a:r>
              <a:rPr lang="en-US" sz="1400" dirty="0">
                <a:solidFill>
                  <a:schemeClr val="tx1"/>
                </a:solidFill>
              </a:rPr>
              <a:t>coherence below 0.4: ice that moved or changed too much</a:t>
            </a:r>
            <a:endParaRPr lang="en-US" sz="1400" dirty="0"/>
          </a:p>
        </p:txBody>
      </p:sp>
      <p:sp>
        <p:nvSpPr>
          <p:cNvPr id="13" name="Reading 4 dot"/>
          <p:cNvSpPr/>
          <p:nvPr/>
        </p:nvSpPr>
        <p:spPr>
          <a:xfrm>
            <a:off x="5585137" y="5084064"/>
            <a:ext cx="256032" cy="256032"/>
          </a:xfrm>
          <a:prstGeom prst="ellipse">
            <a:avLst/>
          </a:prstGeom>
          <a:solidFill>
            <a:schemeClr val="accent6"/>
          </a:solidFill>
          <a:ln/>
        </p:spPr>
      </p:sp>
      <p:sp>
        <p:nvSpPr>
          <p:cNvPr id="14" name="Reading 4 text"/>
          <p:cNvSpPr txBox="1"/>
          <p:nvPr/>
        </p:nvSpPr>
        <p:spPr>
          <a:xfrm>
            <a:off x="5996617" y="5038344"/>
            <a:ext cx="5616263" cy="91440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Pattern changes pair to pair</a:t>
            </a:r>
            <a:endParaRPr lang="en-US" sz="1400" dirty="0"/>
          </a:p>
          <a:p>
            <a:pPr indent="0" marL="0">
              <a:spcAft>
                <a:spcPts val="300"/>
              </a:spcAft>
              <a:buNone/>
            </a:pPr>
            <a:r>
              <a:rPr lang="en-US" sz="1400" dirty="0">
                <a:solidFill>
                  <a:schemeClr val="tx1"/>
                </a:solidFill>
              </a:rPr>
              <a:t>parallel fringes in February, more varied and partly closed by April</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Two viewing directions, two motions</a:t>
            </a:r>
            <a:endParaRPr lang="en-US" sz="3400" dirty="0"/>
          </a:p>
        </p:txBody>
      </p:sp>
      <p:sp>
        <p:nvSpPr>
          <p:cNvPr id="3" name="Ascending interferograms frame"/>
          <p:cNvSpPr/>
          <p:nvPr/>
        </p:nvSpPr>
        <p:spPr>
          <a:xfrm>
            <a:off x="548640" y="1325880"/>
            <a:ext cx="6667041" cy="3794760"/>
          </a:xfrm>
          <a:prstGeom prst="roundRect">
            <a:avLst>
              <a:gd name="adj" fmla="val 2892"/>
            </a:avLst>
          </a:prstGeom>
          <a:solidFill>
            <a:schemeClr val="bg2"/>
          </a:solidFill>
          <a:ln/>
        </p:spPr>
      </p:sp>
      <p:pic>
        <p:nvPicPr>
          <p:cNvPr id="4" name="Ascending interferograms" descr="/Users/bhakthadarshan/Documents/DUK/Confernce/figures/figures_2019/fig05_ifg_ascending_2019.png">    </p:cNvPr>
          <p:cNvPicPr>
            <a:picLocks noChangeAspect="1"/>
          </p:cNvPicPr>
          <p:nvPr/>
        </p:nvPicPr>
        <p:blipFill>
          <a:blip r:embed="rId1"/>
          <a:stretch>
            <a:fillRect/>
          </a:stretch>
        </p:blipFill>
        <p:spPr>
          <a:xfrm>
            <a:off x="685800" y="1463040"/>
            <a:ext cx="6392721" cy="3108960"/>
          </a:xfrm>
          <a:prstGeom prst="rect">
            <a:avLst/>
          </a:prstGeom>
        </p:spPr>
      </p:pic>
      <p:sp>
        <p:nvSpPr>
          <p:cNvPr id="5" name="Ascending interferograms caption"/>
          <p:cNvSpPr txBox="1"/>
          <p:nvPr/>
        </p:nvSpPr>
        <p:spPr>
          <a:xfrm>
            <a:off x="731520" y="4663440"/>
            <a:ext cx="6301281" cy="365760"/>
          </a:xfrm>
          <a:prstGeom prst="rect">
            <a:avLst/>
          </a:prstGeom>
          <a:noFill/>
          <a:ln/>
        </p:spPr>
        <p:txBody>
          <a:bodyPr wrap="square" lIns="0" tIns="0" rIns="0" bIns="0" rtlCol="0" anchor="ctr"/>
          <a:lstStyle/>
          <a:p>
            <a:pPr indent="0" marL="0">
              <a:buNone/>
            </a:pPr>
            <a:r>
              <a:rPr lang="en-US" sz="1100" i="1" dirty="0">
                <a:solidFill>
                  <a:schemeClr val="accent4"/>
                </a:solidFill>
              </a:rPr>
              <a:t>Ascending (S1B, VV), 21 Feb – 17 Mar 2019: the same ice seen from the opposite side</a:t>
            </a:r>
            <a:endParaRPr lang="en-US" sz="1100" dirty="0"/>
          </a:p>
        </p:txBody>
      </p:sp>
      <p:sp>
        <p:nvSpPr>
          <p:cNvPr id="6" name="Two looks frame"/>
          <p:cNvSpPr/>
          <p:nvPr/>
        </p:nvSpPr>
        <p:spPr>
          <a:xfrm>
            <a:off x="7490001" y="1325880"/>
            <a:ext cx="4122879" cy="3794760"/>
          </a:xfrm>
          <a:prstGeom prst="roundRect">
            <a:avLst>
              <a:gd name="adj" fmla="val 2892"/>
            </a:avLst>
          </a:prstGeom>
          <a:solidFill>
            <a:schemeClr val="bg2"/>
          </a:solidFill>
          <a:ln/>
        </p:spPr>
      </p:sp>
      <p:sp>
        <p:nvSpPr>
          <p:cNvPr id="7" name="Ascending (S1B) box"/>
          <p:cNvSpPr/>
          <p:nvPr/>
        </p:nvSpPr>
        <p:spPr>
          <a:xfrm>
            <a:off x="7764321" y="1554480"/>
            <a:ext cx="1695680" cy="502920"/>
          </a:xfrm>
          <a:prstGeom prst="roundRect">
            <a:avLst>
              <a:gd name="adj" fmla="val 18182"/>
            </a:avLst>
          </a:prstGeom>
          <a:solidFill>
            <a:schemeClr val="accent1"/>
          </a:solidFill>
          <a:ln/>
        </p:spPr>
      </p:sp>
      <p:sp>
        <p:nvSpPr>
          <p:cNvPr id="8" name="Ascending (S1B) label"/>
          <p:cNvSpPr txBox="1"/>
          <p:nvPr/>
        </p:nvSpPr>
        <p:spPr>
          <a:xfrm>
            <a:off x="7764321" y="1554480"/>
            <a:ext cx="1695680" cy="502920"/>
          </a:xfrm>
          <a:prstGeom prst="rect">
            <a:avLst/>
          </a:prstGeom>
          <a:noFill/>
          <a:ln/>
        </p:spPr>
        <p:txBody>
          <a:bodyPr wrap="square" lIns="0" tIns="0" rIns="0" bIns="0" rtlCol="0" anchor="ctr"/>
          <a:lstStyle/>
          <a:p>
            <a:pPr algn="ctr" indent="0" marL="0">
              <a:buNone/>
            </a:pPr>
            <a:r>
              <a:rPr lang="en-US" sz="1200" b="1" dirty="0">
                <a:solidFill>
                  <a:schemeClr val="bg1"/>
                </a:solidFill>
              </a:rPr>
              <a:t>Ascending (S1B)</a:t>
            </a:r>
            <a:endParaRPr lang="en-US" sz="1200" dirty="0"/>
          </a:p>
        </p:txBody>
      </p:sp>
      <p:sp>
        <p:nvSpPr>
          <p:cNvPr id="9" name="Ascending (S1B) line of sight"/>
          <p:cNvSpPr/>
          <p:nvPr/>
        </p:nvSpPr>
        <p:spPr>
          <a:xfrm>
            <a:off x="8612161" y="2057400"/>
            <a:ext cx="569820" cy="1306678"/>
          </a:xfrm>
          <a:prstGeom prst="line">
            <a:avLst/>
          </a:prstGeom>
          <a:noFill/>
          <a:ln w="25400">
            <a:solidFill>
              <a:srgbClr val="1B6A8C"/>
            </a:solidFill>
            <a:prstDash val="dash"/>
            <a:tailEnd type="triangle"/>
          </a:ln>
        </p:spPr>
      </p:sp>
      <p:sp>
        <p:nvSpPr>
          <p:cNvPr id="10" name="Descending (S1A) box"/>
          <p:cNvSpPr/>
          <p:nvPr/>
        </p:nvSpPr>
        <p:spPr>
          <a:xfrm>
            <a:off x="9642880" y="1554480"/>
            <a:ext cx="1695680" cy="502920"/>
          </a:xfrm>
          <a:prstGeom prst="roundRect">
            <a:avLst>
              <a:gd name="adj" fmla="val 18182"/>
            </a:avLst>
          </a:prstGeom>
          <a:solidFill>
            <a:schemeClr val="accent2"/>
          </a:solidFill>
          <a:ln/>
        </p:spPr>
      </p:sp>
      <p:sp>
        <p:nvSpPr>
          <p:cNvPr id="11" name="Descending (S1A) label"/>
          <p:cNvSpPr txBox="1"/>
          <p:nvPr/>
        </p:nvSpPr>
        <p:spPr>
          <a:xfrm>
            <a:off x="9642880" y="1554480"/>
            <a:ext cx="1695680" cy="502920"/>
          </a:xfrm>
          <a:prstGeom prst="rect">
            <a:avLst/>
          </a:prstGeom>
          <a:noFill/>
          <a:ln/>
        </p:spPr>
        <p:txBody>
          <a:bodyPr wrap="square" lIns="0" tIns="0" rIns="0" bIns="0" rtlCol="0" anchor="ctr"/>
          <a:lstStyle/>
          <a:p>
            <a:pPr algn="ctr" indent="0" marL="0">
              <a:buNone/>
            </a:pPr>
            <a:r>
              <a:rPr lang="en-US" sz="1200" b="1" dirty="0">
                <a:solidFill>
                  <a:schemeClr val="bg1"/>
                </a:solidFill>
              </a:rPr>
              <a:t>Descending (S1A)</a:t>
            </a:r>
            <a:endParaRPr lang="en-US" sz="1200" dirty="0"/>
          </a:p>
        </p:txBody>
      </p:sp>
      <p:sp>
        <p:nvSpPr>
          <p:cNvPr id="12" name="Descending (S1A) line of sight"/>
          <p:cNvSpPr/>
          <p:nvPr/>
        </p:nvSpPr>
        <p:spPr>
          <a:xfrm flipH="1">
            <a:off x="9920900" y="2057400"/>
            <a:ext cx="569820" cy="1306678"/>
          </a:xfrm>
          <a:prstGeom prst="line">
            <a:avLst/>
          </a:prstGeom>
          <a:noFill/>
          <a:ln w="25400">
            <a:solidFill>
              <a:srgbClr val="E07A2F"/>
            </a:solidFill>
            <a:prstDash val="dash"/>
            <a:tailEnd type="triangle"/>
          </a:ln>
        </p:spPr>
      </p:sp>
      <p:sp>
        <p:nvSpPr>
          <p:cNvPr id="13" name="Ground line"/>
          <p:cNvSpPr/>
          <p:nvPr/>
        </p:nvSpPr>
        <p:spPr>
          <a:xfrm>
            <a:off x="7764321" y="3656686"/>
            <a:ext cx="3574239" cy="0"/>
          </a:xfrm>
          <a:prstGeom prst="line">
            <a:avLst/>
          </a:prstGeom>
          <a:noFill/>
          <a:ln w="19050">
            <a:solidFill>
              <a:srgbClr val="5C6B7A"/>
            </a:solidFill>
            <a:prstDash val="solid"/>
          </a:ln>
        </p:spPr>
      </p:sp>
      <p:sp>
        <p:nvSpPr>
          <p:cNvPr id="14" name="Ice block"/>
          <p:cNvSpPr/>
          <p:nvPr/>
        </p:nvSpPr>
        <p:spPr>
          <a:xfrm>
            <a:off x="8861941" y="3364078"/>
            <a:ext cx="1379000" cy="292608"/>
          </a:xfrm>
          <a:prstGeom prst="roundRect">
            <a:avLst>
              <a:gd name="adj" fmla="val 18750"/>
            </a:avLst>
          </a:prstGeom>
          <a:solidFill>
            <a:schemeClr val="accent3"/>
          </a:solidFill>
          <a:ln/>
        </p:spPr>
      </p:sp>
      <p:sp>
        <p:nvSpPr>
          <p:cNvPr id="15" name="Ice label"/>
          <p:cNvSpPr txBox="1"/>
          <p:nvPr/>
        </p:nvSpPr>
        <p:spPr>
          <a:xfrm>
            <a:off x="8861941" y="3702406"/>
            <a:ext cx="1379000" cy="274320"/>
          </a:xfrm>
          <a:prstGeom prst="rect">
            <a:avLst/>
          </a:prstGeom>
          <a:noFill/>
          <a:ln/>
        </p:spPr>
        <p:txBody>
          <a:bodyPr wrap="square" lIns="0" tIns="0" rIns="0" bIns="0" rtlCol="0" anchor="ctr"/>
          <a:lstStyle/>
          <a:p>
            <a:pPr algn="ctr" indent="0" marL="0">
              <a:buNone/>
            </a:pPr>
            <a:r>
              <a:rPr lang="en-US" sz="1200" dirty="0">
                <a:solidFill>
                  <a:schemeClr val="accent4"/>
                </a:solidFill>
              </a:rPr>
              <a:t>landfast ice</a:t>
            </a:r>
            <a:endParaRPr lang="en-US" sz="1200" dirty="0"/>
          </a:p>
        </p:txBody>
      </p:sp>
      <p:sp>
        <p:nvSpPr>
          <p:cNvPr id="16" name="Decomposition card"/>
          <p:cNvSpPr/>
          <p:nvPr/>
        </p:nvSpPr>
        <p:spPr>
          <a:xfrm>
            <a:off x="548640" y="5303520"/>
            <a:ext cx="11064240" cy="868680"/>
          </a:xfrm>
          <a:prstGeom prst="roundRect">
            <a:avLst>
              <a:gd name="adj" fmla="val 12632"/>
            </a:avLst>
          </a:prstGeom>
          <a:solidFill>
            <a:schemeClr val="tx2"/>
          </a:solidFill>
          <a:ln/>
        </p:spPr>
      </p:sp>
      <p:sp>
        <p:nvSpPr>
          <p:cNvPr id="17" name="Decomposition text"/>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500" dirty="0">
                <a:solidFill>
                  <a:schemeClr val="accent3"/>
                </a:solidFill>
              </a:rPr>
              <a:t>One fringe = 2.8 cm of line-of-sight change.  </a:t>
            </a:r>
            <a:pPr indent="0" marL="0">
              <a:buNone/>
            </a:pPr>
            <a:r>
              <a:rPr lang="en-US" sz="1500" dirty="0">
                <a:solidFill>
                  <a:schemeClr val="bg1"/>
                </a:solidFill>
              </a:rPr>
              <a:t>The orbits see east–west motion with opposite sign but vertical motion alike, so the two together resolve both (north–south assumed small).</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Validated to within 2 cm</a:t>
            </a:r>
            <a:endParaRPr lang="en-US" sz="3400" dirty="0"/>
          </a:p>
        </p:txBody>
      </p:sp>
      <p:sp>
        <p:nvSpPr>
          <p:cNvPr id="3" name="Agreement card"/>
          <p:cNvSpPr/>
          <p:nvPr/>
        </p:nvSpPr>
        <p:spPr>
          <a:xfrm>
            <a:off x="548640" y="1371600"/>
            <a:ext cx="3566160" cy="2194560"/>
          </a:xfrm>
          <a:prstGeom prst="roundRect">
            <a:avLst>
              <a:gd name="adj" fmla="val 5000"/>
            </a:avLst>
          </a:prstGeom>
          <a:solidFill>
            <a:schemeClr val="bg2"/>
          </a:solidFill>
          <a:ln/>
        </p:spPr>
      </p:sp>
      <p:sp>
        <p:nvSpPr>
          <p:cNvPr id="4" name="Agreement value"/>
          <p:cNvSpPr txBox="1"/>
          <p:nvPr/>
        </p:nvSpPr>
        <p:spPr>
          <a:xfrm>
            <a:off x="777240" y="1915668"/>
            <a:ext cx="3108960" cy="594360"/>
          </a:xfrm>
          <a:prstGeom prst="rect">
            <a:avLst/>
          </a:prstGeom>
          <a:noFill/>
          <a:ln/>
        </p:spPr>
        <p:txBody>
          <a:bodyPr wrap="square" lIns="0" tIns="0" rIns="0" bIns="0" rtlCol="0" anchor="b"/>
          <a:lstStyle/>
          <a:p>
            <a:pPr indent="0" marL="0">
              <a:buNone/>
            </a:pPr>
            <a:r>
              <a:rPr lang="en-US" sz="3600" b="1" dirty="0">
                <a:solidFill>
                  <a:schemeClr val="accent5"/>
                </a:solidFill>
                <a:latin typeface="Georgia" pitchFamily="34" charset="0"/>
                <a:ea typeface="Georgia" pitchFamily="34" charset="-122"/>
                <a:cs typeface="Georgia" pitchFamily="34" charset="-120"/>
              </a:rPr>
              <a:t>≤ 2 cm</a:t>
            </a:r>
            <a:endParaRPr lang="en-US" sz="3600" dirty="0"/>
          </a:p>
        </p:txBody>
      </p:sp>
      <p:sp>
        <p:nvSpPr>
          <p:cNvPr id="5" name="Agreement label"/>
          <p:cNvSpPr txBox="1"/>
          <p:nvPr/>
        </p:nvSpPr>
        <p:spPr>
          <a:xfrm>
            <a:off x="777240" y="2546604"/>
            <a:ext cx="3108960" cy="512064"/>
          </a:xfrm>
          <a:prstGeom prst="rect">
            <a:avLst/>
          </a:prstGeom>
          <a:noFill/>
          <a:ln/>
        </p:spPr>
        <p:txBody>
          <a:bodyPr wrap="square" lIns="0" tIns="0" rIns="0" bIns="0" rtlCol="0" anchor="t"/>
          <a:lstStyle/>
          <a:p>
            <a:pPr indent="0" marL="0">
              <a:buNone/>
            </a:pPr>
            <a:r>
              <a:rPr lang="en-US" sz="1400" dirty="0">
                <a:solidFill>
                  <a:schemeClr val="tx1"/>
                </a:solidFill>
              </a:rPr>
              <a:t>agreement with Chen et al. (2021) where directly comparable</a:t>
            </a:r>
            <a:endParaRPr lang="en-US" sz="1400" dirty="0"/>
          </a:p>
        </p:txBody>
      </p:sp>
      <p:sp>
        <p:nvSpPr>
          <p:cNvPr id="6" name="Precision card"/>
          <p:cNvSpPr/>
          <p:nvPr/>
        </p:nvSpPr>
        <p:spPr>
          <a:xfrm>
            <a:off x="548640" y="3840480"/>
            <a:ext cx="3566160" cy="2194560"/>
          </a:xfrm>
          <a:prstGeom prst="roundRect">
            <a:avLst>
              <a:gd name="adj" fmla="val 5000"/>
            </a:avLst>
          </a:prstGeom>
          <a:solidFill>
            <a:schemeClr val="bg2"/>
          </a:solidFill>
          <a:ln/>
        </p:spPr>
      </p:sp>
      <p:sp>
        <p:nvSpPr>
          <p:cNvPr id="7" name="Precision value"/>
          <p:cNvSpPr txBox="1"/>
          <p:nvPr/>
        </p:nvSpPr>
        <p:spPr>
          <a:xfrm>
            <a:off x="777240" y="4384548"/>
            <a:ext cx="3108960" cy="594360"/>
          </a:xfrm>
          <a:prstGeom prst="rect">
            <a:avLst/>
          </a:prstGeom>
          <a:noFill/>
          <a:ln/>
        </p:spPr>
        <p:txBody>
          <a:bodyPr wrap="square" lIns="0" tIns="0" rIns="0" bIns="0" rtlCol="0" anchor="b"/>
          <a:lstStyle/>
          <a:p>
            <a:pPr indent="0" marL="0">
              <a:buNone/>
            </a:pPr>
            <a:r>
              <a:rPr lang="en-US" sz="3600" b="1" dirty="0">
                <a:solidFill>
                  <a:schemeClr val="accent1"/>
                </a:solidFill>
                <a:latin typeface="Georgia" pitchFamily="34" charset="0"/>
                <a:ea typeface="Georgia" pitchFamily="34" charset="-122"/>
                <a:cs typeface="Georgia" pitchFamily="34" charset="-120"/>
              </a:rPr>
              <a:t>±0.7–1.6 cm</a:t>
            </a:r>
            <a:endParaRPr lang="en-US" sz="3600" dirty="0"/>
          </a:p>
        </p:txBody>
      </p:sp>
      <p:sp>
        <p:nvSpPr>
          <p:cNvPr id="8" name="Precision label"/>
          <p:cNvSpPr txBox="1"/>
          <p:nvPr/>
        </p:nvSpPr>
        <p:spPr>
          <a:xfrm>
            <a:off x="777240" y="5015484"/>
            <a:ext cx="3108960" cy="512064"/>
          </a:xfrm>
          <a:prstGeom prst="rect">
            <a:avLst/>
          </a:prstGeom>
          <a:noFill/>
          <a:ln/>
        </p:spPr>
        <p:txBody>
          <a:bodyPr wrap="square" lIns="0" tIns="0" rIns="0" bIns="0" rtlCol="0" anchor="t"/>
          <a:lstStyle/>
          <a:p>
            <a:pPr indent="0" marL="0">
              <a:buNone/>
            </a:pPr>
            <a:r>
              <a:rPr lang="en-US" sz="1400" dirty="0">
                <a:solidFill>
                  <a:schemeClr val="tx1"/>
                </a:solidFill>
              </a:rPr>
              <a:t>precision from an independent land control point (P5)</a:t>
            </a:r>
            <a:endParaRPr lang="en-US" sz="1400" dirty="0"/>
          </a:p>
        </p:txBody>
      </p:sp>
      <p:graphicFrame>
        <p:nvGraphicFramePr>
          <p:cNvPr id="8" name="Validation table"/>
          <p:cNvGraphicFramePr>
            <a:graphicFrameLocks noGrp="1"/>
          </p:cNvGraphicFramePr>
          <p:nvPr>
            <p:extLst>
              <p:ext uri="{D42A27DB-BD31-4B8C-83A1-F6EECF244321}">
                <p14:modId xmlns:p14="http://schemas.microsoft.com/office/powerpoint/2010/main" val="1579011935"/>
              </p:ext>
            </p:extLst>
          </p:nvPr>
        </p:nvGraphicFramePr>
        <p:xfrm>
          <a:off x="4572000" y="1371600"/>
          <a:ext cx="7040880" cy="914400"/>
        </p:xfrm>
        <a:graphic>
          <a:graphicData uri="http://schemas.openxmlformats.org/drawingml/2006/table">
            <a:tbl>
              <a:tblPr/>
              <a:tblGrid>
                <a:gridCol w="1280160"/>
                <a:gridCol w="1828800"/>
                <a:gridCol w="2103120"/>
                <a:gridCol w="1828800"/>
              </a:tblGrid>
              <a:tr h="0">
                <a:tc>
                  <a:txBody>
                    <a:bodyPr/>
                    <a:lstStyle/>
                    <a:p>
                      <a:pPr indent="0" marL="0">
                        <a:buNone/>
                      </a:pPr>
                      <a:r>
                        <a:rPr lang="en-US" sz="1500" b="1" dirty="0">
                          <a:solidFill>
                            <a:schemeClr val="bg1"/>
                          </a:solidFill>
                        </a:rPr>
                        <a:t>Point</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This study</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Chen et al. 2021</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Difference</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r>
              <a:tr h="0">
                <a:tc>
                  <a:txBody>
                    <a:bodyPr/>
                    <a:lstStyle/>
                    <a:p>
                      <a:pPr indent="0" marL="0">
                        <a:buNone/>
                      </a:pPr>
                      <a:r>
                        <a:rPr lang="en-US" sz="1500" b="1" dirty="0">
                          <a:solidFill>
                            <a:schemeClr val="tx1"/>
                          </a:solidFill>
                        </a:rPr>
                        <a:t>P3</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+14.8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+16.7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1.9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1"/>
                          </a:solidFill>
                        </a:rPr>
                        <a:t>P4</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−5.6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−5.4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0.2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bl>
          </a:graphicData>
        </a:graphic>
      </p:graphicFrame>
      <p:sp>
        <p:nvSpPr>
          <p:cNvPr id="10" name="Validation notes"/>
          <p:cNvSpPr txBox="1"/>
          <p:nvPr/>
        </p:nvSpPr>
        <p:spPr>
          <a:xfrm>
            <a:off x="4572000" y="2788920"/>
            <a:ext cx="7040880" cy="310896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chemeClr val="tx1"/>
                </a:solidFill>
              </a:rPr>
              <a:t>Same dates and window </a:t>
            </a:r>
            <a:pPr indent="0" marL="0">
              <a:spcAft>
                <a:spcPts val="1000"/>
              </a:spcAft>
              <a:buNone/>
            </a:pPr>
            <a:r>
              <a:rPr lang="en-US" sz="1600" dirty="0">
                <a:solidFill>
                  <a:schemeClr val="tx1"/>
                </a:solidFill>
              </a:rPr>
              <a:t>as the published study: descending, 17 February – 6 April 2019 (48 days).</a:t>
            </a:r>
            <a:endParaRPr lang="en-US" sz="1600" dirty="0"/>
          </a:p>
          <a:p>
            <a:pPr marL="177800" indent="-177800">
              <a:spcAft>
                <a:spcPts val="1000"/>
              </a:spcAft>
              <a:buSzPct val="100000"/>
              <a:buChar char="•"/>
            </a:pPr>
            <a:r>
              <a:rPr lang="en-US" sz="1600" b="1" dirty="0">
                <a:solidFill>
                  <a:schemeClr val="tx1"/>
                </a:solidFill>
              </a:rPr>
              <a:t>Within their own spread: </a:t>
            </a:r>
            <a:pPr indent="0" marL="0">
              <a:spcAft>
                <a:spcPts val="1000"/>
              </a:spcAft>
              <a:buNone/>
            </a:pPr>
            <a:r>
              <a:rPr lang="en-US" sz="1600" dirty="0">
                <a:solidFill>
                  <a:schemeClr val="tx1"/>
                </a:solidFill>
              </a:rPr>
              <a:t>Chen et al. report 2–44 cm differences between their sensors.</a:t>
            </a:r>
            <a:endParaRPr lang="en-US" sz="1600" dirty="0"/>
          </a:p>
          <a:p>
            <a:pPr marL="177800" indent="-177800">
              <a:spcAft>
                <a:spcPts val="1000"/>
              </a:spcAft>
              <a:buSzPct val="100000"/>
              <a:buChar char="•"/>
            </a:pPr>
            <a:r>
              <a:rPr lang="en-US" sz="1600" b="1" dirty="0">
                <a:solidFill>
                  <a:schemeClr val="tx1"/>
                </a:solidFill>
              </a:rPr>
              <a:t>Free processing: </a:t>
            </a:r>
            <a:pPr indent="0" marL="0">
              <a:spcAft>
                <a:spcPts val="1000"/>
              </a:spcAft>
              <a:buNone/>
            </a:pPr>
            <a:r>
              <a:rPr lang="en-US" sz="1600" dirty="0">
                <a:solidFill>
                  <a:schemeClr val="tx1"/>
                </a:solidFill>
              </a:rPr>
              <a:t>ASF HyP3 instead of licensed GAMMA; polynomial ramp removal instead of split-spectrum.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Coherence dates the consolidation</a:t>
            </a:r>
            <a:endParaRPr lang="en-US" sz="3400" dirty="0"/>
          </a:p>
        </p:txBody>
      </p:sp>
      <p:graphicFrame>
        <p:nvGraphicFramePr>
          <p:cNvPr id="3" name="Coherent area chart" descr=""/>
          <p:cNvGraphicFramePr/>
          <p:nvPr/>
        </p:nvGraphicFramePr>
        <p:xfrm>
          <a:off x="54864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50 percent threshold"/>
          <p:cNvSpPr/>
          <p:nvPr/>
        </p:nvSpPr>
        <p:spPr>
          <a:xfrm>
            <a:off x="1298448" y="3652114"/>
            <a:ext cx="6448349" cy="0"/>
          </a:xfrm>
          <a:prstGeom prst="line">
            <a:avLst/>
          </a:prstGeom>
          <a:noFill/>
          <a:ln w="19050">
            <a:solidFill>
              <a:srgbClr val="5C6B7A"/>
            </a:solidFill>
            <a:prstDash val="dash"/>
          </a:ln>
        </p:spPr>
      </p:sp>
      <p:sp>
        <p:nvSpPr>
          <p:cNvPr id="5" name="Threshold label"/>
          <p:cNvSpPr txBox="1"/>
          <p:nvPr/>
        </p:nvSpPr>
        <p:spPr>
          <a:xfrm>
            <a:off x="5735117" y="3322930"/>
            <a:ext cx="2011680" cy="274320"/>
          </a:xfrm>
          <a:prstGeom prst="rect">
            <a:avLst/>
          </a:prstGeom>
          <a:noFill/>
          <a:ln/>
        </p:spPr>
        <p:txBody>
          <a:bodyPr wrap="square" lIns="0" tIns="0" rIns="0" bIns="0" rtlCol="0" anchor="ctr"/>
          <a:lstStyle/>
          <a:p>
            <a:pPr algn="r" indent="0" marL="0">
              <a:buNone/>
            </a:pPr>
            <a:r>
              <a:rPr lang="en-US" sz="1100" dirty="0">
                <a:solidFill>
                  <a:schemeClr val="accent4"/>
                </a:solidFill>
              </a:rPr>
              <a:t>50% onset threshold</a:t>
            </a:r>
            <a:endParaRPr lang="en-US" sz="1100" dirty="0"/>
          </a:p>
        </p:txBody>
      </p:sp>
      <p:sp>
        <p:nvSpPr>
          <p:cNvPr id="6" name="Onset 2019 card"/>
          <p:cNvSpPr/>
          <p:nvPr/>
        </p:nvSpPr>
        <p:spPr>
          <a:xfrm>
            <a:off x="8366760" y="1325880"/>
            <a:ext cx="3246120" cy="1508760"/>
          </a:xfrm>
          <a:prstGeom prst="roundRect">
            <a:avLst>
              <a:gd name="adj" fmla="val 7273"/>
            </a:avLst>
          </a:prstGeom>
          <a:solidFill>
            <a:schemeClr val="bg2"/>
          </a:solidFill>
          <a:ln/>
        </p:spPr>
      </p:sp>
      <p:sp>
        <p:nvSpPr>
          <p:cNvPr id="7" name="Onset 2019 value"/>
          <p:cNvSpPr txBox="1"/>
          <p:nvPr/>
        </p:nvSpPr>
        <p:spPr>
          <a:xfrm>
            <a:off x="8595360" y="1593088"/>
            <a:ext cx="2788920" cy="462280"/>
          </a:xfrm>
          <a:prstGeom prst="rect">
            <a:avLst/>
          </a:prstGeom>
          <a:noFill/>
          <a:ln/>
        </p:spPr>
        <p:txBody>
          <a:bodyPr wrap="square" lIns="0" tIns="0" rIns="0" bIns="0" rtlCol="0" anchor="b"/>
          <a:lstStyle/>
          <a:p>
            <a:pPr indent="0" marL="0">
              <a:buNone/>
            </a:pPr>
            <a:r>
              <a:rPr lang="en-US" sz="2800" b="1" dirty="0">
                <a:solidFill>
                  <a:schemeClr val="accent1"/>
                </a:solidFill>
                <a:latin typeface="Georgia" pitchFamily="34" charset="0"/>
                <a:ea typeface="Georgia" pitchFamily="34" charset="-122"/>
                <a:cs typeface="Georgia" pitchFamily="34" charset="-120"/>
              </a:rPr>
              <a:t>30 Jan 2019</a:t>
            </a:r>
            <a:endParaRPr lang="en-US" sz="2800" dirty="0"/>
          </a:p>
        </p:txBody>
      </p:sp>
      <p:sp>
        <p:nvSpPr>
          <p:cNvPr id="8" name="Onset 2019 label"/>
          <p:cNvSpPr txBox="1"/>
          <p:nvPr/>
        </p:nvSpPr>
        <p:spPr>
          <a:xfrm>
            <a:off x="8595360" y="2091944"/>
            <a:ext cx="2788920" cy="512064"/>
          </a:xfrm>
          <a:prstGeom prst="rect">
            <a:avLst/>
          </a:prstGeom>
          <a:noFill/>
          <a:ln/>
        </p:spPr>
        <p:txBody>
          <a:bodyPr wrap="square" lIns="0" tIns="0" rIns="0" bIns="0" rtlCol="0" anchor="t"/>
          <a:lstStyle/>
          <a:p>
            <a:pPr indent="0" marL="0">
              <a:buNone/>
            </a:pPr>
            <a:r>
              <a:rPr lang="en-US" sz="1400" dirty="0">
                <a:solidFill>
                  <a:schemeClr val="tx1"/>
                </a:solidFill>
              </a:rPr>
              <a:t>consolidated once; coherent to early April</a:t>
            </a:r>
            <a:endParaRPr lang="en-US" sz="1400" dirty="0"/>
          </a:p>
        </p:txBody>
      </p:sp>
      <p:sp>
        <p:nvSpPr>
          <p:cNvPr id="9" name="Onset 2021 card"/>
          <p:cNvSpPr/>
          <p:nvPr/>
        </p:nvSpPr>
        <p:spPr>
          <a:xfrm>
            <a:off x="8366760" y="3017520"/>
            <a:ext cx="3246120" cy="1508760"/>
          </a:xfrm>
          <a:prstGeom prst="roundRect">
            <a:avLst>
              <a:gd name="adj" fmla="val 7273"/>
            </a:avLst>
          </a:prstGeom>
          <a:solidFill>
            <a:schemeClr val="bg2"/>
          </a:solidFill>
          <a:ln/>
        </p:spPr>
      </p:sp>
      <p:sp>
        <p:nvSpPr>
          <p:cNvPr id="10" name="Onset 2021 value"/>
          <p:cNvSpPr txBox="1"/>
          <p:nvPr/>
        </p:nvSpPr>
        <p:spPr>
          <a:xfrm>
            <a:off x="8595360" y="3284728"/>
            <a:ext cx="2788920" cy="462280"/>
          </a:xfrm>
          <a:prstGeom prst="rect">
            <a:avLst/>
          </a:prstGeom>
          <a:noFill/>
          <a:ln/>
        </p:spPr>
        <p:txBody>
          <a:bodyPr wrap="square" lIns="0" tIns="0" rIns="0" bIns="0" rtlCol="0" anchor="b"/>
          <a:lstStyle/>
          <a:p>
            <a:pPr indent="0" marL="0">
              <a:buNone/>
            </a:pPr>
            <a:r>
              <a:rPr lang="en-US" sz="2800" b="1" dirty="0">
                <a:solidFill>
                  <a:schemeClr val="accent2"/>
                </a:solidFill>
                <a:latin typeface="Georgia" pitchFamily="34" charset="0"/>
                <a:ea typeface="Georgia" pitchFamily="34" charset="-122"/>
                <a:cs typeface="Georgia" pitchFamily="34" charset="-120"/>
              </a:rPr>
              <a:t>20 Mar 2021</a:t>
            </a:r>
            <a:endParaRPr lang="en-US" sz="2800" dirty="0"/>
          </a:p>
        </p:txBody>
      </p:sp>
      <p:sp>
        <p:nvSpPr>
          <p:cNvPr id="11" name="Onset 2021 label"/>
          <p:cNvSpPr txBox="1"/>
          <p:nvPr/>
        </p:nvSpPr>
        <p:spPr>
          <a:xfrm>
            <a:off x="8595360" y="3783584"/>
            <a:ext cx="2788920" cy="512064"/>
          </a:xfrm>
          <a:prstGeom prst="rect">
            <a:avLst/>
          </a:prstGeom>
          <a:noFill/>
          <a:ln/>
        </p:spPr>
        <p:txBody>
          <a:bodyPr wrap="square" lIns="0" tIns="0" rIns="0" bIns="0" rtlCol="0" anchor="t"/>
          <a:lstStyle/>
          <a:p>
            <a:pPr indent="0" marL="0">
              <a:buNone/>
            </a:pPr>
            <a:r>
              <a:rPr lang="en-US" sz="1400" dirty="0">
                <a:solidFill>
                  <a:schemeClr val="tx1"/>
                </a:solidFill>
              </a:rPr>
              <a:t>49 days later, after a failed first attempt</a:t>
            </a:r>
            <a:endParaRPr lang="en-US" sz="1400" dirty="0"/>
          </a:p>
        </p:txBody>
      </p:sp>
      <p:sp>
        <p:nvSpPr>
          <p:cNvPr id="12" name="Onset note"/>
          <p:cNvSpPr txBox="1"/>
          <p:nvPr/>
        </p:nvSpPr>
        <p:spPr>
          <a:xfrm>
            <a:off x="8366760" y="4709160"/>
            <a:ext cx="3246120" cy="1463040"/>
          </a:xfrm>
          <a:prstGeom prst="rect">
            <a:avLst/>
          </a:prstGeom>
          <a:noFill/>
          <a:ln/>
        </p:spPr>
        <p:txBody>
          <a:bodyPr wrap="square" lIns="0" tIns="0" rIns="0" bIns="0" rtlCol="0" anchor="t"/>
          <a:lstStyle/>
          <a:p>
            <a:pPr indent="0" marL="0">
              <a:buNone/>
            </a:pPr>
            <a:r>
              <a:rPr lang="en-US" sz="1300" b="1" dirty="0">
                <a:solidFill>
                  <a:schemeClr val="tx1"/>
                </a:solidFill>
              </a:rPr>
              <a:t>2020–21: </a:t>
            </a:r>
            <a:pPr indent="0" marL="0">
              <a:buNone/>
            </a:pPr>
            <a:r>
              <a:rPr lang="en-US" sz="1300" dirty="0">
                <a:solidFill>
                  <a:schemeClr val="tx1"/>
                </a:solidFill>
              </a:rPr>
              <a:t>55% in late February, 16% in early March, 95% by mid-March; decay to 55% by late April. The late-December value is a single pair, not sustained.</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2020–21: a consolidation that failed</a:t>
            </a:r>
            <a:endParaRPr lang="en-US" sz="3400" dirty="0"/>
          </a:p>
        </p:txBody>
      </p:sp>
      <p:sp>
        <p:nvSpPr>
          <p:cNvPr id="3" name="Coherence time series 2021 frame"/>
          <p:cNvSpPr/>
          <p:nvPr/>
        </p:nvSpPr>
        <p:spPr>
          <a:xfrm>
            <a:off x="548640" y="1325880"/>
            <a:ext cx="5956628" cy="4892040"/>
          </a:xfrm>
          <a:prstGeom prst="roundRect">
            <a:avLst>
              <a:gd name="adj" fmla="val 2243"/>
            </a:avLst>
          </a:prstGeom>
          <a:solidFill>
            <a:schemeClr val="bg2"/>
          </a:solidFill>
          <a:ln/>
        </p:spPr>
      </p:sp>
      <p:pic>
        <p:nvPicPr>
          <p:cNvPr id="4" name="Coherence time series 2021" descr="/Users/bhakthadarshan/Documents/DUK/Confernce/figures/figures_2021/fig02_coherence_timeseries_2021.png">    </p:cNvPr>
          <p:cNvPicPr>
            <a:picLocks noChangeAspect="1"/>
          </p:cNvPicPr>
          <p:nvPr/>
        </p:nvPicPr>
        <p:blipFill>
          <a:blip r:embed="rId1"/>
          <a:stretch>
            <a:fillRect/>
          </a:stretch>
        </p:blipFill>
        <p:spPr>
          <a:xfrm>
            <a:off x="685800" y="1463040"/>
            <a:ext cx="5682308" cy="4206240"/>
          </a:xfrm>
          <a:prstGeom prst="rect">
            <a:avLst/>
          </a:prstGeom>
        </p:spPr>
      </p:pic>
      <p:sp>
        <p:nvSpPr>
          <p:cNvPr id="5" name="Coherence time series 2021 caption"/>
          <p:cNvSpPr txBox="1"/>
          <p:nvPr/>
        </p:nvSpPr>
        <p:spPr>
          <a:xfrm>
            <a:off x="731520" y="5760720"/>
            <a:ext cx="5590868" cy="365760"/>
          </a:xfrm>
          <a:prstGeom prst="rect">
            <a:avLst/>
          </a:prstGeom>
          <a:noFill/>
          <a:ln/>
        </p:spPr>
        <p:txBody>
          <a:bodyPr wrap="square" lIns="0" tIns="0" rIns="0" bIns="0" rtlCol="0" anchor="ctr"/>
          <a:lstStyle/>
          <a:p>
            <a:pPr indent="0" marL="0">
              <a:buNone/>
            </a:pPr>
            <a:r>
              <a:rPr lang="en-US" sz="1100" i="1" dirty="0">
                <a:solidFill>
                  <a:schemeClr val="accent4"/>
                </a:solidFill>
              </a:rPr>
              <a:t>Top: coherence at P1–P4. Bottom: share of the ice coherent (&gt; 0.4), winter 2020–21</a:t>
            </a:r>
            <a:endParaRPr lang="en-US" sz="1100" dirty="0"/>
          </a:p>
        </p:txBody>
      </p:sp>
      <p:sp>
        <p:nvSpPr>
          <p:cNvPr id="6" name="Collapse card"/>
          <p:cNvSpPr/>
          <p:nvPr/>
        </p:nvSpPr>
        <p:spPr>
          <a:xfrm>
            <a:off x="6871028" y="1325880"/>
            <a:ext cx="4741852" cy="1463040"/>
          </a:xfrm>
          <a:prstGeom prst="roundRect">
            <a:avLst>
              <a:gd name="adj" fmla="val 7500"/>
            </a:avLst>
          </a:prstGeom>
          <a:solidFill>
            <a:schemeClr val="bg2"/>
          </a:solidFill>
          <a:ln/>
        </p:spPr>
      </p:sp>
      <p:sp>
        <p:nvSpPr>
          <p:cNvPr id="7" name="Collapse value"/>
          <p:cNvSpPr txBox="1"/>
          <p:nvPr/>
        </p:nvSpPr>
        <p:spPr>
          <a:xfrm>
            <a:off x="7099628" y="1504188"/>
            <a:ext cx="4284652" cy="594360"/>
          </a:xfrm>
          <a:prstGeom prst="rect">
            <a:avLst/>
          </a:prstGeom>
          <a:noFill/>
          <a:ln/>
        </p:spPr>
        <p:txBody>
          <a:bodyPr wrap="square" lIns="0" tIns="0" rIns="0" bIns="0" rtlCol="0" anchor="b"/>
          <a:lstStyle/>
          <a:p>
            <a:pPr indent="0" marL="0">
              <a:buNone/>
            </a:pPr>
            <a:r>
              <a:rPr lang="en-US" sz="3600" b="1" dirty="0">
                <a:solidFill>
                  <a:schemeClr val="accent6"/>
                </a:solidFill>
                <a:latin typeface="Georgia" pitchFamily="34" charset="0"/>
                <a:ea typeface="Georgia" pitchFamily="34" charset="-122"/>
                <a:cs typeface="Georgia" pitchFamily="34" charset="-120"/>
              </a:rPr>
              <a:t>55% → 16%</a:t>
            </a:r>
            <a:endParaRPr lang="en-US" sz="3600" dirty="0"/>
          </a:p>
        </p:txBody>
      </p:sp>
      <p:sp>
        <p:nvSpPr>
          <p:cNvPr id="8" name="Collapse label"/>
          <p:cNvSpPr txBox="1"/>
          <p:nvPr/>
        </p:nvSpPr>
        <p:spPr>
          <a:xfrm>
            <a:off x="7099628" y="2135124"/>
            <a:ext cx="4284652" cy="512064"/>
          </a:xfrm>
          <a:prstGeom prst="rect">
            <a:avLst/>
          </a:prstGeom>
          <a:noFill/>
          <a:ln/>
        </p:spPr>
        <p:txBody>
          <a:bodyPr wrap="square" lIns="0" tIns="0" rIns="0" bIns="0" rtlCol="0" anchor="t"/>
          <a:lstStyle/>
          <a:p>
            <a:pPr indent="0" marL="0">
              <a:buNone/>
            </a:pPr>
            <a:r>
              <a:rPr lang="en-US" sz="1400" dirty="0">
                <a:solidFill>
                  <a:schemeClr val="tx1"/>
                </a:solidFill>
              </a:rPr>
              <a:t>coherent ice area, late February to early March</a:t>
            </a:r>
            <a:endParaRPr lang="en-US" sz="1400" dirty="0"/>
          </a:p>
        </p:txBody>
      </p:sp>
      <p:sp>
        <p:nvSpPr>
          <p:cNvPr id="9" name="Interval heading"/>
          <p:cNvSpPr txBox="1"/>
          <p:nvPr/>
        </p:nvSpPr>
        <p:spPr>
          <a:xfrm>
            <a:off x="6871028" y="3063240"/>
            <a:ext cx="4741852" cy="365760"/>
          </a:xfrm>
          <a:prstGeom prst="rect">
            <a:avLst/>
          </a:prstGeom>
          <a:noFill/>
          <a:ln/>
        </p:spPr>
        <p:txBody>
          <a:bodyPr wrap="square" lIns="0" tIns="0" rIns="0" bIns="0" rtlCol="0" anchor="ctr"/>
          <a:lstStyle/>
          <a:p>
            <a:pPr indent="0" marL="0">
              <a:buNone/>
            </a:pPr>
            <a:r>
              <a:rPr lang="en-US" sz="1500" b="1" dirty="0">
                <a:solidFill>
                  <a:schemeClr val="tx2"/>
                </a:solidFill>
              </a:rPr>
              <a:t>Repeat interval, 2020–21</a:t>
            </a:r>
            <a:endParaRPr lang="en-US" sz="1500" dirty="0"/>
          </a:p>
        </p:txBody>
      </p:sp>
      <p:graphicFrame>
        <p:nvGraphicFramePr>
          <p:cNvPr id="10" name="Interval table"/>
          <p:cNvGraphicFramePr>
            <a:graphicFrameLocks noGrp="1"/>
          </p:cNvGraphicFramePr>
          <p:nvPr>
            <p:extLst>
              <p:ext uri="{D42A27DB-BD31-4B8C-83A1-F6EECF244321}">
                <p14:modId xmlns:p14="http://schemas.microsoft.com/office/powerpoint/2010/main" val="1579011935"/>
              </p:ext>
            </p:extLst>
          </p:nvPr>
        </p:nvGraphicFramePr>
        <p:xfrm>
          <a:off x="6871028" y="3474720"/>
          <a:ext cx="4741852" cy="914400"/>
        </p:xfrm>
        <a:graphic>
          <a:graphicData uri="http://schemas.openxmlformats.org/drawingml/2006/table">
            <a:tbl>
              <a:tblPr/>
              <a:tblGrid>
                <a:gridCol w="1707067"/>
                <a:gridCol w="1517393"/>
                <a:gridCol w="1517393"/>
              </a:tblGrid>
              <a:tr h="0">
                <a:tc>
                  <a:txBody>
                    <a:bodyPr/>
                    <a:lstStyle/>
                    <a:p>
                      <a:pPr indent="0" marL="0">
                        <a:buNone/>
                      </a:pP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12-day</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24-day</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tx1"/>
                          </a:solidFill>
                        </a:rPr>
                        <a:t>Coherence</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0.78–0.81</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0.54</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Usable ice</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94–95%</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74%</a:t>
                      </a:r>
                      <a:endParaRPr lang="en-US" sz="1300" dirty="0"/>
                    </a:p>
                  </a:txBody>
                  <a:tcPr marL="54864" marR="54864" marT="54864" marB="54864">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bl>
          </a:graphicData>
        </a:graphic>
      </p:graphicFrame>
      <p:sp>
        <p:nvSpPr>
          <p:cNvPr id="11" name="Interval note card"/>
          <p:cNvSpPr/>
          <p:nvPr/>
        </p:nvSpPr>
        <p:spPr>
          <a:xfrm>
            <a:off x="6871028" y="4846320"/>
            <a:ext cx="4741852" cy="1371600"/>
          </a:xfrm>
          <a:prstGeom prst="roundRect">
            <a:avLst>
              <a:gd name="adj" fmla="val 8000"/>
            </a:avLst>
          </a:prstGeom>
          <a:solidFill>
            <a:schemeClr val="bg2"/>
          </a:solidFill>
          <a:ln/>
        </p:spPr>
      </p:sp>
      <p:sp>
        <p:nvSpPr>
          <p:cNvPr id="12" name="Interval note"/>
          <p:cNvSpPr txBox="1"/>
          <p:nvPr/>
        </p:nvSpPr>
        <p:spPr>
          <a:xfrm>
            <a:off x="7099628" y="4846320"/>
            <a:ext cx="4284652" cy="1371600"/>
          </a:xfrm>
          <a:prstGeom prst="rect">
            <a:avLst/>
          </a:prstGeom>
          <a:noFill/>
          <a:ln/>
        </p:spPr>
        <p:txBody>
          <a:bodyPr wrap="square" lIns="0" tIns="0" rIns="0" bIns="0" rtlCol="0" anchor="ctr"/>
          <a:lstStyle/>
          <a:p>
            <a:pPr indent="0" marL="0">
              <a:buNone/>
            </a:pPr>
            <a:r>
              <a:rPr lang="en-US" sz="1400" b="1" dirty="0">
                <a:solidFill>
                  <a:schemeClr val="tx2"/>
                </a:solidFill>
              </a:rPr>
              <a:t>C-band coherence over landfast ice holds only within the 12-day repeat.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late winter was more mobile</a:t>
            </a:r>
            <a:endParaRPr lang="en-US" sz="3400" dirty="0"/>
          </a:p>
        </p:txBody>
      </p:sp>
      <p:sp>
        <p:nvSpPr>
          <p:cNvPr id="3" name="Cross-winter figure frame"/>
          <p:cNvSpPr/>
          <p:nvPr/>
        </p:nvSpPr>
        <p:spPr>
          <a:xfrm>
            <a:off x="2267416" y="1325880"/>
            <a:ext cx="7626687" cy="3794760"/>
          </a:xfrm>
          <a:prstGeom prst="roundRect">
            <a:avLst>
              <a:gd name="adj" fmla="val 2892"/>
            </a:avLst>
          </a:prstGeom>
          <a:solidFill>
            <a:schemeClr val="bg2"/>
          </a:solidFill>
          <a:ln/>
        </p:spPr>
      </p:sp>
      <p:pic>
        <p:nvPicPr>
          <p:cNvPr id="4" name="Cross-winter figure" descr="/Users/bhakthadarshan/Documents/DUK/Confernce/figures/fig_talk_cross_winter.png">    </p:cNvPr>
          <p:cNvPicPr>
            <a:picLocks noChangeAspect="1"/>
          </p:cNvPicPr>
          <p:nvPr/>
        </p:nvPicPr>
        <p:blipFill>
          <a:blip r:embed="rId1"/>
          <a:stretch>
            <a:fillRect/>
          </a:stretch>
        </p:blipFill>
        <p:spPr>
          <a:xfrm>
            <a:off x="2404576" y="1463040"/>
            <a:ext cx="7352367" cy="3108960"/>
          </a:xfrm>
          <a:prstGeom prst="rect">
            <a:avLst/>
          </a:prstGeom>
        </p:spPr>
      </p:pic>
      <p:sp>
        <p:nvSpPr>
          <p:cNvPr id="5" name="Cross-winter figure caption"/>
          <p:cNvSpPr txBox="1"/>
          <p:nvPr/>
        </p:nvSpPr>
        <p:spPr>
          <a:xfrm>
            <a:off x="2450296" y="4663440"/>
            <a:ext cx="7260927" cy="365760"/>
          </a:xfrm>
          <a:prstGeom prst="rect">
            <a:avLst/>
          </a:prstGeom>
          <a:noFill/>
          <a:ln/>
        </p:spPr>
        <p:txBody>
          <a:bodyPr wrap="square" lIns="0" tIns="0" rIns="0" bIns="0" rtlCol="0" anchor="ctr"/>
          <a:lstStyle/>
          <a:p>
            <a:pPr indent="0" marL="0">
              <a:buNone/>
            </a:pPr>
            <a:r>
              <a:rPr lang="en-US" sz="1100" i="1" dirty="0">
                <a:solidFill>
                  <a:schemeClr val="accent4"/>
                </a:solidFill>
              </a:rPr>
              <a:t>Left: coherence onset. Right: horizontal deformation in both winters, shared colour scale</a:t>
            </a:r>
            <a:endParaRPr lang="en-US" sz="1100" dirty="0"/>
          </a:p>
        </p:txBody>
      </p:sp>
      <p:sp>
        <p:nvSpPr>
          <p:cNvPr id="6" name="Range 2019 card"/>
          <p:cNvSpPr/>
          <p:nvPr/>
        </p:nvSpPr>
        <p:spPr>
          <a:xfrm>
            <a:off x="548640" y="5303520"/>
            <a:ext cx="5440680" cy="868680"/>
          </a:xfrm>
          <a:prstGeom prst="roundRect">
            <a:avLst>
              <a:gd name="adj" fmla="val 12632"/>
            </a:avLst>
          </a:prstGeom>
          <a:solidFill>
            <a:schemeClr val="bg2"/>
          </a:solidFill>
          <a:ln/>
        </p:spPr>
      </p:sp>
      <p:sp>
        <p:nvSpPr>
          <p:cNvPr id="7" name="Range 2019 text"/>
          <p:cNvSpPr txBox="1"/>
          <p:nvPr/>
        </p:nvSpPr>
        <p:spPr>
          <a:xfrm>
            <a:off x="777240" y="5303520"/>
            <a:ext cx="5029200" cy="868680"/>
          </a:xfrm>
          <a:prstGeom prst="rect">
            <a:avLst/>
          </a:prstGeom>
          <a:noFill/>
          <a:ln/>
        </p:spPr>
        <p:txBody>
          <a:bodyPr wrap="square" lIns="0" tIns="0" rIns="0" bIns="0" rtlCol="0" anchor="ctr"/>
          <a:lstStyle/>
          <a:p>
            <a:pPr indent="0" marL="0">
              <a:buNone/>
            </a:pPr>
            <a:r>
              <a:rPr lang="en-US" sz="1400" b="1" dirty="0">
                <a:solidFill>
                  <a:schemeClr val="accent1"/>
                </a:solidFill>
              </a:rPr>
              <a:t>2018–19 (24 days)</a:t>
            </a:r>
            <a:endParaRPr lang="en-US" sz="1400" dirty="0"/>
          </a:p>
          <a:p>
            <a:pPr indent="0" marL="0">
              <a:buNone/>
            </a:pPr>
            <a:r>
              <a:rPr lang="en-US" sz="1400" dirty="0">
                <a:solidFill>
                  <a:schemeClr val="tx1"/>
                </a:solidFill>
              </a:rPr>
              <a:t>horizontal −55 to +51 cm,  vertical −11 to +21 cm</a:t>
            </a:r>
            <a:endParaRPr lang="en-US" sz="1400" dirty="0"/>
          </a:p>
        </p:txBody>
      </p:sp>
      <p:sp>
        <p:nvSpPr>
          <p:cNvPr id="8" name="Range 2021 card"/>
          <p:cNvSpPr/>
          <p:nvPr/>
        </p:nvSpPr>
        <p:spPr>
          <a:xfrm>
            <a:off x="6172200" y="5303520"/>
            <a:ext cx="5440680" cy="868680"/>
          </a:xfrm>
          <a:prstGeom prst="roundRect">
            <a:avLst>
              <a:gd name="adj" fmla="val 12632"/>
            </a:avLst>
          </a:prstGeom>
          <a:solidFill>
            <a:schemeClr val="bg2"/>
          </a:solidFill>
          <a:ln/>
        </p:spPr>
      </p:sp>
      <p:sp>
        <p:nvSpPr>
          <p:cNvPr id="9" name="Range 2021 text"/>
          <p:cNvSpPr txBox="1"/>
          <p:nvPr/>
        </p:nvSpPr>
        <p:spPr>
          <a:xfrm>
            <a:off x="6400800" y="5303520"/>
            <a:ext cx="5029200" cy="868680"/>
          </a:xfrm>
          <a:prstGeom prst="rect">
            <a:avLst/>
          </a:prstGeom>
          <a:noFill/>
          <a:ln/>
        </p:spPr>
        <p:txBody>
          <a:bodyPr wrap="square" lIns="0" tIns="0" rIns="0" bIns="0" rtlCol="0" anchor="ctr"/>
          <a:lstStyle/>
          <a:p>
            <a:pPr indent="0" marL="0">
              <a:buNone/>
            </a:pPr>
            <a:r>
              <a:rPr lang="en-US" sz="1400" b="1" dirty="0">
                <a:solidFill>
                  <a:schemeClr val="accent2"/>
                </a:solidFill>
              </a:rPr>
              <a:t>2020–21 (20 days)</a:t>
            </a:r>
            <a:endParaRPr lang="en-US" sz="1400" dirty="0"/>
          </a:p>
          <a:p>
            <a:pPr indent="0" marL="0">
              <a:buNone/>
            </a:pPr>
            <a:r>
              <a:rPr lang="en-US" sz="1400" dirty="0">
                <a:solidFill>
                  <a:schemeClr val="tx1"/>
                </a:solidFill>
              </a:rPr>
              <a:t>horizontal −60 to +45 cm,  vertical −16 to +29 cm</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Rates at P4: faster and reversed</a:t>
            </a:r>
            <a:endParaRPr lang="en-US" sz="3400" dirty="0"/>
          </a:p>
        </p:txBody>
      </p:sp>
      <p:graphicFrame>
        <p:nvGraphicFramePr>
          <p:cNvPr id="3" name="Rates chart" descr=""/>
          <p:cNvGraphicFramePr/>
          <p:nvPr/>
        </p:nvGraphicFramePr>
        <p:xfrm>
          <a:off x="54864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4" name="Horizontal change card"/>
          <p:cNvSpPr/>
          <p:nvPr/>
        </p:nvSpPr>
        <p:spPr>
          <a:xfrm>
            <a:off x="8138160" y="1325880"/>
            <a:ext cx="3474720" cy="1508760"/>
          </a:xfrm>
          <a:prstGeom prst="roundRect">
            <a:avLst>
              <a:gd name="adj" fmla="val 7273"/>
            </a:avLst>
          </a:prstGeom>
          <a:solidFill>
            <a:schemeClr val="bg2"/>
          </a:solidFill>
          <a:ln/>
        </p:spPr>
      </p:sp>
      <p:sp>
        <p:nvSpPr>
          <p:cNvPr id="5" name="Horizontal change value"/>
          <p:cNvSpPr txBox="1"/>
          <p:nvPr/>
        </p:nvSpPr>
        <p:spPr>
          <a:xfrm>
            <a:off x="8366760" y="1527048"/>
            <a:ext cx="3017520" cy="594360"/>
          </a:xfrm>
          <a:prstGeom prst="rect">
            <a:avLst/>
          </a:prstGeom>
          <a:noFill/>
          <a:ln/>
        </p:spPr>
        <p:txBody>
          <a:bodyPr wrap="square" lIns="0" tIns="0" rIns="0" bIns="0" rtlCol="0" anchor="b"/>
          <a:lstStyle/>
          <a:p>
            <a:pPr indent="0" marL="0">
              <a:buNone/>
            </a:pPr>
            <a:r>
              <a:rPr lang="en-US" sz="3600" b="1" dirty="0">
                <a:solidFill>
                  <a:schemeClr val="accent2"/>
                </a:solidFill>
                <a:latin typeface="Georgia" pitchFamily="34" charset="0"/>
                <a:ea typeface="Georgia" pitchFamily="34" charset="-122"/>
                <a:cs typeface="Georgia" pitchFamily="34" charset="-120"/>
              </a:rPr>
              <a:t>×2.7</a:t>
            </a:r>
            <a:endParaRPr lang="en-US" sz="3600" dirty="0"/>
          </a:p>
        </p:txBody>
      </p:sp>
      <p:sp>
        <p:nvSpPr>
          <p:cNvPr id="6" name="Horizontal change label"/>
          <p:cNvSpPr txBox="1"/>
          <p:nvPr/>
        </p:nvSpPr>
        <p:spPr>
          <a:xfrm>
            <a:off x="8366760" y="2157984"/>
            <a:ext cx="3017520" cy="512064"/>
          </a:xfrm>
          <a:prstGeom prst="rect">
            <a:avLst/>
          </a:prstGeom>
          <a:noFill/>
          <a:ln/>
        </p:spPr>
        <p:txBody>
          <a:bodyPr wrap="square" lIns="0" tIns="0" rIns="0" bIns="0" rtlCol="0" anchor="t"/>
          <a:lstStyle/>
          <a:p>
            <a:pPr indent="0" marL="0">
              <a:buNone/>
            </a:pPr>
            <a:r>
              <a:rPr lang="en-US" sz="1400" dirty="0">
                <a:solidFill>
                  <a:schemeClr val="tx1"/>
                </a:solidFill>
              </a:rPr>
              <a:t>horizontal rate at P4: −0.43 → −1.18 cm/day</a:t>
            </a:r>
            <a:endParaRPr lang="en-US" sz="1400" dirty="0"/>
          </a:p>
        </p:txBody>
      </p:sp>
      <p:sp>
        <p:nvSpPr>
          <p:cNvPr id="7" name="Vertical change card"/>
          <p:cNvSpPr/>
          <p:nvPr/>
        </p:nvSpPr>
        <p:spPr>
          <a:xfrm>
            <a:off x="8138160" y="3017520"/>
            <a:ext cx="3474720" cy="1508760"/>
          </a:xfrm>
          <a:prstGeom prst="roundRect">
            <a:avLst>
              <a:gd name="adj" fmla="val 7273"/>
            </a:avLst>
          </a:prstGeom>
          <a:solidFill>
            <a:schemeClr val="bg2"/>
          </a:solidFill>
          <a:ln/>
        </p:spPr>
      </p:sp>
      <p:sp>
        <p:nvSpPr>
          <p:cNvPr id="8" name="Vertical change value"/>
          <p:cNvSpPr txBox="1"/>
          <p:nvPr/>
        </p:nvSpPr>
        <p:spPr>
          <a:xfrm>
            <a:off x="8366760" y="3218688"/>
            <a:ext cx="3017520" cy="594360"/>
          </a:xfrm>
          <a:prstGeom prst="rect">
            <a:avLst/>
          </a:prstGeom>
          <a:noFill/>
          <a:ln/>
        </p:spPr>
        <p:txBody>
          <a:bodyPr wrap="square" lIns="0" tIns="0" rIns="0" bIns="0" rtlCol="0" anchor="b"/>
          <a:lstStyle/>
          <a:p>
            <a:pPr indent="0" marL="0">
              <a:buNone/>
            </a:pPr>
            <a:r>
              <a:rPr lang="en-US" sz="3600" b="1" dirty="0">
                <a:solidFill>
                  <a:schemeClr val="accent6"/>
                </a:solidFill>
                <a:latin typeface="Georgia" pitchFamily="34" charset="0"/>
                <a:ea typeface="Georgia" pitchFamily="34" charset="-122"/>
                <a:cs typeface="Georgia" pitchFamily="34" charset="-120"/>
              </a:rPr>
              <a:t>Sign flip</a:t>
            </a:r>
            <a:endParaRPr lang="en-US" sz="3600" dirty="0"/>
          </a:p>
        </p:txBody>
      </p:sp>
      <p:sp>
        <p:nvSpPr>
          <p:cNvPr id="9" name="Vertical change label"/>
          <p:cNvSpPr txBox="1"/>
          <p:nvPr/>
        </p:nvSpPr>
        <p:spPr>
          <a:xfrm>
            <a:off x="8366760" y="3849624"/>
            <a:ext cx="3017520" cy="512064"/>
          </a:xfrm>
          <a:prstGeom prst="rect">
            <a:avLst/>
          </a:prstGeom>
          <a:noFill/>
          <a:ln/>
        </p:spPr>
        <p:txBody>
          <a:bodyPr wrap="square" lIns="0" tIns="0" rIns="0" bIns="0" rtlCol="0" anchor="t"/>
          <a:lstStyle/>
          <a:p>
            <a:pPr indent="0" marL="0">
              <a:buNone/>
            </a:pPr>
            <a:r>
              <a:rPr lang="en-US" sz="1400" dirty="0">
                <a:solidFill>
                  <a:schemeClr val="tx1"/>
                </a:solidFill>
              </a:rPr>
              <a:t>vertical rate at P4: −0.18 → +1.42 cm/day</a:t>
            </a:r>
            <a:endParaRPr lang="en-US" sz="1400" dirty="0"/>
          </a:p>
        </p:txBody>
      </p:sp>
      <p:sp>
        <p:nvSpPr>
          <p:cNvPr id="10" name="Rates note"/>
          <p:cNvSpPr txBox="1"/>
          <p:nvPr/>
        </p:nvSpPr>
        <p:spPr>
          <a:xfrm>
            <a:off x="8138160" y="4709160"/>
            <a:ext cx="3474720" cy="1463040"/>
          </a:xfrm>
          <a:prstGeom prst="rect">
            <a:avLst/>
          </a:prstGeom>
          <a:noFill/>
          <a:ln/>
        </p:spPr>
        <p:txBody>
          <a:bodyPr wrap="square" lIns="0" tIns="0" rIns="0" bIns="0" rtlCol="0" anchor="t"/>
          <a:lstStyle/>
          <a:p>
            <a:pPr indent="0" marL="0">
              <a:buNone/>
            </a:pPr>
            <a:r>
              <a:rPr lang="en-US" sz="1300" dirty="0">
                <a:solidFill>
                  <a:schemeClr val="tx1"/>
                </a:solidFill>
              </a:rPr>
              <a:t>P4 (8.2 km offshore) is the outermost reliable point. P2 was not measurable in 2018–19; P3 in 2020–21 is anomalous and excluded.</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Limits of this study</a:t>
            </a:r>
            <a:endParaRPr lang="en-US" sz="3400" dirty="0"/>
          </a:p>
        </p:txBody>
      </p:sp>
      <p:sp>
        <p:nvSpPr>
          <p:cNvPr id="3" name="Limit 1"/>
          <p:cNvSpPr/>
          <p:nvPr/>
        </p:nvSpPr>
        <p:spPr>
          <a:xfrm>
            <a:off x="548640" y="1371600"/>
            <a:ext cx="3566160" cy="1783080"/>
          </a:xfrm>
          <a:prstGeom prst="roundRect">
            <a:avLst>
              <a:gd name="adj" fmla="val 6154"/>
            </a:avLst>
          </a:prstGeom>
          <a:solidFill>
            <a:schemeClr val="bg2"/>
          </a:solidFill>
          <a:ln/>
        </p:spPr>
      </p:sp>
      <p:sp>
        <p:nvSpPr>
          <p:cNvPr id="4" name="Limit 1 head"/>
          <p:cNvSpPr txBox="1"/>
          <p:nvPr/>
        </p:nvSpPr>
        <p:spPr>
          <a:xfrm>
            <a:off x="822960" y="160020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Two winters</a:t>
            </a:r>
            <a:endParaRPr lang="en-US" sz="1700" dirty="0"/>
          </a:p>
        </p:txBody>
      </p:sp>
      <p:sp>
        <p:nvSpPr>
          <p:cNvPr id="5" name="Limit 1 body"/>
          <p:cNvSpPr txBox="1"/>
          <p:nvPr/>
        </p:nvSpPr>
        <p:spPr>
          <a:xfrm>
            <a:off x="822960" y="2057400"/>
            <a:ext cx="3017520" cy="960120"/>
          </a:xfrm>
          <a:prstGeom prst="rect">
            <a:avLst/>
          </a:prstGeom>
          <a:noFill/>
          <a:ln/>
        </p:spPr>
        <p:txBody>
          <a:bodyPr wrap="square" lIns="0" tIns="0" rIns="0" bIns="0" rtlCol="0" anchor="t"/>
          <a:lstStyle/>
          <a:p>
            <a:pPr indent="0" marL="0">
              <a:buNone/>
            </a:pPr>
            <a:r>
              <a:rPr lang="en-US" sz="1400" dirty="0">
                <a:solidFill>
                  <a:schemeClr val="tx1"/>
                </a:solidFill>
              </a:rPr>
              <a:t>cannot separate mobility from coincidence</a:t>
            </a:r>
            <a:endParaRPr lang="en-US" sz="1400" dirty="0"/>
          </a:p>
        </p:txBody>
      </p:sp>
      <p:sp>
        <p:nvSpPr>
          <p:cNvPr id="6" name="Limit 2"/>
          <p:cNvSpPr/>
          <p:nvPr/>
        </p:nvSpPr>
        <p:spPr>
          <a:xfrm>
            <a:off x="4297680" y="1371600"/>
            <a:ext cx="3566160" cy="1783080"/>
          </a:xfrm>
          <a:prstGeom prst="roundRect">
            <a:avLst>
              <a:gd name="adj" fmla="val 6154"/>
            </a:avLst>
          </a:prstGeom>
          <a:solidFill>
            <a:schemeClr val="bg2"/>
          </a:solidFill>
          <a:ln/>
        </p:spPr>
      </p:sp>
      <p:sp>
        <p:nvSpPr>
          <p:cNvPr id="7" name="Limit 2 head"/>
          <p:cNvSpPr txBox="1"/>
          <p:nvPr/>
        </p:nvSpPr>
        <p:spPr>
          <a:xfrm>
            <a:off x="4572000" y="160020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Late-biased dates</a:t>
            </a:r>
            <a:endParaRPr lang="en-US" sz="1700" dirty="0"/>
          </a:p>
        </p:txBody>
      </p:sp>
      <p:sp>
        <p:nvSpPr>
          <p:cNvPr id="8" name="Limit 2 body"/>
          <p:cNvSpPr txBox="1"/>
          <p:nvPr/>
        </p:nvSpPr>
        <p:spPr>
          <a:xfrm>
            <a:off x="4572000" y="2057400"/>
            <a:ext cx="3017520" cy="960120"/>
          </a:xfrm>
          <a:prstGeom prst="rect">
            <a:avLst/>
          </a:prstGeom>
          <a:noFill/>
          <a:ln/>
        </p:spPr>
        <p:txBody>
          <a:bodyPr wrap="square" lIns="0" tIns="0" rIns="0" bIns="0" rtlCol="0" anchor="t"/>
          <a:lstStyle/>
          <a:p>
            <a:pPr indent="0" marL="0">
              <a:buNone/>
            </a:pPr>
            <a:r>
              <a:rPr lang="en-US" sz="1400" dirty="0">
                <a:solidFill>
                  <a:schemeClr val="tx1"/>
                </a:solidFill>
              </a:rPr>
              <a:t>snow metamorphism and early-growth dielectric change also cost coherence over fixed ice</a:t>
            </a:r>
            <a:endParaRPr lang="en-US" sz="1400" dirty="0"/>
          </a:p>
        </p:txBody>
      </p:sp>
      <p:sp>
        <p:nvSpPr>
          <p:cNvPr id="9" name="Limit 3"/>
          <p:cNvSpPr/>
          <p:nvPr/>
        </p:nvSpPr>
        <p:spPr>
          <a:xfrm>
            <a:off x="8046720" y="1371600"/>
            <a:ext cx="3566160" cy="1783080"/>
          </a:xfrm>
          <a:prstGeom prst="roundRect">
            <a:avLst>
              <a:gd name="adj" fmla="val 6154"/>
            </a:avLst>
          </a:prstGeom>
          <a:solidFill>
            <a:schemeClr val="bg2"/>
          </a:solidFill>
          <a:ln/>
        </p:spPr>
      </p:sp>
      <p:sp>
        <p:nvSpPr>
          <p:cNvPr id="10" name="Limit 3 head"/>
          <p:cNvSpPr txBox="1"/>
          <p:nvPr/>
        </p:nvSpPr>
        <p:spPr>
          <a:xfrm>
            <a:off x="8321040" y="160020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No phase closure</a:t>
            </a:r>
            <a:endParaRPr lang="en-US" sz="1700" dirty="0"/>
          </a:p>
        </p:txBody>
      </p:sp>
      <p:sp>
        <p:nvSpPr>
          <p:cNvPr id="11" name="Limit 3 body"/>
          <p:cNvSpPr txBox="1"/>
          <p:nvPr/>
        </p:nvSpPr>
        <p:spPr>
          <a:xfrm>
            <a:off x="8321040" y="2057400"/>
            <a:ext cx="3017520" cy="960120"/>
          </a:xfrm>
          <a:prstGeom prst="rect">
            <a:avLst/>
          </a:prstGeom>
          <a:noFill/>
          <a:ln/>
        </p:spPr>
        <p:txBody>
          <a:bodyPr wrap="square" lIns="0" tIns="0" rIns="0" bIns="0" rtlCol="0" anchor="t"/>
          <a:lstStyle/>
          <a:p>
            <a:pPr indent="0" marL="0">
              <a:buNone/>
            </a:pPr>
            <a:r>
              <a:rPr lang="en-US" sz="1400" dirty="0">
                <a:solidFill>
                  <a:schemeClr val="tx1"/>
                </a:solidFill>
              </a:rPr>
              <a:t>consecutive 12-day networks; the 24-day check failed quality control</a:t>
            </a:r>
            <a:endParaRPr lang="en-US" sz="1400" dirty="0"/>
          </a:p>
        </p:txBody>
      </p:sp>
      <p:sp>
        <p:nvSpPr>
          <p:cNvPr id="12" name="Limit 4"/>
          <p:cNvSpPr/>
          <p:nvPr/>
        </p:nvSpPr>
        <p:spPr>
          <a:xfrm>
            <a:off x="548640" y="3383280"/>
            <a:ext cx="3566160" cy="1783080"/>
          </a:xfrm>
          <a:prstGeom prst="roundRect">
            <a:avLst>
              <a:gd name="adj" fmla="val 6154"/>
            </a:avLst>
          </a:prstGeom>
          <a:solidFill>
            <a:schemeClr val="bg2"/>
          </a:solidFill>
          <a:ln/>
        </p:spPr>
      </p:sp>
      <p:sp>
        <p:nvSpPr>
          <p:cNvPr id="13" name="Limit 4 head"/>
          <p:cNvSpPr txBox="1"/>
          <p:nvPr/>
        </p:nvSpPr>
        <p:spPr>
          <a:xfrm>
            <a:off x="822960" y="361188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Ionosphere</a:t>
            </a:r>
            <a:endParaRPr lang="en-US" sz="1700" dirty="0"/>
          </a:p>
        </p:txBody>
      </p:sp>
      <p:sp>
        <p:nvSpPr>
          <p:cNvPr id="14" name="Limit 4 body"/>
          <p:cNvSpPr txBox="1"/>
          <p:nvPr/>
        </p:nvSpPr>
        <p:spPr>
          <a:xfrm>
            <a:off x="822960" y="4069080"/>
            <a:ext cx="3017520" cy="960120"/>
          </a:xfrm>
          <a:prstGeom prst="rect">
            <a:avLst/>
          </a:prstGeom>
          <a:noFill/>
          <a:ln/>
        </p:spPr>
        <p:txBody>
          <a:bodyPr wrap="square" lIns="0" tIns="0" rIns="0" bIns="0" rtlCol="0" anchor="t"/>
          <a:lstStyle/>
          <a:p>
            <a:pPr indent="0" marL="0">
              <a:buNone/>
            </a:pPr>
            <a:r>
              <a:rPr lang="en-US" sz="1400" dirty="0">
                <a:solidFill>
                  <a:schemeClr val="tx1"/>
                </a:solidFill>
              </a:rPr>
              <a:t>polynomial removal over land, not split-spectrum</a:t>
            </a:r>
            <a:endParaRPr lang="en-US" sz="1400" dirty="0"/>
          </a:p>
        </p:txBody>
      </p:sp>
      <p:sp>
        <p:nvSpPr>
          <p:cNvPr id="15" name="Limit 5"/>
          <p:cNvSpPr/>
          <p:nvPr/>
        </p:nvSpPr>
        <p:spPr>
          <a:xfrm>
            <a:off x="4297680" y="3383280"/>
            <a:ext cx="3566160" cy="1783080"/>
          </a:xfrm>
          <a:prstGeom prst="roundRect">
            <a:avLst>
              <a:gd name="adj" fmla="val 6154"/>
            </a:avLst>
          </a:prstGeom>
          <a:solidFill>
            <a:schemeClr val="bg2"/>
          </a:solidFill>
          <a:ln/>
        </p:spPr>
      </p:sp>
      <p:sp>
        <p:nvSpPr>
          <p:cNvPr id="16" name="Limit 5 head"/>
          <p:cNvSpPr txBox="1"/>
          <p:nvPr/>
        </p:nvSpPr>
        <p:spPr>
          <a:xfrm>
            <a:off x="4572000" y="361188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One anomalous point</a:t>
            </a:r>
            <a:endParaRPr lang="en-US" sz="1700" dirty="0"/>
          </a:p>
        </p:txBody>
      </p:sp>
      <p:sp>
        <p:nvSpPr>
          <p:cNvPr id="17" name="Limit 5 body"/>
          <p:cNvSpPr txBox="1"/>
          <p:nvPr/>
        </p:nvSpPr>
        <p:spPr>
          <a:xfrm>
            <a:off x="4572000" y="4069080"/>
            <a:ext cx="3017520" cy="960120"/>
          </a:xfrm>
          <a:prstGeom prst="rect">
            <a:avLst/>
          </a:prstGeom>
          <a:noFill/>
          <a:ln/>
        </p:spPr>
        <p:txBody>
          <a:bodyPr wrap="square" lIns="0" tIns="0" rIns="0" bIns="0" rtlCol="0" anchor="t"/>
          <a:lstStyle/>
          <a:p>
            <a:pPr indent="0" marL="0">
              <a:buNone/>
            </a:pPr>
            <a:r>
              <a:rPr lang="en-US" sz="1400" dirty="0">
                <a:solidFill>
                  <a:schemeClr val="tx1"/>
                </a:solidFill>
              </a:rPr>
              <a:t>P3 in 2020–21 excluded from interpretation</a:t>
            </a:r>
            <a:endParaRPr lang="en-US" sz="1400" dirty="0"/>
          </a:p>
        </p:txBody>
      </p:sp>
      <p:sp>
        <p:nvSpPr>
          <p:cNvPr id="18" name="Limit 6"/>
          <p:cNvSpPr/>
          <p:nvPr/>
        </p:nvSpPr>
        <p:spPr>
          <a:xfrm>
            <a:off x="8046720" y="3383280"/>
            <a:ext cx="3566160" cy="1783080"/>
          </a:xfrm>
          <a:prstGeom prst="roundRect">
            <a:avLst>
              <a:gd name="adj" fmla="val 6154"/>
            </a:avLst>
          </a:prstGeom>
          <a:solidFill>
            <a:schemeClr val="bg2"/>
          </a:solidFill>
          <a:ln/>
        </p:spPr>
      </p:sp>
      <p:sp>
        <p:nvSpPr>
          <p:cNvPr id="19" name="Limit 6 head"/>
          <p:cNvSpPr txBox="1"/>
          <p:nvPr/>
        </p:nvSpPr>
        <p:spPr>
          <a:xfrm>
            <a:off x="8321040" y="3611880"/>
            <a:ext cx="3017520" cy="411480"/>
          </a:xfrm>
          <a:prstGeom prst="rect">
            <a:avLst/>
          </a:prstGeom>
          <a:noFill/>
          <a:ln/>
        </p:spPr>
        <p:txBody>
          <a:bodyPr wrap="square" lIns="0" tIns="0" rIns="0" bIns="0" rtlCol="0" anchor="ctr"/>
          <a:lstStyle/>
          <a:p>
            <a:pPr indent="0" marL="0">
              <a:buNone/>
            </a:pPr>
            <a:r>
              <a:rPr lang="en-US" sz="1700" b="1" dirty="0">
                <a:solidFill>
                  <a:schemeClr val="tx2"/>
                </a:solidFill>
              </a:rPr>
              <a:t>Sentinel-1 only</a:t>
            </a:r>
            <a:endParaRPr lang="en-US" sz="1700" dirty="0"/>
          </a:p>
        </p:txBody>
      </p:sp>
      <p:sp>
        <p:nvSpPr>
          <p:cNvPr id="20" name="Limit 6 body"/>
          <p:cNvSpPr txBox="1"/>
          <p:nvPr/>
        </p:nvSpPr>
        <p:spPr>
          <a:xfrm>
            <a:off x="8321040" y="4069080"/>
            <a:ext cx="3017520" cy="960120"/>
          </a:xfrm>
          <a:prstGeom prst="rect">
            <a:avLst/>
          </a:prstGeom>
          <a:noFill/>
          <a:ln/>
        </p:spPr>
        <p:txBody>
          <a:bodyPr wrap="square" lIns="0" tIns="0" rIns="0" bIns="0" rtlCol="0" anchor="t"/>
          <a:lstStyle/>
          <a:p>
            <a:pPr indent="0" marL="0">
              <a:buNone/>
            </a:pPr>
            <a:r>
              <a:rPr lang="en-US" sz="1400" dirty="0">
                <a:solidFill>
                  <a:schemeClr val="tx1"/>
                </a:solidFill>
              </a:rPr>
              <a:t>ALOS-2 and RADARSAT-2 comparisons not reproduced</a:t>
            </a:r>
            <a:endParaRPr lang="en-US" sz="1400" dirty="0"/>
          </a:p>
        </p:txBody>
      </p:sp>
      <p:sp>
        <p:nvSpPr>
          <p:cNvPr id="21" name="Remedy card"/>
          <p:cNvSpPr/>
          <p:nvPr/>
        </p:nvSpPr>
        <p:spPr>
          <a:xfrm>
            <a:off x="548640" y="5486400"/>
            <a:ext cx="11064240" cy="731520"/>
          </a:xfrm>
          <a:prstGeom prst="roundRect">
            <a:avLst>
              <a:gd name="adj" fmla="val 15000"/>
            </a:avLst>
          </a:prstGeom>
          <a:solidFill>
            <a:schemeClr val="tx2"/>
          </a:solidFill>
          <a:ln/>
        </p:spPr>
      </p:sp>
      <p:sp>
        <p:nvSpPr>
          <p:cNvPr id="22" name="Remedy text"/>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chemeClr val="accent3"/>
                </a:solidFill>
              </a:rPr>
              <a:t>What would bound them: </a:t>
            </a:r>
            <a:pPr indent="0" marL="0">
              <a:buNone/>
            </a:pPr>
            <a:r>
              <a:rPr lang="en-US" sz="1500" dirty="0">
                <a:solidFill>
                  <a:schemeClr val="bg1"/>
                </a:solidFill>
              </a:rPr>
              <a:t>longer records, independent ice-draft data, and L-band (ALOS-2) comparison.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Conclusions</a:t>
            </a:r>
            <a:endParaRPr lang="en-US" sz="3400" dirty="0"/>
          </a:p>
        </p:txBody>
      </p:sp>
      <p:sp>
        <p:nvSpPr>
          <p:cNvPr id="3" name="Conclusion 1 badge"/>
          <p:cNvSpPr/>
          <p:nvPr/>
        </p:nvSpPr>
        <p:spPr>
          <a:xfrm>
            <a:off x="548640" y="1463040"/>
            <a:ext cx="731520" cy="731520"/>
          </a:xfrm>
          <a:prstGeom prst="ellipse">
            <a:avLst/>
          </a:prstGeom>
          <a:solidFill>
            <a:schemeClr val="accent1"/>
          </a:solidFill>
          <a:ln/>
        </p:spPr>
      </p:sp>
      <p:sp>
        <p:nvSpPr>
          <p:cNvPr id="4" name="Conclusion 1 number"/>
          <p:cNvSpPr txBox="1"/>
          <p:nvPr/>
        </p:nvSpPr>
        <p:spPr>
          <a:xfrm>
            <a:off x="548640" y="14630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Conclusion 1 text"/>
          <p:cNvSpPr txBox="1"/>
          <p:nvPr/>
        </p:nvSpPr>
        <p:spPr>
          <a:xfrm>
            <a:off x="1554480" y="137160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Coherence dates consolidation </a:t>
            </a:r>
            <a:pPr indent="0" marL="0">
              <a:buNone/>
            </a:pPr>
            <a:r>
              <a:rPr lang="en-US" sz="1900" dirty="0">
                <a:solidFill>
                  <a:schemeClr val="tx1"/>
                </a:solidFill>
              </a:rPr>
              <a:t>and shows whether it succeeds, capturing a mid-winter break-up and refreeze invisible to deformation.</a:t>
            </a:r>
            <a:endParaRPr lang="en-US" sz="1900" dirty="0"/>
          </a:p>
        </p:txBody>
      </p:sp>
      <p:sp>
        <p:nvSpPr>
          <p:cNvPr id="6" name="Conclusion 2 badge"/>
          <p:cNvSpPr/>
          <p:nvPr/>
        </p:nvSpPr>
        <p:spPr>
          <a:xfrm>
            <a:off x="548640" y="2971800"/>
            <a:ext cx="731520" cy="731520"/>
          </a:xfrm>
          <a:prstGeom prst="ellipse">
            <a:avLst/>
          </a:prstGeom>
          <a:solidFill>
            <a:schemeClr val="accent1"/>
          </a:solidFill>
          <a:ln/>
        </p:spPr>
      </p:sp>
      <p:sp>
        <p:nvSpPr>
          <p:cNvPr id="7" name="Conclusion 2 number"/>
          <p:cNvSpPr txBox="1"/>
          <p:nvPr/>
        </p:nvSpPr>
        <p:spPr>
          <a:xfrm>
            <a:off x="548640" y="2971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Conclusion 2 text"/>
          <p:cNvSpPr txBox="1"/>
          <p:nvPr/>
        </p:nvSpPr>
        <p:spPr>
          <a:xfrm>
            <a:off x="1554480" y="288036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Free processing reproduces Chen et al. </a:t>
            </a:r>
            <a:pPr indent="0" marL="0">
              <a:buNone/>
            </a:pPr>
            <a:r>
              <a:rPr lang="en-US" sz="1900" dirty="0">
                <a:solidFill>
                  <a:schemeClr val="tx1"/>
                </a:solidFill>
              </a:rPr>
              <a:t>to within 2 cm, with 0.7–1.6 cm precision from a land control.</a:t>
            </a:r>
            <a:endParaRPr lang="en-US" sz="1900" dirty="0"/>
          </a:p>
        </p:txBody>
      </p:sp>
      <p:sp>
        <p:nvSpPr>
          <p:cNvPr id="9" name="Conclusion 3 badge"/>
          <p:cNvSpPr/>
          <p:nvPr/>
        </p:nvSpPr>
        <p:spPr>
          <a:xfrm>
            <a:off x="548640" y="4480560"/>
            <a:ext cx="731520" cy="731520"/>
          </a:xfrm>
          <a:prstGeom prst="ellipse">
            <a:avLst/>
          </a:prstGeom>
          <a:solidFill>
            <a:schemeClr val="accent1"/>
          </a:solidFill>
          <a:ln/>
        </p:spPr>
      </p:sp>
      <p:sp>
        <p:nvSpPr>
          <p:cNvPr id="10" name="Conclusion 3 number"/>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Conclusion 3 text"/>
          <p:cNvSpPr txBox="1"/>
          <p:nvPr/>
        </p:nvSpPr>
        <p:spPr>
          <a:xfrm>
            <a:off x="1554480" y="438912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The late, intermittent winter was more mobile </a:t>
            </a:r>
            <a:pPr indent="0" marL="0">
              <a:buNone/>
            </a:pPr>
            <a:r>
              <a:rPr lang="en-US" sz="1900" dirty="0">
                <a:solidFill>
                  <a:schemeClr val="tx1"/>
                </a:solidFill>
              </a:rPr>
              <a:t>(×2.7 horizontal rate at P4); two winters cannot yet separate cause from coincidence.</a:t>
            </a:r>
            <a:endParaRPr lang="en-US" sz="1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Ongoing: deep learning on sea ice</a:t>
            </a:r>
            <a:endParaRPr lang="en-US" sz="3400" dirty="0"/>
          </a:p>
        </p:txBody>
      </p:sp>
      <p:sp>
        <p:nvSpPr>
          <p:cNvPr id="3" name="Future intro"/>
          <p:cNvSpPr txBox="1"/>
          <p:nvPr/>
        </p:nvSpPr>
        <p:spPr>
          <a:xfrm>
            <a:off x="548640" y="1280160"/>
            <a:ext cx="11064240" cy="685800"/>
          </a:xfrm>
          <a:prstGeom prst="rect">
            <a:avLst/>
          </a:prstGeom>
          <a:noFill/>
          <a:ln/>
        </p:spPr>
        <p:txBody>
          <a:bodyPr wrap="square" lIns="0" tIns="0" rIns="0" bIns="0" rtlCol="0" anchor="t"/>
          <a:lstStyle/>
          <a:p>
            <a:pPr indent="0" marL="0">
              <a:buNone/>
            </a:pPr>
            <a:r>
              <a:rPr lang="en-US" sz="1600" dirty="0">
                <a:solidFill>
                  <a:schemeClr val="tx1"/>
                </a:solidFill>
              </a:rPr>
              <a:t>A CNN classifies each 7.7 km sea-ice patch of every interferogram as horizontal or vertical deformation, trained on human labels.</a:t>
            </a:r>
            <a:endParaRPr lang="en-US" sz="1600" dirty="0"/>
          </a:p>
        </p:txBody>
      </p:sp>
      <p:sp>
        <p:nvSpPr>
          <p:cNvPr id="4" name="DL accuracy card"/>
          <p:cNvSpPr/>
          <p:nvPr/>
        </p:nvSpPr>
        <p:spPr>
          <a:xfrm>
            <a:off x="548640" y="2148840"/>
            <a:ext cx="3383280" cy="1874520"/>
          </a:xfrm>
          <a:prstGeom prst="roundRect">
            <a:avLst>
              <a:gd name="adj" fmla="val 5854"/>
            </a:avLst>
          </a:prstGeom>
          <a:solidFill>
            <a:schemeClr val="bg2"/>
          </a:solidFill>
          <a:ln/>
        </p:spPr>
      </p:sp>
      <p:sp>
        <p:nvSpPr>
          <p:cNvPr id="5" name="DL accuracy value"/>
          <p:cNvSpPr txBox="1"/>
          <p:nvPr/>
        </p:nvSpPr>
        <p:spPr>
          <a:xfrm>
            <a:off x="777240" y="2418588"/>
            <a:ext cx="2926080" cy="594360"/>
          </a:xfrm>
          <a:prstGeom prst="rect">
            <a:avLst/>
          </a:prstGeom>
          <a:noFill/>
          <a:ln/>
        </p:spPr>
        <p:txBody>
          <a:bodyPr wrap="square" lIns="0" tIns="0" rIns="0" bIns="0" rtlCol="0" anchor="b"/>
          <a:lstStyle/>
          <a:p>
            <a:pPr indent="0" marL="0">
              <a:buNone/>
            </a:pPr>
            <a:r>
              <a:rPr lang="en-US" sz="3600" b="1" dirty="0">
                <a:solidFill>
                  <a:schemeClr val="accent5"/>
                </a:solidFill>
                <a:latin typeface="Georgia" pitchFamily="34" charset="0"/>
                <a:ea typeface="Georgia" pitchFamily="34" charset="-122"/>
                <a:cs typeface="Georgia" pitchFamily="34" charset="-120"/>
              </a:rPr>
              <a:t>91%</a:t>
            </a:r>
            <a:endParaRPr lang="en-US" sz="3600" dirty="0"/>
          </a:p>
        </p:txBody>
      </p:sp>
      <p:sp>
        <p:nvSpPr>
          <p:cNvPr id="6" name="DL accuracy label"/>
          <p:cNvSpPr txBox="1"/>
          <p:nvPr/>
        </p:nvSpPr>
        <p:spPr>
          <a:xfrm>
            <a:off x="777240" y="3049524"/>
            <a:ext cx="2926080" cy="740664"/>
          </a:xfrm>
          <a:prstGeom prst="rect">
            <a:avLst/>
          </a:prstGeom>
          <a:noFill/>
          <a:ln/>
        </p:spPr>
        <p:txBody>
          <a:bodyPr wrap="square" lIns="0" tIns="0" rIns="0" bIns="0" rtlCol="0" anchor="t"/>
          <a:lstStyle/>
          <a:p>
            <a:pPr indent="0" marL="0">
              <a:buNone/>
            </a:pPr>
            <a:r>
              <a:rPr lang="en-US" sz="1400" dirty="0">
                <a:solidFill>
                  <a:schemeClr val="tx1"/>
                </a:solidFill>
              </a:rPr>
              <a:t>horizontal vs vertical correct in winters the model never saw (333/367)</a:t>
            </a:r>
            <a:endParaRPr lang="en-US" sz="1400" dirty="0"/>
          </a:p>
        </p:txBody>
      </p:sp>
      <p:sp>
        <p:nvSpPr>
          <p:cNvPr id="7" name="Coast test card"/>
          <p:cNvSpPr/>
          <p:nvPr/>
        </p:nvSpPr>
        <p:spPr>
          <a:xfrm>
            <a:off x="548640" y="4251960"/>
            <a:ext cx="3383280" cy="1874520"/>
          </a:xfrm>
          <a:prstGeom prst="roundRect">
            <a:avLst>
              <a:gd name="adj" fmla="val 5854"/>
            </a:avLst>
          </a:prstGeom>
          <a:solidFill>
            <a:schemeClr val="bg2"/>
          </a:solidFill>
          <a:ln/>
        </p:spPr>
      </p:sp>
      <p:sp>
        <p:nvSpPr>
          <p:cNvPr id="8" name="Coast test value"/>
          <p:cNvSpPr txBox="1"/>
          <p:nvPr/>
        </p:nvSpPr>
        <p:spPr>
          <a:xfrm>
            <a:off x="777240" y="4521708"/>
            <a:ext cx="2926080" cy="594360"/>
          </a:xfrm>
          <a:prstGeom prst="rect">
            <a:avLst/>
          </a:prstGeom>
          <a:noFill/>
          <a:ln/>
        </p:spPr>
        <p:txBody>
          <a:bodyPr wrap="square" lIns="0" tIns="0" rIns="0" bIns="0" rtlCol="0" anchor="b"/>
          <a:lstStyle/>
          <a:p>
            <a:pPr indent="0" marL="0">
              <a:buNone/>
            </a:pPr>
            <a:r>
              <a:rPr lang="en-US" sz="3600" b="1" dirty="0">
                <a:solidFill>
                  <a:schemeClr val="accent1"/>
                </a:solidFill>
                <a:latin typeface="Georgia" pitchFamily="34" charset="0"/>
                <a:ea typeface="Georgia" pitchFamily="34" charset="-122"/>
                <a:cs typeface="Georgia" pitchFamily="34" charset="-120"/>
              </a:rPr>
              <a:t>58% → 22%</a:t>
            </a:r>
            <a:endParaRPr lang="en-US" sz="3600" dirty="0"/>
          </a:p>
        </p:txBody>
      </p:sp>
      <p:sp>
        <p:nvSpPr>
          <p:cNvPr id="9" name="Coast test label"/>
          <p:cNvSpPr txBox="1"/>
          <p:nvPr/>
        </p:nvSpPr>
        <p:spPr>
          <a:xfrm>
            <a:off x="777240" y="5152644"/>
            <a:ext cx="2926080" cy="740664"/>
          </a:xfrm>
          <a:prstGeom prst="rect">
            <a:avLst/>
          </a:prstGeom>
          <a:noFill/>
          <a:ln/>
        </p:spPr>
        <p:txBody>
          <a:bodyPr wrap="square" lIns="0" tIns="0" rIns="0" bIns="0" rtlCol="0" anchor="t"/>
          <a:lstStyle/>
          <a:p>
            <a:pPr indent="0" marL="0">
              <a:buNone/>
            </a:pPr>
            <a:r>
              <a:rPr lang="en-US" sz="1400" dirty="0">
                <a:solidFill>
                  <a:schemeClr val="tx1"/>
                </a:solidFill>
              </a:rPr>
              <a:t>vertical share from the coast to open ice: tidal bending along the shore</a:t>
            </a:r>
            <a:endParaRPr lang="en-US" sz="1400" dirty="0"/>
          </a:p>
        </p:txBody>
      </p:sp>
      <p:sp>
        <p:nvSpPr>
          <p:cNvPr id="10" name="Coast test figure frame"/>
          <p:cNvSpPr/>
          <p:nvPr/>
        </p:nvSpPr>
        <p:spPr>
          <a:xfrm>
            <a:off x="4206240" y="2148840"/>
            <a:ext cx="7406640" cy="3360420"/>
          </a:xfrm>
          <a:prstGeom prst="roundRect">
            <a:avLst>
              <a:gd name="adj" fmla="val 3265"/>
            </a:avLst>
          </a:prstGeom>
          <a:solidFill>
            <a:schemeClr val="bg2"/>
          </a:solidFill>
          <a:ln/>
        </p:spPr>
      </p:sp>
      <p:pic>
        <p:nvPicPr>
          <p:cNvPr id="11" name="Coast test figure" descr="/Users/bhakthadarshan/Documents/DUK/Sea Ice/SeaIceInSAR-DL/outputs/coast_test.png">    </p:cNvPr>
          <p:cNvPicPr>
            <a:picLocks noChangeAspect="1"/>
          </p:cNvPicPr>
          <p:nvPr/>
        </p:nvPicPr>
        <p:blipFill>
          <a:blip r:embed="rId1"/>
          <a:stretch>
            <a:fillRect/>
          </a:stretch>
        </p:blipFill>
        <p:spPr>
          <a:xfrm>
            <a:off x="4343400" y="2286000"/>
            <a:ext cx="7132320" cy="2674620"/>
          </a:xfrm>
          <a:prstGeom prst="rect">
            <a:avLst/>
          </a:prstGeom>
        </p:spPr>
      </p:pic>
      <p:sp>
        <p:nvSpPr>
          <p:cNvPr id="12" name="Coast test figure caption"/>
          <p:cNvSpPr txBox="1"/>
          <p:nvPr/>
        </p:nvSpPr>
        <p:spPr>
          <a:xfrm>
            <a:off x="4389120" y="5052060"/>
            <a:ext cx="7040880" cy="365760"/>
          </a:xfrm>
          <a:prstGeom prst="rect">
            <a:avLst/>
          </a:prstGeom>
          <a:noFill/>
          <a:ln/>
        </p:spPr>
        <p:txBody>
          <a:bodyPr wrap="square" lIns="0" tIns="0" rIns="0" bIns="0" rtlCol="0" anchor="ctr"/>
          <a:lstStyle/>
          <a:p>
            <a:pPr indent="0" marL="0">
              <a:buNone/>
            </a:pPr>
            <a:r>
              <a:rPr lang="en-US" sz="1100" i="1" dirty="0">
                <a:solidFill>
                  <a:schemeClr val="accent4"/>
                </a:solidFill>
              </a:rPr>
              <a:t>35,223 sea-ice patches in 65 interferograms; the model never sees position</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lIns="0" tIns="0" rIns="0" bIns="0" rtlCol="0" anchor="b"/>
          <a:lstStyle/>
          <a:p>
            <a:pPr algn="l" indent="0" marL="0">
              <a:buNone/>
            </a:pPr>
            <a:r>
              <a:rPr lang="en-US" sz="3600" b="1" dirty="0">
                <a:solidFill>
                  <a:schemeClr val="bg1"/>
                </a:solidFill>
              </a:rPr>
              <a:t>Thank you</a:t>
            </a: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lIns="0" tIns="0" rIns="0" bIns="0" rtlCol="0" anchor="t"/>
          <a:lstStyle/>
          <a:p>
            <a:pPr indent="0" marL="0">
              <a:buNone/>
            </a:pPr>
            <a:r>
              <a:rPr lang="en-US" sz="1800" dirty="0">
                <a:solidFill>
                  <a:schemeClr val="accent3"/>
                </a:solidFill>
              </a:rPr>
              <a:t>Questions and discussion welcome</a:t>
            </a: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lIns="0" tIns="0" rIns="0" bIns="0" rtlCol="0" anchor="t"/>
          <a:lstStyle/>
          <a:p>
            <a:pPr indent="0" marL="0">
              <a:buNone/>
            </a:pPr>
            <a:r>
              <a:rPr lang="en-US" sz="1400" b="1" dirty="0">
                <a:solidFill>
                  <a:schemeClr val="bg1"/>
                </a:solidFill>
              </a:rPr>
              <a:t>Ananthanarayanan B</a:t>
            </a:r>
            <a:endParaRPr lang="en-US" sz="1400" dirty="0"/>
          </a:p>
          <a:p>
            <a:pPr indent="0" marL="0">
              <a:buNone/>
            </a:pPr>
            <a:r>
              <a:rPr lang="en-US" sz="1400" dirty="0">
                <a:solidFill>
                  <a:schemeClr val="bg1"/>
                </a:solidFill>
              </a:rPr>
              <a:t>ananthanarayanan.ds25@duk.ac.in</a:t>
            </a:r>
            <a:endParaRPr lang="en-US" sz="1400" dirty="0"/>
          </a:p>
          <a:p>
            <a:pPr indent="0" marL="0">
              <a:buNone/>
            </a:pPr>
            <a:r>
              <a:rPr lang="en-US" sz="1400" dirty="0">
                <a:solidFill>
                  <a:schemeClr val="bg1"/>
                </a:solidFill>
              </a:rPr>
              <a:t>Corresponding author: shamjid.p@duk.ac.in</a:t>
            </a:r>
            <a:endParaRPr lang="en-US" sz="1400" dirty="0"/>
          </a:p>
        </p:txBody>
      </p:sp>
      <p:sp>
        <p:nvSpPr>
          <p:cNvPr id="5" name="Headline 1 card"/>
          <p:cNvSpPr/>
          <p:nvPr/>
        </p:nvSpPr>
        <p:spPr>
          <a:xfrm>
            <a:off x="8001000" y="1188720"/>
            <a:ext cx="3566160" cy="1234440"/>
          </a:xfrm>
          <a:prstGeom prst="roundRect">
            <a:avLst>
              <a:gd name="adj" fmla="val 8889"/>
            </a:avLst>
          </a:prstGeom>
          <a:solidFill>
            <a:srgbClr val="13315C"/>
          </a:solidFill>
          <a:ln/>
        </p:spPr>
      </p:sp>
      <p:sp>
        <p:nvSpPr>
          <p:cNvPr id="6" name="Headline 1 value"/>
          <p:cNvSpPr txBox="1"/>
          <p:nvPr/>
        </p:nvSpPr>
        <p:spPr>
          <a:xfrm>
            <a:off x="8275320" y="1298448"/>
            <a:ext cx="3017520" cy="594360"/>
          </a:xfrm>
          <a:prstGeom prst="rect">
            <a:avLst/>
          </a:prstGeom>
          <a:noFill/>
          <a:ln/>
        </p:spPr>
        <p:txBody>
          <a:bodyPr wrap="square" lIns="0" tIns="0" rIns="0" bIns="0" rtlCol="0" anchor="b"/>
          <a:lstStyle/>
          <a:p>
            <a:pPr indent="0" marL="0">
              <a:buNone/>
            </a:pPr>
            <a:r>
              <a:rPr lang="en-US" sz="3000" b="1" dirty="0">
                <a:solidFill>
                  <a:schemeClr val="accent2"/>
                </a:solidFill>
                <a:latin typeface="Georgia" pitchFamily="34" charset="0"/>
                <a:ea typeface="Georgia" pitchFamily="34" charset="-122"/>
                <a:cs typeface="Georgia" pitchFamily="34" charset="-120"/>
              </a:rPr>
              <a:t>49 days</a:t>
            </a:r>
            <a:endParaRPr lang="en-US" sz="3000" dirty="0"/>
          </a:p>
        </p:txBody>
      </p:sp>
      <p:sp>
        <p:nvSpPr>
          <p:cNvPr id="7" name="Headline 1 label"/>
          <p:cNvSpPr txBox="1"/>
          <p:nvPr/>
        </p:nvSpPr>
        <p:spPr>
          <a:xfrm>
            <a:off x="8275320" y="1920240"/>
            <a:ext cx="3017520" cy="411480"/>
          </a:xfrm>
          <a:prstGeom prst="rect">
            <a:avLst/>
          </a:prstGeom>
          <a:noFill/>
          <a:ln/>
        </p:spPr>
        <p:txBody>
          <a:bodyPr wrap="square" lIns="0" tIns="0" rIns="0" bIns="0" rtlCol="0" anchor="t"/>
          <a:lstStyle/>
          <a:p>
            <a:pPr indent="0" marL="0">
              <a:buNone/>
            </a:pPr>
            <a:r>
              <a:rPr lang="en-US" sz="1300" dirty="0">
                <a:solidFill>
                  <a:schemeClr val="bg1"/>
                </a:solidFill>
              </a:rPr>
              <a:t>later consolidation, after a failed first attempt</a:t>
            </a:r>
            <a:endParaRPr lang="en-US" sz="1300" dirty="0"/>
          </a:p>
        </p:txBody>
      </p:sp>
      <p:sp>
        <p:nvSpPr>
          <p:cNvPr id="8" name="Headline 2 card"/>
          <p:cNvSpPr/>
          <p:nvPr/>
        </p:nvSpPr>
        <p:spPr>
          <a:xfrm>
            <a:off x="8001000" y="2606040"/>
            <a:ext cx="3566160" cy="1234440"/>
          </a:xfrm>
          <a:prstGeom prst="roundRect">
            <a:avLst>
              <a:gd name="adj" fmla="val 8889"/>
            </a:avLst>
          </a:prstGeom>
          <a:solidFill>
            <a:srgbClr val="13315C"/>
          </a:solidFill>
          <a:ln/>
        </p:spPr>
      </p:sp>
      <p:sp>
        <p:nvSpPr>
          <p:cNvPr id="9" name="Headline 2 value"/>
          <p:cNvSpPr txBox="1"/>
          <p:nvPr/>
        </p:nvSpPr>
        <p:spPr>
          <a:xfrm>
            <a:off x="8275320" y="2715768"/>
            <a:ext cx="3017520" cy="594360"/>
          </a:xfrm>
          <a:prstGeom prst="rect">
            <a:avLst/>
          </a:prstGeom>
          <a:noFill/>
          <a:ln/>
        </p:spPr>
        <p:txBody>
          <a:bodyPr wrap="square" lIns="0" tIns="0" rIns="0" bIns="0" rtlCol="0" anchor="b"/>
          <a:lstStyle/>
          <a:p>
            <a:pPr indent="0" marL="0">
              <a:buNone/>
            </a:pPr>
            <a:r>
              <a:rPr lang="en-US" sz="3000" b="1" dirty="0">
                <a:solidFill>
                  <a:schemeClr val="accent3"/>
                </a:solidFill>
                <a:latin typeface="Georgia" pitchFamily="34" charset="0"/>
                <a:ea typeface="Georgia" pitchFamily="34" charset="-122"/>
                <a:cs typeface="Georgia" pitchFamily="34" charset="-120"/>
              </a:rPr>
              <a:t>≤ 2 cm</a:t>
            </a:r>
            <a:endParaRPr lang="en-US" sz="3000" dirty="0"/>
          </a:p>
        </p:txBody>
      </p:sp>
      <p:sp>
        <p:nvSpPr>
          <p:cNvPr id="10" name="Headline 2 label"/>
          <p:cNvSpPr txBox="1"/>
          <p:nvPr/>
        </p:nvSpPr>
        <p:spPr>
          <a:xfrm>
            <a:off x="8275320" y="3337560"/>
            <a:ext cx="3017520" cy="411480"/>
          </a:xfrm>
          <a:prstGeom prst="rect">
            <a:avLst/>
          </a:prstGeom>
          <a:noFill/>
          <a:ln/>
        </p:spPr>
        <p:txBody>
          <a:bodyPr wrap="square" lIns="0" tIns="0" rIns="0" bIns="0" rtlCol="0" anchor="t"/>
          <a:lstStyle/>
          <a:p>
            <a:pPr indent="0" marL="0">
              <a:buNone/>
            </a:pPr>
            <a:r>
              <a:rPr lang="en-US" sz="1300" dirty="0">
                <a:solidFill>
                  <a:schemeClr val="bg1"/>
                </a:solidFill>
              </a:rPr>
              <a:t>agreement with Chen et al. (2021)</a:t>
            </a:r>
            <a:endParaRPr lang="en-US" sz="1300" dirty="0"/>
          </a:p>
        </p:txBody>
      </p:sp>
      <p:sp>
        <p:nvSpPr>
          <p:cNvPr id="11" name="Headline 3 card"/>
          <p:cNvSpPr/>
          <p:nvPr/>
        </p:nvSpPr>
        <p:spPr>
          <a:xfrm>
            <a:off x="8001000" y="4023360"/>
            <a:ext cx="3566160" cy="1234440"/>
          </a:xfrm>
          <a:prstGeom prst="roundRect">
            <a:avLst>
              <a:gd name="adj" fmla="val 8889"/>
            </a:avLst>
          </a:prstGeom>
          <a:solidFill>
            <a:srgbClr val="13315C"/>
          </a:solidFill>
          <a:ln/>
        </p:spPr>
      </p:sp>
      <p:sp>
        <p:nvSpPr>
          <p:cNvPr id="12" name="Headline 3 value"/>
          <p:cNvSpPr txBox="1"/>
          <p:nvPr/>
        </p:nvSpPr>
        <p:spPr>
          <a:xfrm>
            <a:off x="8275320" y="4133088"/>
            <a:ext cx="3017520" cy="594360"/>
          </a:xfrm>
          <a:prstGeom prst="rect">
            <a:avLst/>
          </a:prstGeom>
          <a:noFill/>
          <a:ln/>
        </p:spPr>
        <p:txBody>
          <a:bodyPr wrap="square" lIns="0" tIns="0" rIns="0" bIns="0" rtlCol="0" anchor="b"/>
          <a:lstStyle/>
          <a:p>
            <a:pPr indent="0" marL="0">
              <a:buNone/>
            </a:pPr>
            <a:r>
              <a:rPr lang="en-US" sz="3000" b="1" dirty="0">
                <a:solidFill>
                  <a:schemeClr val="accent3"/>
                </a:solidFill>
                <a:latin typeface="Georgia" pitchFamily="34" charset="0"/>
                <a:ea typeface="Georgia" pitchFamily="34" charset="-122"/>
                <a:cs typeface="Georgia" pitchFamily="34" charset="-120"/>
              </a:rPr>
              <a:t>×2.7</a:t>
            </a:r>
            <a:endParaRPr lang="en-US" sz="3000" dirty="0"/>
          </a:p>
        </p:txBody>
      </p:sp>
      <p:sp>
        <p:nvSpPr>
          <p:cNvPr id="13" name="Headline 3 label"/>
          <p:cNvSpPr txBox="1"/>
          <p:nvPr/>
        </p:nvSpPr>
        <p:spPr>
          <a:xfrm>
            <a:off x="8275320" y="4754880"/>
            <a:ext cx="3017520" cy="411480"/>
          </a:xfrm>
          <a:prstGeom prst="rect">
            <a:avLst/>
          </a:prstGeom>
          <a:noFill/>
          <a:ln/>
        </p:spPr>
        <p:txBody>
          <a:bodyPr wrap="square" lIns="0" tIns="0" rIns="0" bIns="0" rtlCol="0" anchor="t"/>
          <a:lstStyle/>
          <a:p>
            <a:pPr indent="0" marL="0">
              <a:buNone/>
            </a:pPr>
            <a:r>
              <a:rPr lang="en-US" sz="1300" dirty="0">
                <a:solidFill>
                  <a:schemeClr val="bg1"/>
                </a:solidFill>
              </a:rPr>
              <a:t>faster horizontal motion in the late winter</a:t>
            </a:r>
            <a:endParaRPr lang="en-US" sz="1300" dirty="0"/>
          </a:p>
        </p:txBody>
      </p:sp>
    </p:spTree>
  </p:cSld>
  <p:clrMapOvr>
    <a:masterClrMapping/>
  </p:clrMapOvr>
</p:sld>
</file>

<file path=ppt/theme/theme1.xml><?xml version="1.0" encoding="utf-8"?>
<a:theme xmlns:a="http://schemas.openxmlformats.org/drawingml/2006/main" name="Polar Night">
  <a:themeElements>
    <a:clrScheme name="Polar Night">
      <a:dk1>
        <a:srgbClr val="16243A"/>
      </a:dk1>
      <a:lt1>
        <a:srgbClr val="FFFFFF"/>
      </a:lt1>
      <a:dk2>
        <a:srgbClr val="0B2545"/>
      </a:dk2>
      <a:lt2>
        <a:srgbClr val="EAF2F8"/>
      </a:lt2>
      <a:accent1>
        <a:srgbClr val="1B6A8C"/>
      </a:accent1>
      <a:accent2>
        <a:srgbClr val="E07A2F"/>
      </a:accent2>
      <a:accent3>
        <a:srgbClr val="8FC1DA"/>
      </a:accent3>
      <a:accent4>
        <a:srgbClr val="5C6B7A"/>
      </a:accent4>
      <a:accent5>
        <a:srgbClr val="2E8B6E"/>
      </a:accent5>
      <a:accent6>
        <a:srgbClr val="B23A48"/>
      </a:accent6>
      <a:hlink>
        <a:srgbClr val="1B6A8C"/>
      </a:hlink>
      <a:folHlink>
        <a:srgbClr val="5C6B7A"/>
      </a:folHlink>
    </a:clrScheme>
    <a:fontScheme name="Polar Nigh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Coherence onset and two-dimensional deformation of landfast sea ice at Cambridge Bay</dc:title>
  <dc:subject>PptxGenJS Presentation</dc:subject>
  <dc:creator>Ananthanarayanan B</dc:creator>
  <cp:lastModifiedBy>Ananthanarayanan B</cp:lastModifiedBy>
  <cp:revision>1</cp:revision>
  <dcterms:created xsi:type="dcterms:W3CDTF">2026-10-04T15:30:10Z</dcterms:created>
  <dcterms:modified xsi:type="dcterms:W3CDTF">2026-10-04T15:30:10Z</dcterms:modified>
</cp:coreProperties>
</file>