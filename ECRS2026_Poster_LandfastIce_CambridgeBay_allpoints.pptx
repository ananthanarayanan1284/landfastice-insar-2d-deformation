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3.xml" ContentType="application/vnd.openxmlformats-officedocument.drawingml.chart+xml"/>
  <Override PartName="/ppt/charts/chart4.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175200" cy="4280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Relationships xmlns="http://schemas.openxmlformats.org/package/2006/relationships"><Relationship Id="rId1" Type="http://schemas.openxmlformats.org/officeDocument/2006/relationships/package" Target="../embeddings/chart3-Microsoft_Excel_Worksheet1.xlsx"/></Relationships>
</file>

<file path=ppt/charts/_rels/chart4.xml.rels><?xml version="1.0" encoding="UTF-8" standalone="yes"?><Relationships xmlns="http://schemas.openxmlformats.org/package/2006/relationships"><Relationship Id="rId1" Type="http://schemas.openxmlformats.org/officeDocument/2006/relationships/package" Target="../embeddings/chart4-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2018–19</c:v>
                </c:pt>
              </c:strCache>
            </c:strRef>
          </c:tx>
          <c:spPr>
            <a:ln w="44450">
              <a:solidFill>
                <a:srgbClr val="1F4F9E"/>
              </a:solidFill>
            </a:ln>
          </c:spPr>
          <c:marker>
            <c:symbol val="circle"/>
            <c:size val="9"/>
            <c:spPr>
              <a:solidFill>
                <a:srgbClr val="1F4F9E"/>
              </a:solidFill>
              <a:ln w="19050">
                <a:solidFill>
                  <a:srgbClr val="FFFFFF"/>
                </a:solidFill>
              </a:ln>
            </c:spPr>
          </c:marker>
          <c:dPt>
            <c:idx val="4"/>
            <c:marker>
              <c:symbol val="circle"/>
              <c:size val="15"/>
              <c:spPr>
                <a:solidFill>
                  <a:srgbClr val="FFFFFF"/>
                </a:solidFill>
                <a:ln w="44450">
                  <a:solidFill>
                    <a:srgbClr val="1F4F9E"/>
                  </a:solidFill>
                </a:ln>
              </c:spPr>
            </c:marker>
          </c:dPt>
          <c:dLbls>
            <c:dLbl>
              <c:idx val="4"/>
              <c:tx>
                <c:rich>
                  <a:bodyPr wrap="none" anchor="ctr"/>
                  <a:lstStyle/>
                  <a:p>
                    <a:pPr>
                      <a:defRPr/>
                    </a:pPr>
                    <a:r>
                      <a:rPr sz="2400" b="0" i="0">
                        <a:solidFill>
                          <a:srgbClr val="1E1E1E"/>
                        </a:solidFill>
                        <a:latin typeface="Arial"/>
                        <a:ea typeface="Arial"/>
                        <a:cs typeface="Arial"/>
                      </a:rPr>
                      <a:t>2018–19 locks in</a:t>
                    </a:r>
                  </a:p>
                  <a:p>
                    <a:r>
                      <a:rPr sz="2400" b="0" i="0">
                        <a:solidFill>
                          <a:srgbClr val="1E1E1E"/>
                        </a:solidFill>
                        <a:latin typeface="Arial"/>
                        <a:ea typeface="Arial"/>
                        <a:cs typeface="Arial"/>
                      </a:rPr>
                      <a:t>30 Jan 2019</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Dec</c:v>
                </c:pt>
                <c:pt idx="1">
                  <c:v> </c:v>
                </c:pt>
                <c:pt idx="2">
                  <c:v>Jan</c:v>
                </c:pt>
                <c:pt idx="3">
                  <c:v>  </c:v>
                </c:pt>
                <c:pt idx="4">
                  <c:v>   </c:v>
                </c:pt>
                <c:pt idx="5">
                  <c:v>Feb</c:v>
                </c:pt>
                <c:pt idx="6">
                  <c:v>    </c:v>
                </c:pt>
                <c:pt idx="7">
                  <c:v>Mar</c:v>
                </c:pt>
                <c:pt idx="8">
                  <c:v>     </c:v>
                </c:pt>
                <c:pt idx="9">
                  <c:v>Apr</c:v>
                </c:pt>
              </c:strCache>
            </c:strRef>
          </c:cat>
          <c:val>
            <c:numRef>
              <c:f>Sheet1!$B$2:$B$11</c:f>
              <c:numCache>
                <c:formatCode>0</c:formatCode>
                <c:ptCount val="10"/>
                <c:pt idx="0">
                  <c:v>9</c:v>
                </c:pt>
                <c:pt idx="1">
                  <c:v>15</c:v>
                </c:pt>
                <c:pt idx="2">
                  <c:v>39</c:v>
                </c:pt>
                <c:pt idx="3">
                  <c:v>27</c:v>
                </c:pt>
                <c:pt idx="4">
                  <c:v>55</c:v>
                </c:pt>
                <c:pt idx="5">
                  <c:v>57</c:v>
                </c:pt>
                <c:pt idx="6">
                  <c:v>90</c:v>
                </c:pt>
                <c:pt idx="7">
                  <c:v>88</c:v>
                </c:pt>
                <c:pt idx="8">
                  <c:v>96</c:v>
                </c:pt>
                <c:pt idx="9">
                  <c:v>95</c:v>
                </c:pt>
              </c:numCache>
            </c:numRef>
          </c:val>
          <c:smooth val="0"/>
        </c:ser>
        <c:ser>
          <c:idx val="1"/>
          <c:order val="1"/>
          <c:tx>
            <c:strRef>
              <c:f>Sheet1!$C$1</c:f>
              <c:strCache>
                <c:ptCount val="1"/>
                <c:pt idx="0">
                  <c:v>2020–21</c:v>
                </c:pt>
              </c:strCache>
            </c:strRef>
          </c:tx>
          <c:spPr>
            <a:ln w="44450">
              <a:solidFill>
                <a:srgbClr val="D9731F"/>
              </a:solidFill>
            </a:ln>
          </c:spPr>
          <c:marker>
            <c:symbol val="circle"/>
            <c:size val="9"/>
            <c:spPr>
              <a:solidFill>
                <a:srgbClr val="D9731F"/>
              </a:solidFill>
              <a:ln w="19050">
                <a:solidFill>
                  <a:srgbClr val="FFFFFF"/>
                </a:solidFill>
              </a:ln>
            </c:spPr>
          </c:marker>
          <c:dPt>
            <c:idx val="8"/>
            <c:marker>
              <c:symbol val="circle"/>
              <c:size val="15"/>
              <c:spPr>
                <a:solidFill>
                  <a:srgbClr val="FFFFFF"/>
                </a:solidFill>
                <a:ln w="44450">
                  <a:solidFill>
                    <a:srgbClr val="D9731F"/>
                  </a:solidFill>
                </a:ln>
              </c:spPr>
            </c:marker>
          </c:dPt>
          <c:dLbls>
            <c:dLbl>
              <c:idx val="7"/>
              <c:tx>
                <c:rich>
                  <a:bodyPr wrap="none" anchor="ctr"/>
                  <a:lstStyle/>
                  <a:p>
                    <a:pPr>
                      <a:defRPr/>
                    </a:pPr>
                    <a:r>
                      <a:rPr sz="2400" b="0" i="0">
                        <a:solidFill>
                          <a:srgbClr val="1E1E1E"/>
                        </a:solidFill>
                        <a:latin typeface="Arial"/>
                        <a:ea typeface="Arial"/>
                        <a:cs typeface="Arial"/>
                      </a:rPr>
                      <a:t>break-up &amp; refreeze</a:t>
                    </a:r>
                  </a:p>
                </c:rich>
              </c:tx>
              <c:dLblPos val="r"/>
              <c:showLegendKey val="0"/>
              <c:showVal val="1"/>
              <c:showCatName val="0"/>
              <c:showSerName val="0"/>
              <c:showPercent val="0"/>
              <c:showBubbleSize val="0"/>
            </c:dLbl>
            <c:dLbl>
              <c:idx val="8"/>
              <c:layout>
                <c:manualLayout>
                  <c:x val="0.068"/>
                  <c:y val="0.02"/>
                </c:manualLayout>
              </c:layout>
              <c:tx>
                <c:rich>
                  <a:bodyPr wrap="none" anchor="ctr"/>
                  <a:lstStyle/>
                  <a:p>
                    <a:pPr>
                      <a:defRPr/>
                    </a:pPr>
                    <a:r>
                      <a:rPr sz="2400" b="0" i="0">
                        <a:solidFill>
                          <a:srgbClr val="1E1E1E"/>
                        </a:solidFill>
                        <a:latin typeface="Arial"/>
                        <a:ea typeface="Arial"/>
                        <a:cs typeface="Arial"/>
                      </a:rPr>
                      <a:t>2020–21 locks in</a:t>
                    </a:r>
                  </a:p>
                  <a:p>
                    <a:r>
                      <a:rPr sz="2400" b="0" i="0">
                        <a:solidFill>
                          <a:srgbClr val="1E1E1E"/>
                        </a:solidFill>
                        <a:latin typeface="Arial"/>
                        <a:ea typeface="Arial"/>
                        <a:cs typeface="Arial"/>
                      </a:rPr>
                      <a:t>20 Mar 2021</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Dec</c:v>
                </c:pt>
                <c:pt idx="1">
                  <c:v> </c:v>
                </c:pt>
                <c:pt idx="2">
                  <c:v>Jan</c:v>
                </c:pt>
                <c:pt idx="3">
                  <c:v>  </c:v>
                </c:pt>
                <c:pt idx="4">
                  <c:v>   </c:v>
                </c:pt>
                <c:pt idx="5">
                  <c:v>Feb</c:v>
                </c:pt>
                <c:pt idx="6">
                  <c:v>    </c:v>
                </c:pt>
                <c:pt idx="7">
                  <c:v>Mar</c:v>
                </c:pt>
                <c:pt idx="8">
                  <c:v>     </c:v>
                </c:pt>
                <c:pt idx="9">
                  <c:v>Apr</c:v>
                </c:pt>
              </c:strCache>
            </c:strRef>
          </c:cat>
          <c:val>
            <c:numRef>
              <c:f>Sheet1!$C$2:$C$11</c:f>
              <c:numCache>
                <c:formatCode>0</c:formatCode>
                <c:ptCount val="10"/>
                <c:pt idx="0">
                  <c:v>6</c:v>
                </c:pt>
                <c:pt idx="1">
                  <c:v>53</c:v>
                </c:pt>
                <c:pt idx="2">
                  <c:v>12</c:v>
                </c:pt>
                <c:pt idx="3">
                  <c:v>14</c:v>
                </c:pt>
                <c:pt idx="4">
                  <c:v>10</c:v>
                </c:pt>
                <c:pt idx="5">
                  <c:v>39</c:v>
                </c:pt>
                <c:pt idx="6">
                  <c:v>55</c:v>
                </c:pt>
                <c:pt idx="7">
                  <c:v>16</c:v>
                </c:pt>
                <c:pt idx="8">
                  <c:v>95</c:v>
                </c:pt>
                <c:pt idx="9">
                  <c:v>94</c:v>
                </c:pt>
              </c:numCache>
            </c:numRef>
          </c:val>
          <c:smooth val="0"/>
        </c:ser>
        <c:ser>
          <c:idx val="2"/>
          <c:order val="2"/>
          <c:tx>
            <c:strRef>
              <c:f>Sheet1!$D$1</c:f>
              <c:strCache>
                <c:ptCount val="1"/>
                <c:pt idx="0">
                  <c:v>50% threshold</c:v>
                </c:pt>
              </c:strCache>
            </c:strRef>
          </c:tx>
          <c:spPr>
            <a:ln w="19050">
              <a:solidFill>
                <a:srgbClr val="5A5A5A"/>
              </a:solidFill>
              <a:prstDash val="dash"/>
            </a:ln>
          </c:spPr>
          <c:marker>
            <c:symbol val="none"/>
          </c:marker>
          <c:dLbls>
            <c:dLbl>
              <c:idx val="2"/>
              <c:tx>
                <c:rich>
                  <a:bodyPr wrap="none" anchor="ctr"/>
                  <a:lstStyle/>
                  <a:p>
                    <a:pPr>
                      <a:defRPr/>
                    </a:pPr>
                    <a:r>
                      <a:rPr sz="2400" b="0" i="0">
                        <a:solidFill>
                          <a:srgbClr val="1E1E1E"/>
                        </a:solidFill>
                        <a:latin typeface="Arial"/>
                        <a:ea typeface="Arial"/>
                        <a:cs typeface="Arial"/>
                      </a:rPr>
                      <a:t>50% threshold</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Dec</c:v>
                </c:pt>
                <c:pt idx="1">
                  <c:v> </c:v>
                </c:pt>
                <c:pt idx="2">
                  <c:v>Jan</c:v>
                </c:pt>
                <c:pt idx="3">
                  <c:v>  </c:v>
                </c:pt>
                <c:pt idx="4">
                  <c:v>   </c:v>
                </c:pt>
                <c:pt idx="5">
                  <c:v>Feb</c:v>
                </c:pt>
                <c:pt idx="6">
                  <c:v>    </c:v>
                </c:pt>
                <c:pt idx="7">
                  <c:v>Mar</c:v>
                </c:pt>
                <c:pt idx="8">
                  <c:v>     </c:v>
                </c:pt>
                <c:pt idx="9">
                  <c:v>Apr</c:v>
                </c:pt>
              </c:strCache>
            </c:strRef>
          </c:cat>
          <c:val>
            <c:numRef>
              <c:f>Sheet1!$D$2:$D$11</c:f>
              <c:numCache>
                <c:formatCode>0</c:formatCode>
                <c:ptCount val="10"/>
                <c:pt idx="0">
                  <c:v>50</c:v>
                </c:pt>
                <c:pt idx="1">
                  <c:v>50</c:v>
                </c:pt>
                <c:pt idx="2">
                  <c:v>50</c:v>
                </c:pt>
                <c:pt idx="3">
                  <c:v>50</c:v>
                </c:pt>
                <c:pt idx="4">
                  <c:v>50</c:v>
                </c:pt>
                <c:pt idx="5">
                  <c:v>50</c:v>
                </c:pt>
                <c:pt idx="6">
                  <c:v>50</c:v>
                </c:pt>
                <c:pt idx="7">
                  <c:v>50</c:v>
                </c:pt>
                <c:pt idx="8">
                  <c:v>50</c:v>
                </c:pt>
                <c:pt idx="9">
                  <c:v>50</c:v>
                </c:pt>
              </c:numCache>
            </c:numRef>
          </c:val>
          <c:smooth val="0"/>
        </c:ser>
        <c:marker val="1"/>
        <c:smooth val="0"/>
        <c:axId val="2118791784"/>
        <c:axId val="2140495176"/>
      </c:lineChart>
      <c:catAx>
        <c:axId val="2118791784"/>
        <c:scaling>
          <c:orientation val="minMax"/>
        </c:scaling>
        <c:delete val="0"/>
        <c:axPos val="b"/>
        <c:title>
          <c:tx>
            <c:rich>
              <a:bodyPr/>
              <a:lstStyle/>
              <a:p>
                <a:r>
                  <a:rPr sz="2400" b="0" i="0">
                    <a:solidFill>
                      <a:srgbClr val="4A4A4A"/>
                    </a:solidFill>
                    <a:latin typeface="Arial"/>
                    <a:ea typeface="Arial"/>
                    <a:cs typeface="Arial"/>
                  </a:rPr>
                  <a:t>12-day image pairs, mid-December to early April</a:t>
                </a:r>
              </a:p>
            </c:rich>
          </c:tx>
          <c:layout/>
          <c:overlay val="0"/>
        </c:title>
        <c:majorTickMark val="out"/>
        <c:minorTickMark val="none"/>
        <c:tickLblPos val="nextTo"/>
        <c:spPr>
          <a:ln w="12700">
            <a:solidFill>
              <a:srgbClr val="9A9A9A"/>
            </a:solidFill>
          </a:ln>
        </c:spPr>
        <c:txPr>
          <a:bodyPr/>
          <a:lstStyle/>
          <a:p>
            <a:pPr>
              <a:defRPr sz="2400"/>
            </a:pPr>
          </a:p>
        </c:txPr>
        <c:crossAx val="2140495176"/>
        <c:crosses val="autoZero"/>
        <c:auto val="1"/>
        <c:lblAlgn val="ctr"/>
        <c:lblOffset val="100"/>
        <c:noMultiLvlLbl val="0"/>
      </c:catAx>
      <c:valAx>
        <c:axId val="2140495176"/>
        <c:scaling>
          <c:max val="100.0"/>
          <c:min val="0.0"/>
        </c:scaling>
        <c:delete val="0"/>
        <c:axPos val="l"/>
        <c:majorGridlines>
          <c:spPr>
            <a:ln w="9525">
              <a:solidFill>
                <a:srgbClr val="E3E3E3"/>
              </a:solidFill>
            </a:ln>
          </c:spPr>
        </c:majorGridlines>
        <c:title>
          <c:tx>
            <c:rich>
              <a:bodyPr/>
              <a:lstStyle/>
              <a:p>
                <a:r>
                  <a:rPr sz="2400" b="0" i="0">
                    <a:solidFill>
                      <a:srgbClr val="4A4A4A"/>
                    </a:solidFill>
                    <a:latin typeface="Arial"/>
                    <a:ea typeface="Arial"/>
                    <a:cs typeface="Arial"/>
                  </a:rPr>
                  <a:t>Coherent sea ice</a:t>
                </a:r>
              </a:p>
            </c:rich>
          </c:tx>
          <c:layout/>
          <c:overlay val="0"/>
        </c:title>
        <c:numFmt formatCode="0&quot;%&quot;" sourceLinked="0"/>
        <c:majorTickMark val="none"/>
        <c:minorTickMark val="none"/>
        <c:tickLblPos val="nextTo"/>
        <c:spPr>
          <a:ln>
            <a:noFill/>
          </a:ln>
        </c:spPr>
        <c:txPr>
          <a:bodyPr/>
          <a:lstStyle/>
          <a:p>
            <a:pPr>
              <a:defRPr sz="2400"/>
            </a:pPr>
          </a:p>
        </c:txPr>
        <c:crossAx val="2118791784"/>
        <c:crosses val="autoZero"/>
        <c:majorUnit val="25.0"/>
      </c:valAx>
    </c:plotArea>
    <c:legend>
      <c:legendPos val="t"/>
      <c:legendEntry>
        <c:idx val="2"/>
        <c:delete val="1"/>
      </c:legendEntry>
      <c:layout/>
      <c:overlay val="0"/>
      <c:txPr>
        <a:bodyPr/>
        <a:lstStyle/>
        <a:p>
          <a:pPr>
            <a:defRPr sz="2400">
              <a:solidFill>
                <a:srgbClr val="1E1E1E"/>
              </a:solidFill>
            </a:defRPr>
          </a:pPr>
        </a:p>
      </c:txPr>
    </c:legend>
    <c:plotVisOnly val="1"/>
    <c:dispBlanksAs val="gap"/>
    <c:showDLblsOverMax val="0"/>
  </c:chart>
  <c:txPr>
    <a:bodyPr/>
    <a:lstStyle/>
    <a:p>
      <a:pPr>
        <a:defRPr sz="2400">
          <a:solidFill>
            <a:srgbClr val="4A4A4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
          <c:y val="0.08"/>
          <c:w val="0.88"/>
          <c:h val="0.66"/>
        </c:manualLayout>
      </c:layout>
      <c:barChart>
        <c:barDir val="col"/>
        <c:grouping val="clustered"/>
        <c:varyColors val="0"/>
        <c:ser>
          <c:idx val="0"/>
          <c:order val="0"/>
          <c:tx>
            <c:strRef>
              <c:f>Sheet1!$B$1</c:f>
              <c:strCache>
                <c:ptCount val="1"/>
                <c:pt idx="0">
                  <c:v>2018–19</c:v>
                </c:pt>
              </c:strCache>
            </c:strRef>
          </c:tx>
          <c:spPr>
            <a:solidFill>
              <a:srgbClr val="1F4F9E"/>
            </a:solidFill>
            <a:effectLst/>
          </c:spPr>
          <c:invertIfNegative val="0"/>
          <c:dLbls>
            <c:numFmt formatCode="0.00" sourceLinked="0"/>
            <c:txPr>
              <a:bodyPr/>
              <a:lstStyle/>
              <a:p>
                <a:pPr>
                  <a:defRPr b="0" i="0" strike="noStrike" sz="2400" u="none">
                    <a:solidFill>
                      <a:srgbClr val="1E1E1E"/>
                    </a:solidFill>
                    <a:latin typeface="Arial"/>
                  </a:defRPr>
                </a:pPr>
              </a:p>
            </c:txPr>
            <c:showLegendKey val="0"/>
            <c:showVal val="1"/>
            <c:showCatName val="0"/>
            <c:showSerName val="0"/>
            <c:showPercent val="0"/>
            <c:showBubbleSize val="0"/>
            <c:showLeaderLines val="0"/>
          </c:dLbls>
          <c:cat>
            <c:strRef>
              <c:f>Sheet1!$A$2:$A$5</c:f>
              <c:strCache>
                <c:ptCount val="4"/>
                <c:pt idx="0">
                  <c:v>P1 (1.2 km)</c:v>
                </c:pt>
                <c:pt idx="1">
                  <c:v>P2 (2.0 km)</c:v>
                </c:pt>
                <c:pt idx="2">
                  <c:v>P3 (5.6 km)</c:v>
                </c:pt>
                <c:pt idx="3">
                  <c:v>P4 (8.2 km)</c:v>
                </c:pt>
              </c:strCache>
            </c:strRef>
          </c:cat>
          <c:val>
            <c:numRef>
              <c:f>Sheet1!$B$2:$B$5</c:f>
              <c:numCache>
                <c:formatCode>General</c:formatCode>
                <c:ptCount val="4"/>
                <c:pt idx="0">
                  <c:v>0.33</c:v>
                </c:pt>
                <c:pt idx="2">
                  <c:v>0.56</c:v>
                </c:pt>
                <c:pt idx="3">
                  <c:v>0.43</c:v>
                </c:pt>
              </c:numCache>
            </c:numRef>
          </c:val>
        </c:ser>
        <c:ser>
          <c:idx val="1"/>
          <c:order val="1"/>
          <c:tx>
            <c:strRef>
              <c:f>Sheet1!$C$1</c:f>
              <c:strCache>
                <c:ptCount val="1"/>
                <c:pt idx="0">
                  <c:v>2020–21</c:v>
                </c:pt>
              </c:strCache>
            </c:strRef>
          </c:tx>
          <c:spPr>
            <a:solidFill>
              <a:srgbClr val="D9731F"/>
            </a:solidFill>
            <a:effectLst/>
          </c:spPr>
          <c:invertIfNegative val="0"/>
          <c:dLbls>
            <c:numFmt formatCode="0.00" sourceLinked="0"/>
            <c:txPr>
              <a:bodyPr/>
              <a:lstStyle/>
              <a:p>
                <a:pPr>
                  <a:defRPr b="0" i="0" strike="noStrike" sz="2400" u="none">
                    <a:solidFill>
                      <a:srgbClr val="1E1E1E"/>
                    </a:solidFill>
                    <a:latin typeface="Arial"/>
                  </a:defRPr>
                </a:pPr>
              </a:p>
            </c:txPr>
            <c:showLegendKey val="0"/>
            <c:showVal val="1"/>
            <c:showCatName val="0"/>
            <c:showSerName val="0"/>
            <c:showPercent val="0"/>
            <c:showBubbleSize val="0"/>
            <c:showLeaderLines val="0"/>
          </c:dLbls>
          <c:cat>
            <c:strRef>
              <c:f>Sheet1!$A$2:$A$5</c:f>
              <c:strCache>
                <c:ptCount val="4"/>
                <c:pt idx="0">
                  <c:v>P1 (1.2 km)</c:v>
                </c:pt>
                <c:pt idx="1">
                  <c:v>P2 (2.0 km)</c:v>
                </c:pt>
                <c:pt idx="2">
                  <c:v>P3 (5.6 km)</c:v>
                </c:pt>
                <c:pt idx="3">
                  <c:v>P4 (8.2 km)</c:v>
                </c:pt>
              </c:strCache>
            </c:strRef>
          </c:cat>
          <c:val>
            <c:numRef>
              <c:f>Sheet1!$C$2:$C$5</c:f>
              <c:numCache>
                <c:formatCode>General</c:formatCode>
                <c:ptCount val="4"/>
                <c:pt idx="0">
                  <c:v>0.18</c:v>
                </c:pt>
                <c:pt idx="1">
                  <c:v>1.09</c:v>
                </c:pt>
                <c:pt idx="3">
                  <c:v>1.18</c:v>
                </c:pt>
              </c:numCache>
            </c:numRef>
          </c:val>
        </c:ser>
        <c:dLbls>
          <c:numFmt formatCode="0.00" sourceLinked="0"/>
          <c:txPr>
            <a:bodyPr/>
            <a:lstStyle/>
            <a:p>
              <a:pPr>
                <a:defRPr b="0" i="0" strike="noStrike" sz="2400" u="none">
                  <a:solidFill>
                    <a:srgbClr val="1E1E1E"/>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C8C8C"/>
            </a:solidFill>
            <a:prstDash val="solid"/>
            <a:round/>
          </a:ln>
        </c:spPr>
        <c:txPr>
          <a:bodyPr/>
          <a:lstStyle/>
          <a:p>
            <a:pPr>
              <a:defRPr sz="2400" b="0" i="0" u="none" strike="noStrike">
                <a:solidFill>
                  <a:srgbClr val="1E1E1E"/>
                </a:solidFill>
                <a:latin typeface="Arial"/>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12700" cap="flat">
              <a:solidFill>
                <a:srgbClr val="D9D9D9"/>
              </a:solidFill>
              <a:prstDash val="solid"/>
              <a:round/>
            </a:ln>
          </c:spPr>
        </c:majorGridlines>
        <c:numFmt formatCode="0.0" sourceLinked="0"/>
        <c:majorTickMark val="out"/>
        <c:minorTickMark val="none"/>
        <c:tickLblPos val="nextTo"/>
        <c:spPr>
          <a:ln w="12700" cap="flat">
            <a:noFill/>
            <a:prstDash val="solid"/>
            <a:round/>
          </a:ln>
        </c:spPr>
        <c:txPr>
          <a:bodyPr/>
          <a:lstStyle/>
          <a:p>
            <a:pPr>
              <a:defRPr sz="2400" b="0" i="0" u="none" strike="noStrike">
                <a:solidFill>
                  <a:srgbClr val="4A4A4A"/>
                </a:solidFill>
                <a:latin typeface="Arial"/>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7"/>
          <c:y val="0.08"/>
          <c:w val="0.81"/>
          <c:h val="0.66"/>
        </c:manualLayout>
      </c:layout>
      <c:barChart>
        <c:barDir val="col"/>
        <c:grouping val="clustered"/>
        <c:varyColors val="0"/>
        <c:ser>
          <c:idx val="0"/>
          <c:order val="0"/>
          <c:tx>
            <c:strRef>
              <c:f>Sheet1!$B$1</c:f>
              <c:strCache>
                <c:ptCount val="1"/>
                <c:pt idx="0">
                  <c:v>2018–19</c:v>
                </c:pt>
              </c:strCache>
            </c:strRef>
          </c:tx>
          <c:spPr>
            <a:solidFill>
              <a:srgbClr val="1F4F9E"/>
            </a:solidFill>
            <a:effectLst/>
          </c:spPr>
          <c:invertIfNegative val="0"/>
          <c:dLbls>
            <c:numFmt formatCode="0.00;-0.00;0.00" sourceLinked="0"/>
            <c:txPr>
              <a:bodyPr/>
              <a:lstStyle/>
              <a:p>
                <a:pPr>
                  <a:defRPr b="0" i="0" strike="noStrike" sz="2400" u="none">
                    <a:solidFill>
                      <a:srgbClr val="1E1E1E"/>
                    </a:solidFill>
                    <a:latin typeface="Arial"/>
                  </a:defRPr>
                </a:pPr>
              </a:p>
            </c:txPr>
            <c:showLegendKey val="0"/>
            <c:showVal val="1"/>
            <c:showCatName val="0"/>
            <c:showSerName val="0"/>
            <c:showPercent val="0"/>
            <c:showBubbleSize val="0"/>
            <c:showLeaderLines val="0"/>
          </c:dLbls>
          <c:cat>
            <c:strRef>
              <c:f>Sheet1!$A$2:$A$5</c:f>
              <c:strCache>
                <c:ptCount val="4"/>
                <c:pt idx="0">
                  <c:v>P1 (1.2 km)</c:v>
                </c:pt>
                <c:pt idx="1">
                  <c:v>P2 (2.0 km)</c:v>
                </c:pt>
                <c:pt idx="2">
                  <c:v>P3 (5.6 km)</c:v>
                </c:pt>
                <c:pt idx="3">
                  <c:v>P4 (8.2 km)</c:v>
                </c:pt>
              </c:strCache>
            </c:strRef>
          </c:cat>
          <c:val>
            <c:numRef>
              <c:f>Sheet1!$B$2:$B$5</c:f>
              <c:numCache>
                <c:formatCode>General</c:formatCode>
                <c:ptCount val="4"/>
                <c:pt idx="0">
                  <c:v>0.31</c:v>
                </c:pt>
                <c:pt idx="2">
                  <c:v>0.75</c:v>
                </c:pt>
                <c:pt idx="3">
                  <c:v>-0.18</c:v>
                </c:pt>
              </c:numCache>
            </c:numRef>
          </c:val>
        </c:ser>
        <c:ser>
          <c:idx val="1"/>
          <c:order val="1"/>
          <c:tx>
            <c:strRef>
              <c:f>Sheet1!$C$1</c:f>
              <c:strCache>
                <c:ptCount val="1"/>
                <c:pt idx="0">
                  <c:v>2020–21</c:v>
                </c:pt>
              </c:strCache>
            </c:strRef>
          </c:tx>
          <c:spPr>
            <a:solidFill>
              <a:srgbClr val="D9731F"/>
            </a:solidFill>
            <a:effectLst/>
          </c:spPr>
          <c:invertIfNegative val="0"/>
          <c:dLbls>
            <c:numFmt formatCode="0.00;-0.00;0.00" sourceLinked="0"/>
            <c:txPr>
              <a:bodyPr/>
              <a:lstStyle/>
              <a:p>
                <a:pPr>
                  <a:defRPr b="0" i="0" strike="noStrike" sz="2400" u="none">
                    <a:solidFill>
                      <a:srgbClr val="1E1E1E"/>
                    </a:solidFill>
                    <a:latin typeface="Arial"/>
                  </a:defRPr>
                </a:pPr>
              </a:p>
            </c:txPr>
            <c:showLegendKey val="0"/>
            <c:showVal val="1"/>
            <c:showCatName val="0"/>
            <c:showSerName val="0"/>
            <c:showPercent val="0"/>
            <c:showBubbleSize val="0"/>
            <c:showLeaderLines val="0"/>
          </c:dLbls>
          <c:cat>
            <c:strRef>
              <c:f>Sheet1!$A$2:$A$5</c:f>
              <c:strCache>
                <c:ptCount val="4"/>
                <c:pt idx="0">
                  <c:v>P1 (1.2 km)</c:v>
                </c:pt>
                <c:pt idx="1">
                  <c:v>P2 (2.0 km)</c:v>
                </c:pt>
                <c:pt idx="2">
                  <c:v>P3 (5.6 km)</c:v>
                </c:pt>
                <c:pt idx="3">
                  <c:v>P4 (8.2 km)</c:v>
                </c:pt>
              </c:strCache>
            </c:strRef>
          </c:cat>
          <c:val>
            <c:numRef>
              <c:f>Sheet1!$C$2:$C$5</c:f>
              <c:numCache>
                <c:formatCode>General</c:formatCode>
                <c:ptCount val="4"/>
                <c:pt idx="0">
                  <c:v>0.04</c:v>
                </c:pt>
                <c:pt idx="1">
                  <c:v>1.05</c:v>
                </c:pt>
                <c:pt idx="3">
                  <c:v>1.42</c:v>
                </c:pt>
              </c:numCache>
            </c:numRef>
          </c:val>
        </c:ser>
        <c:dLbls>
          <c:numFmt formatCode="0.00;-0.00;0.00" sourceLinked="0"/>
          <c:txPr>
            <a:bodyPr/>
            <a:lstStyle/>
            <a:p>
              <a:pPr>
                <a:defRPr b="0" i="0" strike="noStrike" sz="2400" u="none">
                  <a:solidFill>
                    <a:srgbClr val="1E1E1E"/>
                  </a:solidFill>
                  <a:latin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C8C8C"/>
            </a:solidFill>
            <a:prstDash val="solid"/>
            <a:round/>
          </a:ln>
        </c:spPr>
        <c:txPr>
          <a:bodyPr/>
          <a:lstStyle/>
          <a:p>
            <a:pPr>
              <a:defRPr sz="2400" b="0" i="0" u="none" strike="noStrike">
                <a:solidFill>
                  <a:srgbClr val="1E1E1E"/>
                </a:solidFill>
                <a:latin typeface="Arial"/>
              </a:defRPr>
            </a:pPr>
            <a:endParaRPr lang="en-US"/>
          </a:p>
        </c:txPr>
        <c:crossAx val="2094734552"/>
        <c:crosses val="autoZero"/>
        <c:auto val="1"/>
        <c:lblAlgn val="ctr"/>
        <c:noMultiLvlLbl val="1"/>
      </c:catAx>
      <c:valAx>
        <c:axId val="2094734552"/>
        <c:scaling>
          <c:orientation val="minMax"/>
          <c:max val="3"/>
          <c:min val="-1"/>
        </c:scaling>
        <c:delete val="0"/>
        <c:axPos val="l"/>
        <c:majorGridlines>
          <c:spPr>
            <a:ln w="12700" cap="flat">
              <a:solidFill>
                <a:srgbClr val="D9D9D9"/>
              </a:solidFill>
              <a:prstDash val="solid"/>
              <a:round/>
            </a:ln>
          </c:spPr>
        </c:majorGridlines>
        <c:numFmt formatCode="0&quot; up&quot;;0&quot; down&quot;;0" sourceLinked="0"/>
        <c:majorTickMark val="out"/>
        <c:minorTickMark val="none"/>
        <c:tickLblPos val="nextTo"/>
        <c:spPr>
          <a:ln w="12700" cap="flat">
            <a:noFill/>
            <a:prstDash val="solid"/>
            <a:round/>
          </a:ln>
        </c:spPr>
        <c:txPr>
          <a:bodyPr/>
          <a:lstStyle/>
          <a:p>
            <a:pPr>
              <a:defRPr sz="2400" b="0" i="0" u="none" strike="noStrike">
                <a:solidFill>
                  <a:srgbClr val="4A4A4A"/>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g"/><Relationship Id="rId8" Type="http://schemas.openxmlformats.org/officeDocument/2006/relationships/chart" Target="../charts/chart1.xml"/><Relationship Id="rId901" Type="http://schemas.openxmlformats.org/officeDocument/2006/relationships/chart" Target="../charts/chart3.xml"/><Relationship Id="rId902" Type="http://schemas.openxmlformats.org/officeDocument/2006/relationships/chart" Target="../charts/chart4.xml"/><Relationship Id="rId903" Type="http://schemas.openxmlformats.org/officeDocument/2006/relationships/image" Target="../media/p3-image-1-1.png"/><Relationship Id="rId904" Type="http://schemas.openxmlformats.org/officeDocument/2006/relationships/image" Target="../media/p3-image-1-2.png"/><Relationship Id="rId905" Type="http://schemas.openxmlformats.org/officeDocument/2006/relationships/image" Target="../media/p3-image-1-3.png"/><Relationship Id="rId906" Type="http://schemas.openxmlformats.org/officeDocument/2006/relationships/image" Target="../media/p3-image-1-4.png"/><Relationship Id="rId907" Type="http://schemas.openxmlformats.org/officeDocument/2006/relationships/image" Target="../media/p3-image-1-5.png"/><Relationship Id="rId908" Type="http://schemas.openxmlformats.org/officeDocument/2006/relationships/image" Target="../media/p3-image-1-6.png"/><Relationship Id="rId909" Type="http://schemas.openxmlformats.org/officeDocument/2006/relationships/image" Target="../media/p3-image-1-7.png"/><Relationship Id="rId910" Type="http://schemas.openxmlformats.org/officeDocument/2006/relationships/image" Target="../media/p3-image-1-8.png"/><Relationship Id="rId911" Type="http://schemas.openxmlformats.org/officeDocument/2006/relationships/image" Target="../media/p3-image-1-9.png"/><Relationship Id="rId912" Type="http://schemas.openxmlformats.org/officeDocument/2006/relationships/image" Target="../media/p3-image-1-10.png"/><Relationship Id="rId913" Type="http://schemas.openxmlformats.org/officeDocument/2006/relationships/image" Target="../media/p3-image-1-11.png"/><Relationship Id="rId914" Type="http://schemas.openxmlformats.org/officeDocument/2006/relationships/image" Target="../media/p3-image-1-12.png"/><Relationship Id="rId915" Type="http://schemas.openxmlformats.org/officeDocument/2006/relationships/image" Target="../media/p3-image-1-13.png"/><Relationship Id="rId916" Type="http://schemas.openxmlformats.org/officeDocument/2006/relationships/image" Target="../media/p3-image-1-14.png"/><Relationship Id="rId917" Type="http://schemas.openxmlformats.org/officeDocument/2006/relationships/image" Target="../media/p3-image-1-15.png"/><Relationship Id="rId918" Type="http://schemas.openxmlformats.org/officeDocument/2006/relationships/image" Target="../media/p3-image-1-16.png"/><Relationship Id="rId919" Type="http://schemas.openxmlformats.org/officeDocument/2006/relationships/image" Target="../media/p3-image-1-17.png"/><Relationship Id="rId920" Type="http://schemas.openxmlformats.org/officeDocument/2006/relationships/image" Target="../media/p3-image-1-1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nference header (ECRS 2026 template)" descr="header.jpg"/>
          <p:cNvPicPr>
            <a:picLocks noChangeAspect="1"/>
          </p:cNvPicPr>
          <p:nvPr/>
        </p:nvPicPr>
        <p:blipFill>
          <a:blip r:embed="rId2"/>
          <a:stretch>
            <a:fillRect/>
          </a:stretch>
        </p:blipFill>
        <p:spPr>
          <a:xfrm>
            <a:off x="0" y="0"/>
            <a:ext cx="30175200" cy="2941200"/>
          </a:xfrm>
          <a:prstGeom prst="rect">
            <a:avLst/>
          </a:prstGeom>
        </p:spPr>
      </p:pic>
      <p:sp>
        <p:nvSpPr>
          <p:cNvPr id="3" name="Title"/>
          <p:cNvSpPr txBox="1"/>
          <p:nvPr/>
        </p:nvSpPr>
        <p:spPr>
          <a:xfrm>
            <a:off x="720000" y="3035808"/>
            <a:ext cx="28735560" cy="1609344"/>
          </a:xfrm>
          <a:prstGeom prst="rect">
            <a:avLst/>
          </a:prstGeom>
          <a:noFill/>
        </p:spPr>
        <p:txBody>
          <a:bodyPr wrap="square" lIns="0" tIns="0" rIns="0" bIns="0" anchor="t">
            <a:noAutofit/>
          </a:bodyPr>
          <a:lstStyle/>
          <a:p>
            <a:pPr algn="ctr">
              <a:lnSpc>
                <a:spcPct val="97400"/>
              </a:lnSpc>
              <a:spcBef>
                <a:spcPts val="0"/>
              </a:spcBef>
              <a:spcAft>
                <a:spcPts val="0"/>
              </a:spcAft>
            </a:pPr>
            <a:r>
              <a:rPr sz="5400" b="0" i="0">
                <a:solidFill>
                  <a:srgbClr val="125F55"/>
                </a:solidFill>
                <a:latin typeface="Arial"/>
                <a:ea typeface="Arial"/>
                <a:cs typeface="Arial"/>
              </a:rPr>
              <a:t>Coherence Onset and Two-Dimensional Deformation of Landfast</a:t>
            </a:r>
            <a:br>
              <a:rPr lang="en-GB" sz="5400"/>
            </a:br>
            <a:r>
              <a:rPr sz="5400" b="0" i="0">
                <a:solidFill>
                  <a:srgbClr val="125F55"/>
                </a:solidFill>
                <a:latin typeface="Arial"/>
                <a:ea typeface="Arial"/>
                <a:cs typeface="Arial"/>
              </a:rPr>
              <a:t>Sea Ice at Cambridge Bay, Nunavut</a:t>
            </a:r>
            <a:endParaRPr lang="en-GB" sz="5400"/>
          </a:p>
        </p:txBody>
      </p:sp>
      <p:sp>
        <p:nvSpPr>
          <p:cNvPr id="4" name="Authors"/>
          <p:cNvSpPr txBox="1"/>
          <p:nvPr/>
        </p:nvSpPr>
        <p:spPr>
          <a:xfrm>
            <a:off x="720000" y="4663440"/>
            <a:ext cx="28735560" cy="530352"/>
          </a:xfrm>
          <a:prstGeom prst="rect">
            <a:avLst/>
          </a:prstGeom>
          <a:noFill/>
        </p:spPr>
        <p:txBody>
          <a:bodyPr wrap="square" lIns="0" tIns="0" rIns="0" bIns="0" anchor="t">
            <a:noAutofit/>
          </a:bodyPr>
          <a:lstStyle/>
          <a:p>
            <a:pPr algn="ctr">
              <a:lnSpc>
                <a:spcPct val="104300"/>
              </a:lnSpc>
              <a:spcBef>
                <a:spcPts val="0"/>
              </a:spcBef>
              <a:spcAft>
                <a:spcPts val="0"/>
              </a:spcAft>
            </a:pPr>
            <a:r>
              <a:rPr sz="3600" b="0" i="0">
                <a:solidFill>
                  <a:srgbClr val="003478"/>
                </a:solidFill>
                <a:latin typeface="Arial"/>
                <a:ea typeface="Arial"/>
                <a:cs typeface="Arial"/>
              </a:rPr>
              <a:t>Ananthanarayanan B</a:t>
            </a:r>
            <a:r>
              <a:rPr sz="3600" b="0" i="0" baseline="30000">
                <a:solidFill>
                  <a:srgbClr val="003478"/>
                </a:solidFill>
                <a:latin typeface="Arial"/>
                <a:ea typeface="Arial"/>
                <a:cs typeface="Arial"/>
              </a:rPr>
              <a:t>1</a:t>
            </a:r>
            <a:r>
              <a:rPr sz="3600" b="0" i="0">
                <a:solidFill>
                  <a:srgbClr val="003478"/>
                </a:solidFill>
                <a:latin typeface="Arial"/>
                <a:ea typeface="Arial"/>
                <a:cs typeface="Arial"/>
              </a:rPr>
              <a:t> and Shamjid P</a:t>
            </a:r>
            <a:r>
              <a:rPr sz="3600" b="0" i="0" baseline="30000">
                <a:solidFill>
                  <a:srgbClr val="003478"/>
                </a:solidFill>
                <a:latin typeface="Arial"/>
                <a:ea typeface="Arial"/>
                <a:cs typeface="Arial"/>
              </a:rPr>
              <a:t>1,*</a:t>
            </a:r>
            <a:endParaRPr lang="en-GB" sz="3600"/>
          </a:p>
        </p:txBody>
      </p:sp>
      <p:sp>
        <p:nvSpPr>
          <p:cNvPr id="5" name="Affiliation"/>
          <p:cNvSpPr txBox="1"/>
          <p:nvPr/>
        </p:nvSpPr>
        <p:spPr>
          <a:xfrm>
            <a:off x="720000" y="5193792"/>
            <a:ext cx="28735560" cy="365760"/>
          </a:xfrm>
          <a:prstGeom prst="rect">
            <a:avLst/>
          </a:prstGeom>
          <a:noFill/>
        </p:spPr>
        <p:txBody>
          <a:bodyPr wrap="square" lIns="0" tIns="0" rIns="0" bIns="0" anchor="t">
            <a:noAutofit/>
          </a:bodyPr>
          <a:lstStyle/>
          <a:p>
            <a:pPr algn="ctr">
              <a:lnSpc>
                <a:spcPct val="117400"/>
              </a:lnSpc>
              <a:spcBef>
                <a:spcPts val="0"/>
              </a:spcBef>
              <a:spcAft>
                <a:spcPts val="0"/>
              </a:spcAft>
            </a:pPr>
            <a:r>
              <a:rPr sz="2400" b="0" i="0" baseline="30000">
                <a:solidFill>
                  <a:srgbClr val="003478"/>
                </a:solidFill>
                <a:latin typeface="Arial"/>
                <a:ea typeface="Arial"/>
                <a:cs typeface="Arial"/>
              </a:rPr>
              <a:t>1</a:t>
            </a:r>
            <a:r>
              <a:rPr sz="2400" b="0" i="0">
                <a:solidFill>
                  <a:srgbClr val="003478"/>
                </a:solidFill>
                <a:latin typeface="Arial"/>
                <a:ea typeface="Arial"/>
                <a:cs typeface="Arial"/>
              </a:rPr>
              <a:t> School of Digital Sciences, Digital University Kerala, Thiruvananthapuram 695317, Kerala, India</a:t>
            </a:r>
            <a:endParaRPr lang="en-GB" sz="2400"/>
          </a:p>
        </p:txBody>
      </p:sp>
      <p:sp>
        <p:nvSpPr>
          <p:cNvPr id="6" name="Emails"/>
          <p:cNvSpPr txBox="1"/>
          <p:nvPr/>
        </p:nvSpPr>
        <p:spPr>
          <a:xfrm>
            <a:off x="720000" y="5559552"/>
            <a:ext cx="28735560" cy="365760"/>
          </a:xfrm>
          <a:prstGeom prst="rect">
            <a:avLst/>
          </a:prstGeom>
          <a:noFill/>
        </p:spPr>
        <p:txBody>
          <a:bodyPr wrap="square" lIns="0" tIns="0" rIns="0" bIns="0" anchor="t">
            <a:noAutofit/>
          </a:bodyPr>
          <a:lstStyle/>
          <a:p>
            <a:pPr algn="ctr">
              <a:lnSpc>
                <a:spcPct val="117400"/>
              </a:lnSpc>
              <a:spcBef>
                <a:spcPts val="0"/>
              </a:spcBef>
              <a:spcAft>
                <a:spcPts val="0"/>
              </a:spcAft>
            </a:pPr>
            <a:r>
              <a:rPr sz="2400" b="0" i="0">
                <a:solidFill>
                  <a:srgbClr val="003478"/>
                </a:solidFill>
                <a:latin typeface="Arial"/>
                <a:ea typeface="Arial"/>
                <a:cs typeface="Arial"/>
              </a:rPr>
              <a:t>* Corresponding author: shamjid.p@duk.ac.in  ·  ananthanarayanan.ds25@duk.ac.in</a:t>
            </a:r>
            <a:endParaRPr lang="en-GB" sz="2400"/>
          </a:p>
        </p:txBody>
      </p:sp>
      <p:sp>
        <p:nvSpPr>
          <p:cNvPr id="7" name="Title rule"/>
          <p:cNvSpPr/>
          <p:nvPr/>
        </p:nvSpPr>
        <p:spPr>
          <a:xfrm>
            <a:off x="640800" y="5998464"/>
            <a:ext cx="28893960" cy="104400"/>
          </a:xfrm>
          <a:prstGeom prst="rect">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Key message box"/>
          <p:cNvSpPr/>
          <p:nvPr/>
        </p:nvSpPr>
        <p:spPr>
          <a:xfrm>
            <a:off x="730800" y="6163056"/>
            <a:ext cx="28713600" cy="1133856"/>
          </a:xfrm>
          <a:prstGeom prst="rect">
            <a:avLst/>
          </a:prstGeom>
          <a:solidFill>
            <a:srgbClr val="E6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Key message bar"/>
          <p:cNvSpPr/>
          <p:nvPr/>
        </p:nvSpPr>
        <p:spPr>
          <a:xfrm>
            <a:off x="730800" y="6163056"/>
            <a:ext cx="180000" cy="1133856"/>
          </a:xfrm>
          <a:prstGeom prst="rect">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Key message label"/>
          <p:cNvSpPr txBox="1"/>
          <p:nvPr/>
        </p:nvSpPr>
        <p:spPr>
          <a:xfrm>
            <a:off x="1226160" y="6364224"/>
            <a:ext cx="1874520" cy="749808"/>
          </a:xfrm>
          <a:prstGeom prst="rect">
            <a:avLst/>
          </a:prstGeom>
          <a:noFill/>
        </p:spPr>
        <p:txBody>
          <a:bodyPr wrap="square" lIns="0" tIns="0" rIns="0" bIns="0" anchor="t">
            <a:noAutofit/>
          </a:bodyPr>
          <a:lstStyle/>
          <a:p>
            <a:pPr algn="l">
              <a:lnSpc>
                <a:spcPct val="100000"/>
              </a:lnSpc>
              <a:spcBef>
                <a:spcPts val="0"/>
              </a:spcBef>
              <a:spcAft>
                <a:spcPts val="0"/>
              </a:spcAft>
            </a:pPr>
            <a:r>
              <a:rPr sz="2400" b="1" i="0" spc="200">
                <a:solidFill>
                  <a:srgbClr val="125F55"/>
                </a:solidFill>
                <a:latin typeface="Arial"/>
                <a:ea typeface="Arial"/>
                <a:cs typeface="Arial"/>
              </a:rPr>
              <a:t>KEY</a:t>
            </a:r>
            <a:br>
              <a:rPr lang="en-GB" sz="2400"/>
            </a:br>
            <a:r>
              <a:rPr sz="2400" b="1" i="0" spc="200">
                <a:solidFill>
                  <a:srgbClr val="125F55"/>
                </a:solidFill>
                <a:latin typeface="Arial"/>
                <a:ea typeface="Arial"/>
                <a:cs typeface="Arial"/>
              </a:rPr>
              <a:t>MESSAGE</a:t>
            </a:r>
            <a:endParaRPr lang="en-GB" sz="2400"/>
          </a:p>
        </p:txBody>
      </p:sp>
      <p:sp>
        <p:nvSpPr>
          <p:cNvPr id="11" name="Key message"/>
          <p:cNvSpPr txBox="1"/>
          <p:nvPr/>
        </p:nvSpPr>
        <p:spPr>
          <a:xfrm>
            <a:off x="3246120" y="6259068"/>
            <a:ext cx="26014680" cy="960120"/>
          </a:xfrm>
          <a:prstGeom prst="rect">
            <a:avLst/>
          </a:prstGeom>
          <a:noFill/>
        </p:spPr>
        <p:txBody>
          <a:bodyPr wrap="square" lIns="0" tIns="0" rIns="0" bIns="0" anchor="t">
            <a:noAutofit/>
          </a:bodyPr>
          <a:lstStyle/>
          <a:p>
            <a:pPr algn="l">
              <a:lnSpc>
                <a:spcPct val="110400"/>
              </a:lnSpc>
              <a:spcBef>
                <a:spcPts val="0"/>
              </a:spcBef>
              <a:spcAft>
                <a:spcPts val="0"/>
              </a:spcAft>
            </a:pPr>
            <a:r>
              <a:rPr sz="2800" b="0" i="0">
                <a:solidFill>
                  <a:srgbClr val="10302B"/>
                </a:solidFill>
                <a:latin typeface="Arial"/>
                <a:ea typeface="Arial"/>
                <a:cs typeface="Arial"/>
              </a:rPr>
              <a:t>Free Sentinel-1 radar can date when coastal sea ice locks in place: </a:t>
            </a:r>
            <a:r>
              <a:rPr sz="2800" b="1" i="0">
                <a:solidFill>
                  <a:srgbClr val="125F55"/>
                </a:solidFill>
                <a:latin typeface="Arial"/>
                <a:ea typeface="Arial"/>
                <a:cs typeface="Arial"/>
              </a:rPr>
              <a:t>30 Jan in 2019</a:t>
            </a:r>
            <a:r>
              <a:rPr sz="2800" b="0" i="0">
                <a:solidFill>
                  <a:srgbClr val="10302B"/>
                </a:solidFill>
                <a:latin typeface="Arial"/>
                <a:ea typeface="Arial"/>
                <a:cs typeface="Arial"/>
              </a:rPr>
              <a:t>, but </a:t>
            </a:r>
            <a:r>
              <a:rPr sz="2800" b="1" i="0">
                <a:solidFill>
                  <a:srgbClr val="125F55"/>
                </a:solidFill>
                <a:latin typeface="Arial"/>
                <a:ea typeface="Arial"/>
                <a:cs typeface="Arial"/>
              </a:rPr>
              <a:t>20 Mar in 2021</a:t>
            </a:r>
            <a:r>
              <a:rPr sz="2800" b="0" i="0">
                <a:solidFill>
                  <a:srgbClr val="10302B"/>
                </a:solidFill>
                <a:latin typeface="Arial"/>
                <a:ea typeface="Arial"/>
                <a:cs typeface="Arial"/>
              </a:rPr>
              <a:t> — 49 days later. The same data reproduce published ice-motion results within 2 cm.</a:t>
            </a:r>
            <a:endParaRPr lang="en-GB" sz="2800"/>
          </a:p>
        </p:txBody>
      </p:sp>
      <p:sp>
        <p:nvSpPr>
          <p:cNvPr id="12" name="Section header: Introduction &amp; Aim"/>
          <p:cNvSpPr/>
          <p:nvPr/>
        </p:nvSpPr>
        <p:spPr>
          <a:xfrm>
            <a:off x="730800" y="7461504"/>
            <a:ext cx="14104800" cy="565200"/>
          </a:xfrm>
          <a:prstGeom prst="rect">
            <a:avLst/>
          </a:prstGeom>
          <a:solidFill>
            <a:srgbClr val="1768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08000" bIns="14400">
            <a:noAutofit/>
          </a:bodyPr>
          <a:lstStyle/>
          <a:p>
            <a:pPr algn="l">
              <a:lnSpc>
                <a:spcPct val="104300"/>
              </a:lnSpc>
              <a:spcBef>
                <a:spcPts val="0"/>
              </a:spcBef>
              <a:spcAft>
                <a:spcPts val="0"/>
              </a:spcAft>
            </a:pPr>
            <a:r>
              <a:rPr sz="3000" b="0" i="0" spc="100">
                <a:solidFill>
                  <a:srgbClr val="FFFFFF"/>
                </a:solidFill>
                <a:latin typeface="Arial"/>
                <a:ea typeface="Arial"/>
                <a:cs typeface="Arial"/>
              </a:rPr>
              <a:t>INTRODUCTION &amp; AIM</a:t>
            </a:r>
            <a:endParaRPr lang="en-GB" sz="3000"/>
          </a:p>
        </p:txBody>
      </p:sp>
      <p:sp>
        <p:nvSpPr>
          <p:cNvPr id="13" name="Section header: Study Area &amp; Data"/>
          <p:cNvSpPr/>
          <p:nvPr/>
        </p:nvSpPr>
        <p:spPr>
          <a:xfrm>
            <a:off x="15339600" y="7461504"/>
            <a:ext cx="14104800" cy="565200"/>
          </a:xfrm>
          <a:prstGeom prst="rect">
            <a:avLst/>
          </a:prstGeom>
          <a:solidFill>
            <a:srgbClr val="1768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08000" bIns="14400">
            <a:noAutofit/>
          </a:bodyPr>
          <a:lstStyle/>
          <a:p>
            <a:pPr algn="l">
              <a:lnSpc>
                <a:spcPct val="104300"/>
              </a:lnSpc>
              <a:spcBef>
                <a:spcPts val="0"/>
              </a:spcBef>
              <a:spcAft>
                <a:spcPts val="0"/>
              </a:spcAft>
            </a:pPr>
            <a:r>
              <a:rPr sz="3000" b="0" i="0" spc="100">
                <a:solidFill>
                  <a:srgbClr val="FFFFFF"/>
                </a:solidFill>
                <a:latin typeface="Arial"/>
                <a:ea typeface="Arial"/>
                <a:cs typeface="Arial"/>
              </a:rPr>
              <a:t>STUDY AREA &amp; DATA</a:t>
            </a:r>
            <a:endParaRPr lang="en-GB" sz="3000"/>
          </a:p>
        </p:txBody>
      </p:sp>
      <p:sp>
        <p:nvSpPr>
          <p:cNvPr id="14" name="Section header: Method: Four Steps, Free Data And Free Cloud Processing"/>
          <p:cNvSpPr/>
          <p:nvPr/>
        </p:nvSpPr>
        <p:spPr>
          <a:xfrm>
            <a:off x="730800" y="15983712"/>
            <a:ext cx="28713600" cy="565200"/>
          </a:xfrm>
          <a:prstGeom prst="rect">
            <a:avLst/>
          </a:prstGeom>
          <a:solidFill>
            <a:srgbClr val="1768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08000" bIns="14400">
            <a:noAutofit/>
          </a:bodyPr>
          <a:lstStyle/>
          <a:p>
            <a:pPr algn="l">
              <a:lnSpc>
                <a:spcPct val="104300"/>
              </a:lnSpc>
              <a:spcBef>
                <a:spcPts val="0"/>
              </a:spcBef>
              <a:spcAft>
                <a:spcPts val="0"/>
              </a:spcAft>
            </a:pPr>
            <a:r>
              <a:rPr sz="3000" b="0" i="0" spc="100">
                <a:solidFill>
                  <a:srgbClr val="FFFFFF"/>
                </a:solidFill>
                <a:latin typeface="Arial"/>
                <a:ea typeface="Arial"/>
                <a:cs typeface="Arial"/>
              </a:rPr>
              <a:t>METHOD: FOUR STEPS, FREE DATA AND FREE CLOUD PROCESSING</a:t>
            </a:r>
            <a:endParaRPr lang="en-GB" sz="3000"/>
          </a:p>
        </p:txBody>
      </p:sp>
      <p:sp>
        <p:nvSpPr>
          <p:cNvPr id="15" name="Section header: Results &amp; Discussion"/>
          <p:cNvSpPr/>
          <p:nvPr/>
        </p:nvSpPr>
        <p:spPr>
          <a:xfrm>
            <a:off x="730800" y="18854928"/>
            <a:ext cx="28713600" cy="565200"/>
          </a:xfrm>
          <a:prstGeom prst="rect">
            <a:avLst/>
          </a:prstGeom>
          <a:solidFill>
            <a:srgbClr val="1768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08000" bIns="14400">
            <a:noAutofit/>
          </a:bodyPr>
          <a:lstStyle/>
          <a:p>
            <a:pPr algn="l">
              <a:lnSpc>
                <a:spcPct val="104300"/>
              </a:lnSpc>
              <a:spcBef>
                <a:spcPts val="0"/>
              </a:spcBef>
              <a:spcAft>
                <a:spcPts val="0"/>
              </a:spcAft>
            </a:pPr>
            <a:r>
              <a:rPr sz="3000" b="0" i="0" spc="100">
                <a:solidFill>
                  <a:srgbClr val="FFFFFF"/>
                </a:solidFill>
                <a:latin typeface="Arial"/>
                <a:ea typeface="Arial"/>
                <a:cs typeface="Arial"/>
              </a:rPr>
              <a:t>RESULTS &amp; DISCUSSION</a:t>
            </a:r>
            <a:endParaRPr lang="en-GB" sz="3000"/>
          </a:p>
        </p:txBody>
      </p:sp>
      <p:sp>
        <p:nvSpPr>
          <p:cNvPr id="16" name="Section header: Conclusions"/>
          <p:cNvSpPr/>
          <p:nvPr/>
        </p:nvSpPr>
        <p:spPr>
          <a:xfrm>
            <a:off x="731520" y="36618211"/>
            <a:ext cx="14109192" cy="565200"/>
          </a:xfrm>
          <a:prstGeom prst="rect">
            <a:avLst/>
          </a:prstGeom>
          <a:solidFill>
            <a:srgbClr val="1768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08000" bIns="14400">
            <a:noAutofit/>
          </a:bodyPr>
          <a:lstStyle/>
          <a:p>
            <a:pPr algn="l">
              <a:lnSpc>
                <a:spcPct val="104300"/>
              </a:lnSpc>
              <a:spcBef>
                <a:spcPts val="0"/>
              </a:spcBef>
              <a:spcAft>
                <a:spcPts val="0"/>
              </a:spcAft>
            </a:pPr>
            <a:r>
              <a:rPr sz="3000" b="0" i="0" spc="100">
                <a:solidFill>
                  <a:srgbClr val="FFFFFF"/>
                </a:solidFill>
                <a:latin typeface="Arial"/>
                <a:ea typeface="Arial"/>
                <a:cs typeface="Arial"/>
              </a:rPr>
              <a:t>CONCLUSIONS &amp; NEXT STEPS</a:t>
            </a:r>
            <a:endParaRPr lang="en-GB" sz="3000"/>
          </a:p>
        </p:txBody>
      </p:sp>
      <p:sp>
        <p:nvSpPr>
          <p:cNvPr id="17" name="Section header: Future Work / References / Acknowledgment"/>
          <p:cNvSpPr/>
          <p:nvPr/>
        </p:nvSpPr>
        <p:spPr>
          <a:xfrm>
            <a:off x="15343632" y="36618211"/>
            <a:ext cx="14100048" cy="565200"/>
          </a:xfrm>
          <a:prstGeom prst="rect">
            <a:avLst/>
          </a:prstGeom>
          <a:solidFill>
            <a:srgbClr val="1768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08000" bIns="14400">
            <a:noAutofit/>
          </a:bodyPr>
          <a:lstStyle/>
          <a:p>
            <a:pPr algn="l">
              <a:lnSpc>
                <a:spcPct val="104300"/>
              </a:lnSpc>
              <a:spcBef>
                <a:spcPts val="0"/>
              </a:spcBef>
              <a:spcAft>
                <a:spcPts val="0"/>
              </a:spcAft>
            </a:pPr>
            <a:r>
              <a:rPr sz="3000" b="0" i="0" spc="100">
                <a:solidFill>
                  <a:srgbClr val="FFFFFF"/>
                </a:solidFill>
                <a:latin typeface="Arial"/>
                <a:ea typeface="Arial"/>
                <a:cs typeface="Arial"/>
              </a:rPr>
              <a:t>REFERENCES</a:t>
            </a:r>
            <a:endParaRPr lang="en-GB" sz="3000"/>
          </a:p>
        </p:txBody>
      </p:sp>
      <p:sp>
        <p:nvSpPr>
          <p:cNvPr id="18" name="Intro heading 1"/>
          <p:cNvSpPr txBox="1"/>
          <p:nvPr/>
        </p:nvSpPr>
        <p:spPr>
          <a:xfrm>
            <a:off x="730800" y="8211312"/>
            <a:ext cx="14104800" cy="396360"/>
          </a:xfrm>
          <a:prstGeom prst="rect">
            <a:avLst/>
          </a:prstGeom>
          <a:noFill/>
        </p:spPr>
        <p:txBody>
          <a:bodyPr wrap="square" lIns="0" tIns="0" rIns="0" bIns="0" anchor="t">
            <a:noAutofit/>
          </a:bodyPr>
          <a:lstStyle/>
          <a:p>
            <a:pPr algn="l">
              <a:lnSpc>
                <a:spcPct val="104300"/>
              </a:lnSpc>
              <a:spcBef>
                <a:spcPts val="0"/>
              </a:spcBef>
              <a:spcAft>
                <a:spcPts val="0"/>
              </a:spcAft>
            </a:pPr>
            <a:r>
              <a:rPr sz="2600" b="1" i="0">
                <a:solidFill>
                  <a:srgbClr val="125F55"/>
                </a:solidFill>
                <a:latin typeface="Arial"/>
                <a:ea typeface="Arial"/>
                <a:cs typeface="Arial"/>
              </a:rPr>
              <a:t>Why it matters</a:t>
            </a:r>
            <a:endParaRPr lang="en-GB" sz="2600"/>
          </a:p>
        </p:txBody>
      </p:sp>
      <p:sp>
        <p:nvSpPr>
          <p:cNvPr id="19" name="Intro heading 2"/>
          <p:cNvSpPr txBox="1"/>
          <p:nvPr/>
        </p:nvSpPr>
        <p:spPr>
          <a:xfrm>
            <a:off x="730800" y="9893808"/>
            <a:ext cx="14104800" cy="396360"/>
          </a:xfrm>
          <a:prstGeom prst="rect">
            <a:avLst/>
          </a:prstGeom>
          <a:noFill/>
        </p:spPr>
        <p:txBody>
          <a:bodyPr wrap="square" lIns="0" tIns="0" rIns="0" bIns="0" anchor="t">
            <a:noAutofit/>
          </a:bodyPr>
          <a:lstStyle/>
          <a:p>
            <a:pPr algn="l">
              <a:lnSpc>
                <a:spcPct val="104300"/>
              </a:lnSpc>
              <a:spcBef>
                <a:spcPts val="0"/>
              </a:spcBef>
              <a:spcAft>
                <a:spcPts val="0"/>
              </a:spcAft>
            </a:pPr>
            <a:r>
              <a:rPr sz="2600" b="1" i="0">
                <a:solidFill>
                  <a:srgbClr val="125F55"/>
                </a:solidFill>
                <a:latin typeface="Arial"/>
                <a:ea typeface="Arial"/>
                <a:cs typeface="Arial"/>
              </a:rPr>
              <a:t>The idea: coherence works like an ice clock</a:t>
            </a:r>
            <a:endParaRPr lang="en-GB" sz="2600"/>
          </a:p>
        </p:txBody>
      </p:sp>
      <p:sp>
        <p:nvSpPr>
          <p:cNvPr id="20" name="Intro heading 3"/>
          <p:cNvSpPr txBox="1"/>
          <p:nvPr/>
        </p:nvSpPr>
        <p:spPr>
          <a:xfrm>
            <a:off x="730800" y="14593824"/>
            <a:ext cx="14104800" cy="396360"/>
          </a:xfrm>
          <a:prstGeom prst="rect">
            <a:avLst/>
          </a:prstGeom>
          <a:noFill/>
        </p:spPr>
        <p:txBody>
          <a:bodyPr wrap="square" lIns="0" tIns="0" rIns="0" bIns="0" anchor="t">
            <a:noAutofit/>
          </a:bodyPr>
          <a:lstStyle/>
          <a:p>
            <a:pPr algn="l">
              <a:lnSpc>
                <a:spcPct val="104300"/>
              </a:lnSpc>
              <a:spcBef>
                <a:spcPts val="0"/>
              </a:spcBef>
              <a:spcAft>
                <a:spcPts val="0"/>
              </a:spcAft>
            </a:pPr>
            <a:r>
              <a:rPr sz="2600" b="1" i="0">
                <a:solidFill>
                  <a:srgbClr val="125F55"/>
                </a:solidFill>
                <a:latin typeface="Arial"/>
                <a:ea typeface="Arial"/>
                <a:cs typeface="Arial"/>
              </a:rPr>
              <a:t>Aim: compare two contrasting winters (2018–19 vs 2020–21)</a:t>
            </a:r>
            <a:endParaRPr lang="en-GB" sz="2600"/>
          </a:p>
        </p:txBody>
      </p:sp>
      <p:sp>
        <p:nvSpPr>
          <p:cNvPr id="21" name="Intro text 1"/>
          <p:cNvSpPr txBox="1"/>
          <p:nvPr/>
        </p:nvSpPr>
        <p:spPr>
          <a:xfrm>
            <a:off x="730800" y="8622792"/>
            <a:ext cx="14104800" cy="1243584"/>
          </a:xfrm>
          <a:prstGeom prst="rect">
            <a:avLst/>
          </a:prstGeom>
          <a:noFill/>
        </p:spPr>
        <p:txBody>
          <a:bodyPr wrap="square" lIns="0" tIns="0" rIns="0" bIns="0" anchor="t">
            <a:noAutofit/>
          </a:bodyPr>
          <a:lstStyle/>
          <a:p>
            <a:pPr algn="l">
              <a:lnSpc>
                <a:spcPct val="111300"/>
              </a:lnSpc>
              <a:spcBef>
                <a:spcPts val="0"/>
              </a:spcBef>
              <a:spcAft>
                <a:spcPts val="0"/>
              </a:spcAft>
            </a:pPr>
            <a:r>
              <a:rPr sz="2400" b="1" i="0">
                <a:solidFill>
                  <a:srgbClr val="1E1E1E"/>
                </a:solidFill>
                <a:latin typeface="Arial"/>
                <a:ea typeface="Arial"/>
                <a:cs typeface="Arial"/>
              </a:rPr>
              <a:t>Landfast sea ice</a:t>
            </a:r>
            <a:r>
              <a:rPr sz="2400" b="0" i="0">
                <a:solidFill>
                  <a:srgbClr val="1E1E1E"/>
                </a:solidFill>
                <a:latin typeface="Arial"/>
                <a:ea typeface="Arial"/>
                <a:cs typeface="Arial"/>
              </a:rPr>
              <a:t> is sea ice frozen fast to the coast. Along the Canadian Arctic coast it is the winter travel surface and a key habitat. As the Arctic warms, the date it forms is shifting, so it must be measured, not assumed.</a:t>
            </a:r>
            <a:endParaRPr lang="en-GB" sz="2400"/>
          </a:p>
        </p:txBody>
      </p:sp>
      <p:sp>
        <p:nvSpPr>
          <p:cNvPr id="22" name="Intro text 2"/>
          <p:cNvSpPr txBox="1"/>
          <p:nvPr/>
        </p:nvSpPr>
        <p:spPr>
          <a:xfrm>
            <a:off x="730800" y="10305288"/>
            <a:ext cx="14104800" cy="1243584"/>
          </a:xfrm>
          <a:prstGeom prst="rect">
            <a:avLst/>
          </a:prstGeom>
          <a:noFill/>
        </p:spPr>
        <p:txBody>
          <a:bodyPr wrap="square" lIns="0" tIns="0" rIns="0" bIns="0" anchor="t">
            <a:noAutofit/>
          </a:bodyPr>
          <a:lstStyle/>
          <a:p>
            <a:pPr algn="l">
              <a:lnSpc>
                <a:spcPct val="111300"/>
              </a:lnSpc>
              <a:spcBef>
                <a:spcPts val="0"/>
              </a:spcBef>
              <a:spcAft>
                <a:spcPts val="0"/>
              </a:spcAft>
            </a:pPr>
            <a:r>
              <a:rPr lang="en-GB" sz="2400" b="1" i="0">
                <a:solidFill>
                  <a:srgbClr val="1E1E1E"/>
                </a:solidFill>
                <a:latin typeface="Arial"/>
                <a:ea typeface="Arial"/>
                <a:cs typeface="Arial"/>
              </a:rPr>
              <a:t>InSAR</a:t>
            </a:r>
            <a:r>
              <a:rPr lang="en-GB" sz="2400" b="0" i="0">
                <a:solidFill>
                  <a:srgbClr val="1E1E1E"/>
                </a:solidFill>
                <a:latin typeface="Arial"/>
                <a:ea typeface="Arial"/>
                <a:cs typeface="Arial"/>
              </a:rPr>
              <a:t> has measured the 2-D motion of this ice at Cambridge Bay [1] and its year-to-year change [2], but used coherence only to select reliable pixels. Drifting ice loses coherence and fixed ice regains it, so coherence may show when the ice consolidated and whether it stayed that way.</a:t>
            </a:r>
            <a:endParaRPr lang="en-GB" sz="2400"/>
          </a:p>
        </p:txBody>
      </p:sp>
      <p:sp>
        <p:nvSpPr>
          <p:cNvPr id="23" name="Intro text 3"/>
          <p:cNvSpPr txBox="1"/>
          <p:nvPr/>
        </p:nvSpPr>
        <p:spPr>
          <a:xfrm>
            <a:off x="730800" y="13697712"/>
            <a:ext cx="14104800" cy="841248"/>
          </a:xfrm>
          <a:prstGeom prst="rect">
            <a:avLst/>
          </a:prstGeom>
          <a:noFill/>
        </p:spPr>
        <p:txBody>
          <a:bodyPr wrap="square" lIns="0" tIns="0" rIns="0" bIns="0" anchor="t">
            <a:noAutofit/>
          </a:bodyPr>
          <a:lstStyle/>
          <a:p>
            <a:pPr algn="l">
              <a:lnSpc>
                <a:spcPct val="111300"/>
              </a:lnSpc>
              <a:spcBef>
                <a:spcPts val="0"/>
              </a:spcBef>
              <a:spcAft>
                <a:spcPts val="0"/>
              </a:spcAft>
            </a:pPr>
            <a:r>
              <a:rPr lang="en-GB" sz="2400" b="0" i="0">
                <a:solidFill>
                  <a:srgbClr val="1E1E1E"/>
                </a:solidFill>
                <a:latin typeface="Arial"/>
                <a:ea typeface="Arial"/>
                <a:cs typeface="Arial"/>
              </a:rPr>
              <a:t>Coherence (0 to 1) shows how alike two radar images taken 12 days apart are, so the date it rises </a:t>
            </a:r>
            <a:r>
              <a:rPr lang="en-GB" sz="2400" b="0" i="1">
                <a:solidFill>
                  <a:srgbClr val="1E1E1E"/>
                </a:solidFill>
                <a:latin typeface="Arial"/>
                <a:ea typeface="Arial"/>
                <a:cs typeface="Arial"/>
              </a:rPr>
              <a:t>and stays high</a:t>
            </a:r>
            <a:r>
              <a:rPr lang="en-GB" sz="2400" b="0" i="0">
                <a:solidFill>
                  <a:srgbClr val="1E1E1E"/>
                </a:solidFill>
                <a:latin typeface="Arial"/>
                <a:ea typeface="Arial"/>
                <a:cs typeface="Arial"/>
              </a:rPr>
              <a:t> is the date the ice locked in place.</a:t>
            </a:r>
            <a:endParaRPr lang="en-GB" sz="2400"/>
          </a:p>
        </p:txBody>
      </p:sp>
      <p:sp>
        <p:nvSpPr>
          <p:cNvPr id="24" name="Idea card 1"/>
          <p:cNvSpPr/>
          <p:nvPr/>
        </p:nvSpPr>
        <p:spPr>
          <a:xfrm>
            <a:off x="730800" y="11594592"/>
            <a:ext cx="6926400" cy="2011680"/>
          </a:xfrm>
          <a:prstGeom prst="roundRect">
            <a:avLst>
              <a:gd name="adj" fmla="val 3868"/>
            </a:avLst>
          </a:prstGeom>
          <a:solidFill>
            <a:srgbClr val="FBFDFC"/>
          </a:solidFill>
          <a:ln w="21600">
            <a:solidFill>
              <a:srgbClr val="B9D3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Idea illustration 1" descr="illus_1.png"/>
          <p:cNvPicPr>
            <a:picLocks noChangeAspect="1"/>
          </p:cNvPicPr>
          <p:nvPr/>
        </p:nvPicPr>
        <p:blipFill>
          <a:blip r:embed="rId3"/>
          <a:stretch>
            <a:fillRect/>
          </a:stretch>
        </p:blipFill>
        <p:spPr>
          <a:xfrm>
            <a:off x="2347378" y="11686032"/>
            <a:ext cx="1925501" cy="1115568"/>
          </a:xfrm>
          <a:prstGeom prst="rect">
            <a:avLst/>
          </a:prstGeom>
        </p:spPr>
      </p:pic>
      <p:sp>
        <p:nvSpPr>
          <p:cNvPr id="26" name="Idea arrow 1"/>
          <p:cNvSpPr txBox="1"/>
          <p:nvPr/>
        </p:nvSpPr>
        <p:spPr>
          <a:xfrm>
            <a:off x="4382606" y="12028932"/>
            <a:ext cx="432000" cy="431640"/>
          </a:xfrm>
          <a:prstGeom prst="rect">
            <a:avLst/>
          </a:prstGeom>
          <a:noFill/>
        </p:spPr>
        <p:txBody>
          <a:bodyPr wrap="square" lIns="0" tIns="0" rIns="0" bIns="0" anchor="ctr">
            <a:noAutofit/>
          </a:bodyPr>
          <a:lstStyle/>
          <a:p>
            <a:pPr algn="ctr">
              <a:lnSpc>
                <a:spcPct val="87000"/>
              </a:lnSpc>
              <a:spcBef>
                <a:spcPts val="0"/>
              </a:spcBef>
              <a:spcAft>
                <a:spcPts val="0"/>
              </a:spcAft>
            </a:pPr>
            <a:r>
              <a:rPr sz="3400" b="0" i="0">
                <a:solidFill>
                  <a:srgbClr val="125F55"/>
                </a:solidFill>
                <a:latin typeface="Arial"/>
                <a:ea typeface="Arial"/>
                <a:cs typeface="Arial"/>
              </a:rPr>
              <a:t>→</a:t>
            </a:r>
            <a:endParaRPr lang="en-GB" sz="3400"/>
          </a:p>
        </p:txBody>
      </p:sp>
      <p:pic>
        <p:nvPicPr>
          <p:cNvPr id="27" name="Idea interferogram tile 1 (schematic)" descr="tile_low.png"/>
          <p:cNvPicPr>
            <a:picLocks noChangeAspect="1"/>
          </p:cNvPicPr>
          <p:nvPr/>
        </p:nvPicPr>
        <p:blipFill>
          <a:blip r:embed="rId4"/>
          <a:stretch>
            <a:fillRect/>
          </a:stretch>
        </p:blipFill>
        <p:spPr>
          <a:xfrm>
            <a:off x="4922102" y="11686032"/>
            <a:ext cx="1115568" cy="1115568"/>
          </a:xfrm>
          <a:prstGeom prst="rect">
            <a:avLst/>
          </a:prstGeom>
        </p:spPr>
      </p:pic>
      <p:sp>
        <p:nvSpPr>
          <p:cNvPr id="28" name="Idea caption 1"/>
          <p:cNvSpPr txBox="1"/>
          <p:nvPr/>
        </p:nvSpPr>
        <p:spPr>
          <a:xfrm>
            <a:off x="893880" y="12829032"/>
            <a:ext cx="6600600" cy="768096"/>
          </a:xfrm>
          <a:prstGeom prst="rect">
            <a:avLst/>
          </a:prstGeom>
          <a:noFill/>
        </p:spPr>
        <p:txBody>
          <a:bodyPr wrap="square" lIns="0" tIns="0" rIns="0" bIns="0" anchor="t">
            <a:noAutofit/>
          </a:bodyPr>
          <a:lstStyle/>
          <a:p>
            <a:pPr algn="ctr">
              <a:lnSpc>
                <a:spcPct val="108700"/>
              </a:lnSpc>
              <a:spcBef>
                <a:spcPts val="0"/>
              </a:spcBef>
              <a:spcAft>
                <a:spcPts val="0"/>
              </a:spcAft>
            </a:pPr>
            <a:r>
              <a:rPr sz="2400" b="1" i="0">
                <a:solidFill>
                  <a:srgbClr val="1E1E1E"/>
                </a:solidFill>
                <a:latin typeface="Arial"/>
                <a:ea typeface="Arial"/>
                <a:cs typeface="Arial"/>
              </a:rPr>
              <a:t>Drifting ice</a:t>
            </a:r>
            <a:r>
              <a:rPr sz="2400" b="0" i="0">
                <a:solidFill>
                  <a:srgbClr val="1E1E1E"/>
                </a:solidFill>
                <a:latin typeface="Arial"/>
                <a:ea typeface="Arial"/>
                <a:cs typeface="Arial"/>
              </a:rPr>
              <a:t> changes between passes</a:t>
            </a:r>
            <a:br>
              <a:rPr lang="en-GB" sz="2400"/>
            </a:br>
            <a:r>
              <a:rPr sz="2400" b="0" i="0">
                <a:solidFill>
                  <a:srgbClr val="1E1E1E"/>
                </a:solidFill>
                <a:latin typeface="Arial"/>
                <a:ea typeface="Arial"/>
                <a:cs typeface="Arial"/>
              </a:rPr>
              <a:t>→ </a:t>
            </a:r>
            <a:r>
              <a:rPr sz="2400" b="1" i="0">
                <a:solidFill>
                  <a:srgbClr val="8A2F1F"/>
                </a:solidFill>
                <a:latin typeface="Arial"/>
                <a:ea typeface="Arial"/>
                <a:cs typeface="Arial"/>
              </a:rPr>
              <a:t>low coherence</a:t>
            </a:r>
            <a:endParaRPr lang="en-GB" sz="2400"/>
          </a:p>
        </p:txBody>
      </p:sp>
      <p:sp>
        <p:nvSpPr>
          <p:cNvPr id="29" name="Idea card 2"/>
          <p:cNvSpPr/>
          <p:nvPr/>
        </p:nvSpPr>
        <p:spPr>
          <a:xfrm>
            <a:off x="7909200" y="11594592"/>
            <a:ext cx="6926400" cy="2011680"/>
          </a:xfrm>
          <a:prstGeom prst="roundRect">
            <a:avLst>
              <a:gd name="adj" fmla="val 3868"/>
            </a:avLst>
          </a:prstGeom>
          <a:solidFill>
            <a:srgbClr val="FBFDFC"/>
          </a:solidFill>
          <a:ln w="21600">
            <a:solidFill>
              <a:srgbClr val="B9D3C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Idea illustration 2" descr="illus_2.png"/>
          <p:cNvPicPr>
            <a:picLocks noChangeAspect="1"/>
          </p:cNvPicPr>
          <p:nvPr/>
        </p:nvPicPr>
        <p:blipFill>
          <a:blip r:embed="rId5"/>
          <a:stretch>
            <a:fillRect/>
          </a:stretch>
        </p:blipFill>
        <p:spPr>
          <a:xfrm>
            <a:off x="9525418" y="11686032"/>
            <a:ext cx="1925501" cy="1115568"/>
          </a:xfrm>
          <a:prstGeom prst="rect">
            <a:avLst/>
          </a:prstGeom>
        </p:spPr>
      </p:pic>
      <p:sp>
        <p:nvSpPr>
          <p:cNvPr id="31" name="Idea arrow 2"/>
          <p:cNvSpPr txBox="1"/>
          <p:nvPr/>
        </p:nvSpPr>
        <p:spPr>
          <a:xfrm>
            <a:off x="11560646" y="12028932"/>
            <a:ext cx="432000" cy="431640"/>
          </a:xfrm>
          <a:prstGeom prst="rect">
            <a:avLst/>
          </a:prstGeom>
          <a:noFill/>
        </p:spPr>
        <p:txBody>
          <a:bodyPr wrap="square" lIns="0" tIns="0" rIns="0" bIns="0" anchor="ctr">
            <a:noAutofit/>
          </a:bodyPr>
          <a:lstStyle/>
          <a:p>
            <a:pPr algn="ctr">
              <a:lnSpc>
                <a:spcPct val="87000"/>
              </a:lnSpc>
              <a:spcBef>
                <a:spcPts val="0"/>
              </a:spcBef>
              <a:spcAft>
                <a:spcPts val="0"/>
              </a:spcAft>
            </a:pPr>
            <a:r>
              <a:rPr sz="3400" b="0" i="0">
                <a:solidFill>
                  <a:srgbClr val="125F55"/>
                </a:solidFill>
                <a:latin typeface="Arial"/>
                <a:ea typeface="Arial"/>
                <a:cs typeface="Arial"/>
              </a:rPr>
              <a:t>→</a:t>
            </a:r>
            <a:endParaRPr lang="en-GB" sz="3400"/>
          </a:p>
        </p:txBody>
      </p:sp>
      <p:pic>
        <p:nvPicPr>
          <p:cNvPr id="32" name="Idea interferogram tile 2 (schematic)" descr="tile_high.png"/>
          <p:cNvPicPr>
            <a:picLocks noChangeAspect="1"/>
          </p:cNvPicPr>
          <p:nvPr/>
        </p:nvPicPr>
        <p:blipFill>
          <a:blip r:embed="rId6"/>
          <a:stretch>
            <a:fillRect/>
          </a:stretch>
        </p:blipFill>
        <p:spPr>
          <a:xfrm>
            <a:off x="12100142" y="11686032"/>
            <a:ext cx="1115568" cy="1115568"/>
          </a:xfrm>
          <a:prstGeom prst="rect">
            <a:avLst/>
          </a:prstGeom>
        </p:spPr>
      </p:pic>
      <p:sp>
        <p:nvSpPr>
          <p:cNvPr id="33" name="Idea caption 2"/>
          <p:cNvSpPr txBox="1"/>
          <p:nvPr/>
        </p:nvSpPr>
        <p:spPr>
          <a:xfrm>
            <a:off x="8072280" y="12829032"/>
            <a:ext cx="6600600" cy="768096"/>
          </a:xfrm>
          <a:prstGeom prst="rect">
            <a:avLst/>
          </a:prstGeom>
          <a:noFill/>
        </p:spPr>
        <p:txBody>
          <a:bodyPr wrap="square" lIns="0" tIns="0" rIns="0" bIns="0" anchor="t">
            <a:noAutofit/>
          </a:bodyPr>
          <a:lstStyle/>
          <a:p>
            <a:pPr algn="ctr">
              <a:lnSpc>
                <a:spcPct val="108700"/>
              </a:lnSpc>
              <a:spcBef>
                <a:spcPts val="0"/>
              </a:spcBef>
              <a:spcAft>
                <a:spcPts val="0"/>
              </a:spcAft>
            </a:pPr>
            <a:r>
              <a:rPr sz="2400" b="1" i="0">
                <a:solidFill>
                  <a:srgbClr val="1E1E1E"/>
                </a:solidFill>
                <a:latin typeface="Arial"/>
                <a:ea typeface="Arial"/>
                <a:cs typeface="Arial"/>
              </a:rPr>
              <a:t>Landfast ice</a:t>
            </a:r>
            <a:r>
              <a:rPr sz="2400" b="0" i="0">
                <a:solidFill>
                  <a:srgbClr val="1E1E1E"/>
                </a:solidFill>
                <a:latin typeface="Arial"/>
                <a:ea typeface="Arial"/>
                <a:cs typeface="Arial"/>
              </a:rPr>
              <a:t> stays in place</a:t>
            </a:r>
            <a:br>
              <a:rPr lang="en-GB" sz="2400"/>
            </a:br>
            <a:r>
              <a:rPr sz="2400" b="0" i="0">
                <a:solidFill>
                  <a:srgbClr val="1E1E1E"/>
                </a:solidFill>
                <a:latin typeface="Arial"/>
                <a:ea typeface="Arial"/>
                <a:cs typeface="Arial"/>
              </a:rPr>
              <a:t>→ </a:t>
            </a:r>
            <a:r>
              <a:rPr sz="2400" b="1" i="0">
                <a:solidFill>
                  <a:srgbClr val="125F55"/>
                </a:solidFill>
                <a:latin typeface="Arial"/>
                <a:ea typeface="Arial"/>
                <a:cs typeface="Arial"/>
              </a:rPr>
              <a:t>high coherence</a:t>
            </a:r>
            <a:endParaRPr lang="en-GB" sz="2400"/>
          </a:p>
        </p:txBody>
      </p:sp>
      <p:sp>
        <p:nvSpPr>
          <p:cNvPr id="34" name="Aim badge Q1"/>
          <p:cNvSpPr/>
          <p:nvPr/>
        </p:nvSpPr>
        <p:spPr>
          <a:xfrm>
            <a:off x="730800" y="15032736"/>
            <a:ext cx="512064" cy="384048"/>
          </a:xfrm>
          <a:prstGeom prst="roundRect">
            <a:avLst>
              <a:gd name="adj" fmla="val 16842"/>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Q1</a:t>
            </a:r>
            <a:endParaRPr lang="en-GB" sz="2400"/>
          </a:p>
        </p:txBody>
      </p:sp>
      <p:sp>
        <p:nvSpPr>
          <p:cNvPr id="35" name="Aim Q1"/>
          <p:cNvSpPr txBox="1"/>
          <p:nvPr/>
        </p:nvSpPr>
        <p:spPr>
          <a:xfrm>
            <a:off x="1371600" y="15014448"/>
            <a:ext cx="13459968" cy="411480"/>
          </a:xfrm>
          <a:prstGeom prst="rect">
            <a:avLst/>
          </a:prstGeom>
          <a:noFill/>
        </p:spPr>
        <p:txBody>
          <a:bodyPr wrap="square" lIns="0" tIns="0" rIns="0" bIns="0" anchor="t">
            <a:noAutofit/>
          </a:bodyPr>
          <a:lstStyle/>
          <a:p>
            <a:pPr algn="l">
              <a:lnSpc>
                <a:spcPct val="111300"/>
              </a:lnSpc>
              <a:spcBef>
                <a:spcPts val="0"/>
              </a:spcBef>
              <a:spcAft>
                <a:spcPts val="0"/>
              </a:spcAft>
            </a:pPr>
            <a:r>
              <a:rPr sz="2400" b="0" i="0">
                <a:solidFill>
                  <a:srgbClr val="1E1E1E"/>
                </a:solidFill>
                <a:latin typeface="Arial"/>
                <a:ea typeface="Arial"/>
                <a:cs typeface="Arial"/>
              </a:rPr>
              <a:t>When did the ice become landfast? (dated from coherence)</a:t>
            </a:r>
            <a:endParaRPr lang="en-GB" sz="2400"/>
          </a:p>
        </p:txBody>
      </p:sp>
      <p:sp>
        <p:nvSpPr>
          <p:cNvPr id="36" name="Aim badge Q2"/>
          <p:cNvSpPr/>
          <p:nvPr/>
        </p:nvSpPr>
        <p:spPr>
          <a:xfrm>
            <a:off x="730800" y="15462504"/>
            <a:ext cx="512064" cy="384048"/>
          </a:xfrm>
          <a:prstGeom prst="roundRect">
            <a:avLst>
              <a:gd name="adj" fmla="val 16842"/>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Q2</a:t>
            </a:r>
            <a:endParaRPr lang="en-GB" sz="2400"/>
          </a:p>
        </p:txBody>
      </p:sp>
      <p:sp>
        <p:nvSpPr>
          <p:cNvPr id="37" name="Aim Q2"/>
          <p:cNvSpPr txBox="1"/>
          <p:nvPr/>
        </p:nvSpPr>
        <p:spPr>
          <a:xfrm>
            <a:off x="1371600" y="15444216"/>
            <a:ext cx="13459968" cy="411480"/>
          </a:xfrm>
          <a:prstGeom prst="rect">
            <a:avLst/>
          </a:prstGeom>
          <a:noFill/>
        </p:spPr>
        <p:txBody>
          <a:bodyPr wrap="square" lIns="0" tIns="0" rIns="0" bIns="0" anchor="t">
            <a:noAutofit/>
          </a:bodyPr>
          <a:lstStyle/>
          <a:p>
            <a:pPr algn="l">
              <a:lnSpc>
                <a:spcPct val="111300"/>
              </a:lnSpc>
              <a:spcBef>
                <a:spcPts val="0"/>
              </a:spcBef>
              <a:spcAft>
                <a:spcPts val="0"/>
              </a:spcAft>
            </a:pPr>
            <a:r>
              <a:rPr sz="2400" b="0" i="0">
                <a:solidFill>
                  <a:srgbClr val="1E1E1E"/>
                </a:solidFill>
                <a:latin typeface="Arial"/>
                <a:ea typeface="Arial"/>
                <a:cs typeface="Arial"/>
              </a:rPr>
              <a:t>How did it move: east–west and up–down?</a:t>
            </a:r>
            <a:endParaRPr lang="en-GB" sz="2400"/>
          </a:p>
        </p:txBody>
      </p:sp>
      <p:pic>
        <p:nvPicPr>
          <p:cNvPr id="38" name="Study area map" descr="studymap.jpg"/>
          <p:cNvPicPr>
            <a:picLocks noChangeAspect="1"/>
          </p:cNvPicPr>
          <p:nvPr/>
        </p:nvPicPr>
        <p:blipFill>
          <a:blip r:embed="rId7"/>
          <a:stretch>
            <a:fillRect/>
          </a:stretch>
        </p:blipFill>
        <p:spPr>
          <a:xfrm>
            <a:off x="15339600" y="8211312"/>
            <a:ext cx="7315200" cy="5094822"/>
          </a:xfrm>
          <a:prstGeom prst="rect">
            <a:avLst/>
          </a:prstGeom>
          <a:ln w="14400">
            <a:solidFill>
              <a:srgbClr val="BBBBBB"/>
            </a:solidFill>
          </a:ln>
        </p:spPr>
      </p:pic>
      <p:sp>
        <p:nvSpPr>
          <p:cNvPr id="39" name="Map place"/>
          <p:cNvSpPr txBox="1"/>
          <p:nvPr/>
        </p:nvSpPr>
        <p:spPr>
          <a:xfrm>
            <a:off x="22905720" y="8211312"/>
            <a:ext cx="6537960" cy="380880"/>
          </a:xfrm>
          <a:prstGeom prst="rect">
            <a:avLst/>
          </a:prstGeom>
          <a:noFill/>
        </p:spPr>
        <p:txBody>
          <a:bodyPr wrap="square" lIns="0" tIns="0" rIns="0" bIns="0" anchor="t">
            <a:noAutofit/>
          </a:bodyPr>
          <a:lstStyle/>
          <a:p>
            <a:pPr algn="l">
              <a:lnSpc>
                <a:spcPct val="104300"/>
              </a:lnSpc>
              <a:spcBef>
                <a:spcPts val="0"/>
              </a:spcBef>
              <a:spcAft>
                <a:spcPts val="0"/>
              </a:spcAft>
            </a:pPr>
            <a:r>
              <a:rPr sz="2500" b="1" i="0">
                <a:solidFill>
                  <a:srgbClr val="1E1E1E"/>
                </a:solidFill>
                <a:latin typeface="Arial"/>
                <a:ea typeface="Arial"/>
                <a:cs typeface="Arial"/>
              </a:rPr>
              <a:t>Dease Strait, Cambridge Bay, Nunavut</a:t>
            </a:r>
            <a:endParaRPr lang="en-GB" sz="2500"/>
          </a:p>
        </p:txBody>
      </p:sp>
      <p:sp>
        <p:nvSpPr>
          <p:cNvPr id="40" name="Map source"/>
          <p:cNvSpPr txBox="1"/>
          <p:nvPr/>
        </p:nvSpPr>
        <p:spPr>
          <a:xfrm>
            <a:off x="22905720" y="8622792"/>
            <a:ext cx="6537960" cy="384048"/>
          </a:xfrm>
          <a:prstGeom prst="rect">
            <a:avLst/>
          </a:prstGeom>
          <a:noFill/>
        </p:spPr>
        <p:txBody>
          <a:bodyPr wrap="square" lIns="0" tIns="0" rIns="0" bIns="0" anchor="t">
            <a:noAutofit/>
          </a:bodyPr>
          <a:lstStyle/>
          <a:p>
            <a:pPr algn="l">
              <a:lnSpc>
                <a:spcPct val="113000"/>
              </a:lnSpc>
              <a:spcBef>
                <a:spcPts val="0"/>
              </a:spcBef>
              <a:spcAft>
                <a:spcPts val="0"/>
              </a:spcAft>
            </a:pPr>
            <a:r>
              <a:rPr sz="2400" b="0" i="0">
                <a:solidFill>
                  <a:srgbClr val="4A4A4A"/>
                </a:solidFill>
                <a:latin typeface="Arial"/>
                <a:ea typeface="Arial"/>
                <a:cs typeface="Arial"/>
              </a:rPr>
              <a:t>Sentinel-1 radar image, 17 Feb 2019</a:t>
            </a:r>
            <a:endParaRPr lang="en-GB" sz="2400"/>
          </a:p>
        </p:txBody>
      </p:sp>
      <p:sp>
        <p:nvSpPr>
          <p:cNvPr id="41" name="Map key swatch P1–P4"/>
          <p:cNvSpPr/>
          <p:nvPr/>
        </p:nvSpPr>
        <p:spPr>
          <a:xfrm>
            <a:off x="22905720" y="9217152"/>
            <a:ext cx="198000" cy="198000"/>
          </a:xfrm>
          <a:prstGeom prst="roundRect">
            <a:avLst>
              <a:gd name="adj" fmla="val 18181"/>
            </a:avLst>
          </a:prstGeom>
          <a:solidFill>
            <a:srgbClr val="D7191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Map key P1–P4"/>
          <p:cNvSpPr txBox="1"/>
          <p:nvPr/>
        </p:nvSpPr>
        <p:spPr>
          <a:xfrm>
            <a:off x="23225760" y="9125712"/>
            <a:ext cx="6217920" cy="822960"/>
          </a:xfrm>
          <a:prstGeom prst="rect">
            <a:avLst/>
          </a:prstGeom>
          <a:noFill/>
        </p:spPr>
        <p:txBody>
          <a:bodyPr wrap="square" lIns="0" tIns="0" rIns="0" bIns="0" anchor="t">
            <a:noAutofit/>
          </a:bodyPr>
          <a:lstStyle/>
          <a:p>
            <a:pPr algn="l">
              <a:lnSpc>
                <a:spcPct val="108700"/>
              </a:lnSpc>
              <a:spcBef>
                <a:spcPts val="0"/>
              </a:spcBef>
              <a:spcAft>
                <a:spcPts val="0"/>
              </a:spcAft>
            </a:pPr>
            <a:r>
              <a:rPr sz="2400" b="1" i="0">
                <a:solidFill>
                  <a:srgbClr val="1E1E1E"/>
                </a:solidFill>
                <a:latin typeface="Arial"/>
                <a:ea typeface="Arial"/>
                <a:cs typeface="Arial"/>
              </a:rPr>
              <a:t>P1–P4</a:t>
            </a:r>
            <a:r>
              <a:rPr sz="2400" b="0" i="0">
                <a:solidFill>
                  <a:srgbClr val="1E1E1E"/>
                </a:solidFill>
                <a:latin typeface="Arial"/>
                <a:ea typeface="Arial"/>
                <a:cs typeface="Arial"/>
              </a:rPr>
              <a:t> points on the sea ice, 1.2–8.2 km offshore</a:t>
            </a:r>
            <a:endParaRPr lang="en-GB" sz="2400"/>
          </a:p>
        </p:txBody>
      </p:sp>
      <p:sp>
        <p:nvSpPr>
          <p:cNvPr id="43" name="Map key swatch RP"/>
          <p:cNvSpPr/>
          <p:nvPr/>
        </p:nvSpPr>
        <p:spPr>
          <a:xfrm>
            <a:off x="22905720" y="10076688"/>
            <a:ext cx="198000" cy="198000"/>
          </a:xfrm>
          <a:prstGeom prst="roundRect">
            <a:avLst>
              <a:gd name="adj" fmla="val 18181"/>
            </a:avLst>
          </a:prstGeom>
          <a:solidFill>
            <a:srgbClr val="0B8FA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Map key RP"/>
          <p:cNvSpPr txBox="1"/>
          <p:nvPr/>
        </p:nvSpPr>
        <p:spPr>
          <a:xfrm>
            <a:off x="23225760" y="9985248"/>
            <a:ext cx="6217920" cy="411480"/>
          </a:xfrm>
          <a:prstGeom prst="rect">
            <a:avLst/>
          </a:prstGeom>
          <a:noFill/>
        </p:spPr>
        <p:txBody>
          <a:bodyPr wrap="square" lIns="0" tIns="0" rIns="0" bIns="0" anchor="t">
            <a:noAutofit/>
          </a:bodyPr>
          <a:lstStyle/>
          <a:p>
            <a:pPr algn="l">
              <a:lnSpc>
                <a:spcPct val="108700"/>
              </a:lnSpc>
              <a:spcBef>
                <a:spcPts val="0"/>
              </a:spcBef>
              <a:spcAft>
                <a:spcPts val="0"/>
              </a:spcAft>
            </a:pPr>
            <a:r>
              <a:rPr sz="2400" b="1" i="0">
                <a:solidFill>
                  <a:srgbClr val="1E1E1E"/>
                </a:solidFill>
                <a:latin typeface="Arial"/>
                <a:ea typeface="Arial"/>
                <a:cs typeface="Arial"/>
              </a:rPr>
              <a:t>RP</a:t>
            </a:r>
            <a:r>
              <a:rPr sz="2400" b="0" i="0">
                <a:solidFill>
                  <a:srgbClr val="1E1E1E"/>
                </a:solidFill>
                <a:latin typeface="Arial"/>
                <a:ea typeface="Arial"/>
                <a:cs typeface="Arial"/>
              </a:rPr>
              <a:t> fixed reference on land</a:t>
            </a:r>
            <a:endParaRPr lang="en-GB" sz="2400"/>
          </a:p>
        </p:txBody>
      </p:sp>
      <p:sp>
        <p:nvSpPr>
          <p:cNvPr id="45" name="Map key swatch P5"/>
          <p:cNvSpPr/>
          <p:nvPr/>
        </p:nvSpPr>
        <p:spPr>
          <a:xfrm>
            <a:off x="22905720" y="10515600"/>
            <a:ext cx="198000" cy="198000"/>
          </a:xfrm>
          <a:prstGeom prst="roundRect">
            <a:avLst>
              <a:gd name="adj" fmla="val 18181"/>
            </a:avLst>
          </a:prstGeom>
          <a:solidFill>
            <a:srgbClr val="8E44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Map key P5"/>
          <p:cNvSpPr txBox="1"/>
          <p:nvPr/>
        </p:nvSpPr>
        <p:spPr>
          <a:xfrm>
            <a:off x="23225760" y="10424160"/>
            <a:ext cx="6217920" cy="411480"/>
          </a:xfrm>
          <a:prstGeom prst="rect">
            <a:avLst/>
          </a:prstGeom>
          <a:noFill/>
        </p:spPr>
        <p:txBody>
          <a:bodyPr wrap="square" lIns="0" tIns="0" rIns="0" bIns="0" anchor="t">
            <a:noAutofit/>
          </a:bodyPr>
          <a:lstStyle/>
          <a:p>
            <a:pPr algn="l">
              <a:lnSpc>
                <a:spcPct val="108700"/>
              </a:lnSpc>
              <a:spcBef>
                <a:spcPts val="0"/>
              </a:spcBef>
              <a:spcAft>
                <a:spcPts val="0"/>
              </a:spcAft>
            </a:pPr>
            <a:r>
              <a:rPr sz="2400" b="1" i="0">
                <a:solidFill>
                  <a:srgbClr val="1E1E1E"/>
                </a:solidFill>
                <a:latin typeface="Arial"/>
                <a:ea typeface="Arial"/>
                <a:cs typeface="Arial"/>
              </a:rPr>
              <a:t>P5</a:t>
            </a:r>
            <a:r>
              <a:rPr sz="2400" b="0" i="0">
                <a:solidFill>
                  <a:srgbClr val="1E1E1E"/>
                </a:solidFill>
                <a:latin typeface="Arial"/>
                <a:ea typeface="Arial"/>
                <a:cs typeface="Arial"/>
              </a:rPr>
              <a:t> land check point (should not move)</a:t>
            </a:r>
            <a:endParaRPr lang="en-GB" sz="2400"/>
          </a:p>
        </p:txBody>
      </p:sp>
      <p:sp>
        <p:nvSpPr>
          <p:cNvPr id="47" name="Map key swatch Green"/>
          <p:cNvSpPr/>
          <p:nvPr/>
        </p:nvSpPr>
        <p:spPr>
          <a:xfrm>
            <a:off x="22905720" y="10954512"/>
            <a:ext cx="198000" cy="198000"/>
          </a:xfrm>
          <a:prstGeom prst="roundRect">
            <a:avLst>
              <a:gd name="adj" fmla="val 18181"/>
            </a:avLst>
          </a:prstGeom>
          <a:solidFill>
            <a:srgbClr val="2FBF3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Map key Green"/>
          <p:cNvSpPr txBox="1"/>
          <p:nvPr/>
        </p:nvSpPr>
        <p:spPr>
          <a:xfrm>
            <a:off x="23225760" y="10863072"/>
            <a:ext cx="6217920" cy="411480"/>
          </a:xfrm>
          <a:prstGeom prst="rect">
            <a:avLst/>
          </a:prstGeom>
          <a:noFill/>
        </p:spPr>
        <p:txBody>
          <a:bodyPr wrap="square" lIns="0" tIns="0" rIns="0" bIns="0" anchor="t">
            <a:noAutofit/>
          </a:bodyPr>
          <a:lstStyle/>
          <a:p>
            <a:pPr algn="l">
              <a:lnSpc>
                <a:spcPct val="108700"/>
              </a:lnSpc>
              <a:spcBef>
                <a:spcPts val="0"/>
              </a:spcBef>
              <a:spcAft>
                <a:spcPts val="0"/>
              </a:spcAft>
            </a:pPr>
            <a:r>
              <a:rPr sz="2400" b="1" i="0">
                <a:solidFill>
                  <a:srgbClr val="1E1E1E"/>
                </a:solidFill>
                <a:latin typeface="Arial"/>
                <a:ea typeface="Arial"/>
                <a:cs typeface="Arial"/>
              </a:rPr>
              <a:t>Green</a:t>
            </a:r>
            <a:r>
              <a:rPr sz="2400" b="0" i="0">
                <a:solidFill>
                  <a:srgbClr val="1E1E1E"/>
                </a:solidFill>
                <a:latin typeface="Arial"/>
                <a:ea typeface="Arial"/>
                <a:cs typeface="Arial"/>
              </a:rPr>
              <a:t> ice profiler</a:t>
            </a:r>
            <a:endParaRPr lang="en-GB" sz="2400"/>
          </a:p>
        </p:txBody>
      </p:sp>
      <p:sp>
        <p:nvSpPr>
          <p:cNvPr id="49" name="Data table title"/>
          <p:cNvSpPr txBox="1"/>
          <p:nvPr/>
        </p:nvSpPr>
        <p:spPr>
          <a:xfrm>
            <a:off x="15339600" y="13459968"/>
            <a:ext cx="14104800" cy="411480"/>
          </a:xfrm>
          <a:prstGeom prst="rect">
            <a:avLst/>
          </a:prstGeom>
          <a:noFill/>
        </p:spPr>
        <p:txBody>
          <a:bodyPr wrap="square" lIns="0" tIns="0" rIns="0" bIns="0" anchor="t">
            <a:noAutofit/>
          </a:bodyPr>
          <a:lstStyle/>
          <a:p>
            <a:pPr algn="l">
              <a:lnSpc>
                <a:spcPct val="108700"/>
              </a:lnSpc>
              <a:spcBef>
                <a:spcPts val="0"/>
              </a:spcBef>
              <a:spcAft>
                <a:spcPts val="0"/>
              </a:spcAft>
            </a:pPr>
            <a:r>
              <a:rPr sz="2400" b="1" i="0">
                <a:solidFill>
                  <a:srgbClr val="125F55"/>
                </a:solidFill>
                <a:latin typeface="Arial"/>
                <a:ea typeface="Arial"/>
                <a:cs typeface="Arial"/>
              </a:rPr>
              <a:t>Sentinel-1 IW SLC data: consecutive 12-day pairs from two passes</a:t>
            </a:r>
            <a:endParaRPr lang="en-GB" sz="2400"/>
          </a:p>
        </p:txBody>
      </p:sp>
      <p:graphicFrame>
        <p:nvGraphicFramePr>
          <p:cNvPr id="50" name="Table: Sentinel-1 data"/>
          <p:cNvGraphicFramePr>
            <a:graphicFrameLocks noGrp="1"/>
          </p:cNvGraphicFramePr>
          <p:nvPr/>
        </p:nvGraphicFramePr>
        <p:xfrm>
          <a:off x="15339600" y="13898880"/>
          <a:ext cx="14105160" cy="1901952"/>
        </p:xfrm>
        <a:graphic>
          <a:graphicData uri="http://schemas.openxmlformats.org/drawingml/2006/table">
            <a:tbl>
              <a:tblPr firstRow="0" bandRow="0" firstCol="0" lastRow="0" lastCol="0" bandCol="0">
                <a:tableStyleId>{2D5ABB26-0587-4C30-8999-92F81FD0307C}</a:tableStyleId>
              </a:tblPr>
              <a:tblGrid>
                <a:gridCol w="5140800"/>
                <a:gridCol w="4556160"/>
                <a:gridCol w="4408200"/>
              </a:tblGrid>
              <a:tr h="475488">
                <a:tc>
                  <a:txBody>
                    <a:bodyPr wrap="square"/>
                    <a:lstStyle/>
                    <a:p>
                      <a:pPr algn="l">
                        <a:lnSpc>
                          <a:spcPct val="108700"/>
                        </a:lnSpc>
                        <a:spcBef>
                          <a:spcPts val="0"/>
                        </a:spcBef>
                        <a:spcAft>
                          <a:spcPts val="0"/>
                        </a:spcAft>
                      </a:pPr>
                      <a:r>
                        <a:rPr sz="2400" b="1" i="0">
                          <a:solidFill>
                            <a:srgbClr val="FFFFFF"/>
                          </a:solidFill>
                          <a:latin typeface="Arial"/>
                          <a:ea typeface="Arial"/>
                          <a:cs typeface="Arial"/>
                        </a:rPr>
                        <a:t>Pass</a:t>
                      </a:r>
                      <a:endParaRPr lang="en-GB" sz="2400"/>
                    </a:p>
                  </a:txBody>
                  <a:tcPr marL="108000" marR="108000" marT="36000" marB="36000" anchor="ctr">
                    <a:lnL w="0">
                      <a:noFill/>
                    </a:lnL>
                    <a:lnR w="0">
                      <a:noFill/>
                    </a:lnR>
                    <a:lnT w="0">
                      <a:noFill/>
                    </a:lnT>
                    <a:lnB w="0">
                      <a:noFill/>
                    </a:lnB>
                    <a:solidFill>
                      <a:srgbClr val="17685C"/>
                    </a:solidFill>
                  </a:tcPr>
                </a:tc>
                <a:tc>
                  <a:txBody>
                    <a:bodyPr wrap="square"/>
                    <a:lstStyle/>
                    <a:p>
                      <a:pPr algn="l">
                        <a:lnSpc>
                          <a:spcPct val="108700"/>
                        </a:lnSpc>
                        <a:spcBef>
                          <a:spcPts val="0"/>
                        </a:spcBef>
                        <a:spcAft>
                          <a:spcPts val="0"/>
                        </a:spcAft>
                      </a:pPr>
                      <a:r>
                        <a:rPr sz="2400" b="1" i="0">
                          <a:solidFill>
                            <a:srgbClr val="8FB3F0"/>
                          </a:solidFill>
                          <a:latin typeface="Arial"/>
                          <a:ea typeface="Arial"/>
                          <a:cs typeface="Arial"/>
                        </a:rPr>
                        <a:t>● </a:t>
                      </a:r>
                      <a:r>
                        <a:rPr sz="2400" b="1" i="0">
                          <a:solidFill>
                            <a:srgbClr val="FFFFFF"/>
                          </a:solidFill>
                          <a:latin typeface="Arial"/>
                          <a:ea typeface="Arial"/>
                          <a:cs typeface="Arial"/>
                        </a:rPr>
                        <a:t>Winter 2018–19</a:t>
                      </a:r>
                      <a:endParaRPr lang="en-GB" sz="2400"/>
                    </a:p>
                  </a:txBody>
                  <a:tcPr marL="108000" marR="108000" marT="36000" marB="36000" anchor="ctr">
                    <a:lnL w="0">
                      <a:noFill/>
                    </a:lnL>
                    <a:lnR w="0">
                      <a:noFill/>
                    </a:lnR>
                    <a:lnT w="0">
                      <a:noFill/>
                    </a:lnT>
                    <a:lnB w="0">
                      <a:noFill/>
                    </a:lnB>
                    <a:solidFill>
                      <a:srgbClr val="17685C"/>
                    </a:solidFill>
                  </a:tcPr>
                </a:tc>
                <a:tc>
                  <a:txBody>
                    <a:bodyPr wrap="square"/>
                    <a:lstStyle/>
                    <a:p>
                      <a:pPr algn="l">
                        <a:lnSpc>
                          <a:spcPct val="108700"/>
                        </a:lnSpc>
                        <a:spcBef>
                          <a:spcPts val="0"/>
                        </a:spcBef>
                        <a:spcAft>
                          <a:spcPts val="0"/>
                        </a:spcAft>
                      </a:pPr>
                      <a:r>
                        <a:rPr sz="2400" b="1" i="0">
                          <a:solidFill>
                            <a:srgbClr val="F4A564"/>
                          </a:solidFill>
                          <a:latin typeface="Arial"/>
                          <a:ea typeface="Arial"/>
                          <a:cs typeface="Arial"/>
                        </a:rPr>
                        <a:t>● </a:t>
                      </a:r>
                      <a:r>
                        <a:rPr sz="2400" b="1" i="0">
                          <a:solidFill>
                            <a:srgbClr val="FFFFFF"/>
                          </a:solidFill>
                          <a:latin typeface="Arial"/>
                          <a:ea typeface="Arial"/>
                          <a:cs typeface="Arial"/>
                        </a:rPr>
                        <a:t>Winter 2020–21</a:t>
                      </a:r>
                      <a:endParaRPr lang="en-GB" sz="2400"/>
                    </a:p>
                  </a:txBody>
                  <a:tcPr marL="108000" marR="108000" marT="36000" marB="36000" anchor="ctr">
                    <a:lnL w="0">
                      <a:noFill/>
                    </a:lnL>
                    <a:lnR w="0">
                      <a:noFill/>
                    </a:lnR>
                    <a:lnT w="0">
                      <a:noFill/>
                    </a:lnT>
                    <a:lnB w="0">
                      <a:noFill/>
                    </a:lnB>
                    <a:solidFill>
                      <a:srgbClr val="17685C"/>
                    </a:solidFill>
                  </a:tcPr>
                </a:tc>
              </a:tr>
              <a:tr h="475488">
                <a:tc>
                  <a:txBody>
                    <a:bodyPr wrap="square"/>
                    <a:lstStyle/>
                    <a:p>
                      <a:pPr algn="l">
                        <a:lnSpc>
                          <a:spcPct val="108700"/>
                        </a:lnSpc>
                        <a:spcBef>
                          <a:spcPts val="0"/>
                        </a:spcBef>
                        <a:spcAft>
                          <a:spcPts val="0"/>
                        </a:spcAft>
                      </a:pPr>
                      <a:r>
                        <a:rPr sz="2400" b="0" i="0">
                          <a:solidFill>
                            <a:srgbClr val="1E1E1E"/>
                          </a:solidFill>
                          <a:latin typeface="Arial"/>
                          <a:ea typeface="Arial"/>
                          <a:cs typeface="Arial"/>
                        </a:rPr>
                        <a:t>Descending (S1A, HH)</a:t>
                      </a:r>
                      <a:endParaRPr lang="en-GB" sz="2400"/>
                    </a:p>
                  </a:txBody>
                  <a:tcPr marL="108000" marR="108000" marT="36000" marB="360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17 Feb – 6 Apr · 4 pairs</a:t>
                      </a:r>
                      <a:endParaRPr lang="en-GB" sz="2400"/>
                    </a:p>
                  </a:txBody>
                  <a:tcPr marL="108000" marR="108000" marT="36000" marB="360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14 Mar – 7 Apr · 2 pairs</a:t>
                      </a:r>
                      <a:endParaRPr lang="en-GB" sz="2400"/>
                    </a:p>
                  </a:txBody>
                  <a:tcPr marL="108000" marR="108000" marT="36000" marB="36000" anchor="ctr">
                    <a:lnL w="0">
                      <a:noFill/>
                    </a:lnL>
                    <a:lnR w="0">
                      <a:noFill/>
                    </a:lnR>
                    <a:lnT w="0">
                      <a:noFill/>
                    </a:lnT>
                    <a:lnB w="12600">
                      <a:solidFill>
                        <a:srgbClr val="D6D6D6"/>
                      </a:solidFill>
                    </a:lnB>
                    <a:solidFill>
                      <a:srgbClr val="FFFFFF"/>
                    </a:solidFill>
                  </a:tcPr>
                </a:tc>
              </a:tr>
              <a:tr h="475488">
                <a:tc>
                  <a:txBody>
                    <a:bodyPr wrap="square"/>
                    <a:lstStyle/>
                    <a:p>
                      <a:pPr algn="l">
                        <a:lnSpc>
                          <a:spcPct val="108700"/>
                        </a:lnSpc>
                        <a:spcBef>
                          <a:spcPts val="0"/>
                        </a:spcBef>
                        <a:spcAft>
                          <a:spcPts val="0"/>
                        </a:spcAft>
                      </a:pPr>
                      <a:r>
                        <a:rPr sz="2400" b="0" i="0">
                          <a:solidFill>
                            <a:srgbClr val="1E1E1E"/>
                          </a:solidFill>
                          <a:latin typeface="Arial"/>
                          <a:ea typeface="Arial"/>
                          <a:cs typeface="Arial"/>
                        </a:rPr>
                        <a:t>Ascending (S1B, VV)</a:t>
                      </a:r>
                      <a:endParaRPr lang="en-GB" sz="2400"/>
                    </a:p>
                  </a:txBody>
                  <a:tcPr marL="108000" marR="108000" marT="36000" marB="360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21 Feb – 17 Mar · 2 pairs</a:t>
                      </a:r>
                      <a:endParaRPr lang="en-GB" sz="2400"/>
                    </a:p>
                  </a:txBody>
                  <a:tcPr marL="108000" marR="108000" marT="36000" marB="360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18 Mar – 23 Apr · 3 pairs</a:t>
                      </a:r>
                      <a:endParaRPr lang="en-GB" sz="2400"/>
                    </a:p>
                  </a:txBody>
                  <a:tcPr marL="108000" marR="108000" marT="36000" marB="36000" anchor="ctr">
                    <a:lnL w="0">
                      <a:noFill/>
                    </a:lnL>
                    <a:lnR w="0">
                      <a:noFill/>
                    </a:lnR>
                    <a:lnT w="0">
                      <a:noFill/>
                    </a:lnT>
                    <a:lnB w="12600">
                      <a:solidFill>
                        <a:srgbClr val="D6D6D6"/>
                      </a:solidFill>
                    </a:lnB>
                    <a:solidFill>
                      <a:srgbClr val="FFFFFF"/>
                    </a:solidFill>
                  </a:tcPr>
                </a:tc>
              </a:tr>
              <a:tr h="475488">
                <a:tc>
                  <a:txBody>
                    <a:bodyPr wrap="square"/>
                    <a:lstStyle/>
                    <a:p>
                      <a:pPr algn="l">
                        <a:lnSpc>
                          <a:spcPct val="108700"/>
                        </a:lnSpc>
                        <a:spcBef>
                          <a:spcPts val="0"/>
                        </a:spcBef>
                        <a:spcAft>
                          <a:spcPts val="0"/>
                        </a:spcAft>
                      </a:pPr>
                      <a:r>
                        <a:rPr sz="2400" b="1" i="0">
                          <a:solidFill>
                            <a:srgbClr val="1E1E1E"/>
                          </a:solidFill>
                          <a:latin typeface="Arial"/>
                          <a:ea typeface="Arial"/>
                          <a:cs typeface="Arial"/>
                        </a:rPr>
                        <a:t>Overlap used for 2-D motion</a:t>
                      </a:r>
                      <a:endParaRPr lang="en-GB" sz="2400"/>
                    </a:p>
                  </a:txBody>
                  <a:tcPr marL="108000" marR="108000" marT="36000" marB="36000" anchor="ctr">
                    <a:lnL w="0">
                      <a:noFill/>
                    </a:lnL>
                    <a:lnR w="0">
                      <a:noFill/>
                    </a:lnR>
                    <a:lnT w="0">
                      <a:noFill/>
                    </a:lnT>
                    <a:lnB w="0">
                      <a:noFill/>
                    </a:lnB>
                    <a:solidFill>
                      <a:srgbClr val="E6F0EE"/>
                    </a:solidFill>
                  </a:tcPr>
                </a:tc>
                <a:tc>
                  <a:txBody>
                    <a:bodyPr wrap="square"/>
                    <a:lstStyle/>
                    <a:p>
                      <a:pPr algn="l">
                        <a:lnSpc>
                          <a:spcPct val="108700"/>
                        </a:lnSpc>
                        <a:spcBef>
                          <a:spcPts val="0"/>
                        </a:spcBef>
                        <a:spcAft>
                          <a:spcPts val="0"/>
                        </a:spcAft>
                      </a:pPr>
                      <a:r>
                        <a:rPr sz="2400" b="1" i="0">
                          <a:solidFill>
                            <a:srgbClr val="1E1E1E"/>
                          </a:solidFill>
                          <a:latin typeface="Arial"/>
                          <a:ea typeface="Arial"/>
                          <a:cs typeface="Arial"/>
                        </a:rPr>
                        <a:t>21 Feb – 17 Mar (24 days)</a:t>
                      </a:r>
                      <a:endParaRPr lang="en-GB" sz="2400"/>
                    </a:p>
                  </a:txBody>
                  <a:tcPr marL="108000" marR="108000" marT="36000" marB="36000" anchor="ctr">
                    <a:lnL w="0">
                      <a:noFill/>
                    </a:lnL>
                    <a:lnR w="0">
                      <a:noFill/>
                    </a:lnR>
                    <a:lnT w="0">
                      <a:noFill/>
                    </a:lnT>
                    <a:lnB w="0">
                      <a:noFill/>
                    </a:lnB>
                    <a:solidFill>
                      <a:srgbClr val="E6F0EE"/>
                    </a:solidFill>
                  </a:tcPr>
                </a:tc>
                <a:tc>
                  <a:txBody>
                    <a:bodyPr wrap="square"/>
                    <a:lstStyle/>
                    <a:p>
                      <a:pPr algn="l">
                        <a:lnSpc>
                          <a:spcPct val="108700"/>
                        </a:lnSpc>
                        <a:spcBef>
                          <a:spcPts val="0"/>
                        </a:spcBef>
                        <a:spcAft>
                          <a:spcPts val="0"/>
                        </a:spcAft>
                      </a:pPr>
                      <a:r>
                        <a:rPr sz="2400" b="1" i="0">
                          <a:solidFill>
                            <a:srgbClr val="1E1E1E"/>
                          </a:solidFill>
                          <a:latin typeface="Arial"/>
                          <a:ea typeface="Arial"/>
                          <a:cs typeface="Arial"/>
                        </a:rPr>
                        <a:t>18 Mar – 7 Apr (20 days)</a:t>
                      </a:r>
                      <a:endParaRPr lang="en-GB" sz="2400"/>
                    </a:p>
                  </a:txBody>
                  <a:tcPr marL="108000" marR="108000" marT="36000" marB="36000" anchor="ctr">
                    <a:lnL w="0">
                      <a:noFill/>
                    </a:lnL>
                    <a:lnR w="0">
                      <a:noFill/>
                    </a:lnR>
                    <a:lnT w="0">
                      <a:noFill/>
                    </a:lnT>
                    <a:lnB w="0">
                      <a:noFill/>
                    </a:lnB>
                    <a:solidFill>
                      <a:srgbClr val="E6F0EE"/>
                    </a:solidFill>
                  </a:tcPr>
                </a:tc>
              </a:tr>
            </a:tbl>
          </a:graphicData>
        </a:graphic>
      </p:graphicFrame>
      <p:sp>
        <p:nvSpPr>
          <p:cNvPr id="51" name="Method step 1 card"/>
          <p:cNvSpPr/>
          <p:nvPr/>
        </p:nvSpPr>
        <p:spPr>
          <a:xfrm>
            <a:off x="730800" y="16687800"/>
            <a:ext cx="6935400" cy="1993392"/>
          </a:xfrm>
          <a:prstGeom prst="roundRect">
            <a:avLst>
              <a:gd name="adj" fmla="val 4447"/>
            </a:avLst>
          </a:prstGeom>
          <a:solidFill>
            <a:srgbClr val="E6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Method step 1 number"/>
          <p:cNvSpPr/>
          <p:nvPr/>
        </p:nvSpPr>
        <p:spPr>
          <a:xfrm>
            <a:off x="896112" y="16797528"/>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1</a:t>
            </a:r>
            <a:endParaRPr lang="en-GB" sz="2400"/>
          </a:p>
        </p:txBody>
      </p:sp>
      <p:sp>
        <p:nvSpPr>
          <p:cNvPr id="53" name="Method step 1 title"/>
          <p:cNvSpPr txBox="1"/>
          <p:nvPr/>
        </p:nvSpPr>
        <p:spPr>
          <a:xfrm>
            <a:off x="1426464" y="16797528"/>
            <a:ext cx="6080760" cy="411480"/>
          </a:xfrm>
          <a:prstGeom prst="rect">
            <a:avLst/>
          </a:prstGeom>
          <a:noFill/>
        </p:spPr>
        <p:txBody>
          <a:bodyPr wrap="square" lIns="0" tIns="0" rIns="0" bIns="0" anchor="t">
            <a:noAutofit/>
          </a:bodyPr>
          <a:lstStyle/>
          <a:p>
            <a:pPr algn="l">
              <a:lnSpc>
                <a:spcPct val="104300"/>
              </a:lnSpc>
              <a:spcBef>
                <a:spcPts val="0"/>
              </a:spcBef>
              <a:spcAft>
                <a:spcPts val="0"/>
              </a:spcAft>
            </a:pPr>
            <a:r>
              <a:rPr sz="2400" b="1" i="0">
                <a:solidFill>
                  <a:srgbClr val="125F55"/>
                </a:solidFill>
                <a:latin typeface="Arial"/>
                <a:ea typeface="Arial"/>
                <a:cs typeface="Arial"/>
              </a:rPr>
              <a:t>Make interferograms</a:t>
            </a:r>
            <a:endParaRPr lang="en-GB" sz="2400"/>
          </a:p>
        </p:txBody>
      </p:sp>
      <p:sp>
        <p:nvSpPr>
          <p:cNvPr id="54" name="Method step 1 text"/>
          <p:cNvSpPr txBox="1"/>
          <p:nvPr/>
        </p:nvSpPr>
        <p:spPr>
          <a:xfrm>
            <a:off x="896112" y="17263872"/>
            <a:ext cx="6611112" cy="1225296"/>
          </a:xfrm>
          <a:prstGeom prst="rect">
            <a:avLst/>
          </a:prstGeom>
          <a:noFill/>
        </p:spPr>
        <p:txBody>
          <a:bodyPr wrap="square" lIns="0" tIns="0" rIns="0" bIns="0" anchor="t">
            <a:noAutofit/>
          </a:bodyPr>
          <a:lstStyle/>
          <a:p>
            <a:pPr algn="l">
              <a:lnSpc>
                <a:spcPct val="110400"/>
              </a:lnSpc>
              <a:spcBef>
                <a:spcPts val="0"/>
              </a:spcBef>
              <a:spcAft>
                <a:spcPts val="0"/>
              </a:spcAft>
            </a:pPr>
            <a:r>
              <a:rPr sz="2400" b="0" i="0">
                <a:solidFill>
                  <a:srgbClr val="1E1E1E"/>
                </a:solidFill>
                <a:latin typeface="Arial"/>
                <a:ea typeface="Arial"/>
                <a:cs typeface="Arial"/>
              </a:rPr>
              <a:t>Each 12-day pair → one interferogram, processed free in the cloud (ASF HyP3).</a:t>
            </a:r>
            <a:endParaRPr lang="en-GB" sz="2400"/>
          </a:p>
        </p:txBody>
      </p:sp>
      <p:sp>
        <p:nvSpPr>
          <p:cNvPr id="55" name="Method step 2 card"/>
          <p:cNvSpPr/>
          <p:nvPr/>
        </p:nvSpPr>
        <p:spPr>
          <a:xfrm>
            <a:off x="7990200" y="16687800"/>
            <a:ext cx="6935400" cy="1993392"/>
          </a:xfrm>
          <a:prstGeom prst="roundRect">
            <a:avLst>
              <a:gd name="adj" fmla="val 4447"/>
            </a:avLst>
          </a:prstGeom>
          <a:solidFill>
            <a:srgbClr val="E6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Method step 2 number"/>
          <p:cNvSpPr/>
          <p:nvPr/>
        </p:nvSpPr>
        <p:spPr>
          <a:xfrm>
            <a:off x="8156448" y="16797528"/>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2</a:t>
            </a:r>
            <a:endParaRPr lang="en-GB" sz="2400"/>
          </a:p>
        </p:txBody>
      </p:sp>
      <p:sp>
        <p:nvSpPr>
          <p:cNvPr id="57" name="Method step 2 title"/>
          <p:cNvSpPr txBox="1"/>
          <p:nvPr/>
        </p:nvSpPr>
        <p:spPr>
          <a:xfrm>
            <a:off x="8686800" y="16797528"/>
            <a:ext cx="6080760" cy="411480"/>
          </a:xfrm>
          <a:prstGeom prst="rect">
            <a:avLst/>
          </a:prstGeom>
          <a:noFill/>
        </p:spPr>
        <p:txBody>
          <a:bodyPr wrap="square" lIns="0" tIns="0" rIns="0" bIns="0" anchor="t">
            <a:noAutofit/>
          </a:bodyPr>
          <a:lstStyle/>
          <a:p>
            <a:pPr algn="l">
              <a:lnSpc>
                <a:spcPct val="104300"/>
              </a:lnSpc>
              <a:spcBef>
                <a:spcPts val="0"/>
              </a:spcBef>
              <a:spcAft>
                <a:spcPts val="0"/>
              </a:spcAft>
            </a:pPr>
            <a:r>
              <a:rPr sz="2400" b="1" i="0">
                <a:solidFill>
                  <a:srgbClr val="125F55"/>
                </a:solidFill>
                <a:latin typeface="Arial"/>
                <a:ea typeface="Arial"/>
                <a:cs typeface="Arial"/>
              </a:rPr>
              <a:t>Date the lock-in</a:t>
            </a:r>
            <a:endParaRPr lang="en-GB" sz="2400"/>
          </a:p>
        </p:txBody>
      </p:sp>
      <p:sp>
        <p:nvSpPr>
          <p:cNvPr id="58" name="Method step 2 text"/>
          <p:cNvSpPr txBox="1"/>
          <p:nvPr/>
        </p:nvSpPr>
        <p:spPr>
          <a:xfrm>
            <a:off x="8156448" y="17263872"/>
            <a:ext cx="6611112" cy="1225296"/>
          </a:xfrm>
          <a:prstGeom prst="rect">
            <a:avLst/>
          </a:prstGeom>
          <a:noFill/>
        </p:spPr>
        <p:txBody>
          <a:bodyPr wrap="square" lIns="0" tIns="0" rIns="0" bIns="0" anchor="t">
            <a:noAutofit/>
          </a:bodyPr>
          <a:lstStyle/>
          <a:p>
            <a:pPr algn="l">
              <a:lnSpc>
                <a:spcPct val="110400"/>
              </a:lnSpc>
              <a:spcBef>
                <a:spcPts val="0"/>
              </a:spcBef>
              <a:spcAft>
                <a:spcPts val="0"/>
              </a:spcAft>
            </a:pPr>
            <a:r>
              <a:rPr sz="2400" b="0" i="0">
                <a:solidFill>
                  <a:srgbClr val="1E1E1E"/>
                </a:solidFill>
                <a:latin typeface="Arial"/>
                <a:ea typeface="Arial"/>
                <a:cs typeface="Arial"/>
              </a:rPr>
              <a:t>Every 12 days: share of sea ice with coherence &gt; 0.4. </a:t>
            </a:r>
            <a:r>
              <a:rPr sz="2400" b="1" i="0">
                <a:solidFill>
                  <a:srgbClr val="1E1E1E"/>
                </a:solidFill>
                <a:latin typeface="Arial"/>
                <a:ea typeface="Arial"/>
                <a:cs typeface="Arial"/>
              </a:rPr>
              <a:t>Onset</a:t>
            </a:r>
            <a:r>
              <a:rPr sz="2400" b="0" i="0">
                <a:solidFill>
                  <a:srgbClr val="1E1E1E"/>
                </a:solidFill>
                <a:latin typeface="Arial"/>
                <a:ea typeface="Arial"/>
                <a:cs typeface="Arial"/>
              </a:rPr>
              <a:t> = first date it stays above 50%.</a:t>
            </a:r>
            <a:endParaRPr lang="en-GB" sz="2400"/>
          </a:p>
        </p:txBody>
      </p:sp>
      <p:sp>
        <p:nvSpPr>
          <p:cNvPr id="59" name="Method step 3 card"/>
          <p:cNvSpPr/>
          <p:nvPr/>
        </p:nvSpPr>
        <p:spPr>
          <a:xfrm>
            <a:off x="15249600" y="16687800"/>
            <a:ext cx="6935400" cy="1993392"/>
          </a:xfrm>
          <a:prstGeom prst="roundRect">
            <a:avLst>
              <a:gd name="adj" fmla="val 4447"/>
            </a:avLst>
          </a:prstGeom>
          <a:solidFill>
            <a:srgbClr val="E6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Method step 3 number"/>
          <p:cNvSpPr/>
          <p:nvPr/>
        </p:nvSpPr>
        <p:spPr>
          <a:xfrm>
            <a:off x="15416784" y="16797528"/>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3</a:t>
            </a:r>
            <a:endParaRPr lang="en-GB" sz="2400"/>
          </a:p>
        </p:txBody>
      </p:sp>
      <p:sp>
        <p:nvSpPr>
          <p:cNvPr id="61" name="Method step 3 title"/>
          <p:cNvSpPr txBox="1"/>
          <p:nvPr/>
        </p:nvSpPr>
        <p:spPr>
          <a:xfrm>
            <a:off x="15947136" y="16797528"/>
            <a:ext cx="6080760" cy="411480"/>
          </a:xfrm>
          <a:prstGeom prst="rect">
            <a:avLst/>
          </a:prstGeom>
          <a:noFill/>
        </p:spPr>
        <p:txBody>
          <a:bodyPr wrap="square" lIns="0" tIns="0" rIns="0" bIns="0" anchor="t">
            <a:noAutofit/>
          </a:bodyPr>
          <a:lstStyle/>
          <a:p>
            <a:pPr algn="l">
              <a:lnSpc>
                <a:spcPct val="104300"/>
              </a:lnSpc>
              <a:spcBef>
                <a:spcPts val="0"/>
              </a:spcBef>
              <a:spcAft>
                <a:spcPts val="0"/>
              </a:spcAft>
            </a:pPr>
            <a:r>
              <a:rPr sz="2400" b="1" i="0">
                <a:solidFill>
                  <a:srgbClr val="125F55"/>
                </a:solidFill>
                <a:latin typeface="Arial"/>
                <a:ea typeface="Arial"/>
                <a:cs typeface="Arial"/>
              </a:rPr>
              <a:t>Track motion over time</a:t>
            </a:r>
            <a:endParaRPr lang="en-GB" sz="2400"/>
          </a:p>
        </p:txBody>
      </p:sp>
      <p:sp>
        <p:nvSpPr>
          <p:cNvPr id="62" name="Method step 3 text"/>
          <p:cNvSpPr txBox="1"/>
          <p:nvPr/>
        </p:nvSpPr>
        <p:spPr>
          <a:xfrm>
            <a:off x="15416784" y="17263872"/>
            <a:ext cx="6611112" cy="1225296"/>
          </a:xfrm>
          <a:prstGeom prst="rect">
            <a:avLst/>
          </a:prstGeom>
          <a:noFill/>
        </p:spPr>
        <p:txBody>
          <a:bodyPr wrap="square" lIns="0" tIns="0" rIns="0" bIns="0" anchor="t">
            <a:noAutofit/>
          </a:bodyPr>
          <a:lstStyle/>
          <a:p>
            <a:pPr algn="l">
              <a:lnSpc>
                <a:spcPct val="110400"/>
              </a:lnSpc>
              <a:spcBef>
                <a:spcPts val="0"/>
              </a:spcBef>
              <a:spcAft>
                <a:spcPts val="0"/>
              </a:spcAft>
            </a:pPr>
            <a:r>
              <a:rPr sz="2400" b="0" i="0">
                <a:solidFill>
                  <a:srgbClr val="1E1E1E"/>
                </a:solidFill>
                <a:latin typeface="Arial"/>
                <a:ea typeface="Arial"/>
                <a:cs typeface="Arial"/>
              </a:rPr>
              <a:t>SBAS time series [3], tied to fixed land (Arctic Research Station); ramps removed over stable land.</a:t>
            </a:r>
            <a:endParaRPr lang="en-GB" sz="2400"/>
          </a:p>
        </p:txBody>
      </p:sp>
      <p:sp>
        <p:nvSpPr>
          <p:cNvPr id="63" name="Method step 4 card"/>
          <p:cNvSpPr/>
          <p:nvPr/>
        </p:nvSpPr>
        <p:spPr>
          <a:xfrm>
            <a:off x="22509000" y="16687800"/>
            <a:ext cx="6935400" cy="1993392"/>
          </a:xfrm>
          <a:prstGeom prst="roundRect">
            <a:avLst>
              <a:gd name="adj" fmla="val 4447"/>
            </a:avLst>
          </a:prstGeom>
          <a:solidFill>
            <a:srgbClr val="E6F0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Method step 4 number"/>
          <p:cNvSpPr/>
          <p:nvPr/>
        </p:nvSpPr>
        <p:spPr>
          <a:xfrm>
            <a:off x="22677120" y="16797528"/>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4</a:t>
            </a:r>
            <a:endParaRPr lang="en-GB" sz="2400"/>
          </a:p>
        </p:txBody>
      </p:sp>
      <p:sp>
        <p:nvSpPr>
          <p:cNvPr id="65" name="Method step 4 title"/>
          <p:cNvSpPr txBox="1"/>
          <p:nvPr/>
        </p:nvSpPr>
        <p:spPr>
          <a:xfrm>
            <a:off x="23207472" y="16797528"/>
            <a:ext cx="6080760" cy="411480"/>
          </a:xfrm>
          <a:prstGeom prst="rect">
            <a:avLst/>
          </a:prstGeom>
          <a:noFill/>
        </p:spPr>
        <p:txBody>
          <a:bodyPr wrap="square" lIns="0" tIns="0" rIns="0" bIns="0" anchor="t">
            <a:noAutofit/>
          </a:bodyPr>
          <a:lstStyle/>
          <a:p>
            <a:pPr algn="l">
              <a:lnSpc>
                <a:spcPct val="104300"/>
              </a:lnSpc>
              <a:spcBef>
                <a:spcPts val="0"/>
              </a:spcBef>
              <a:spcAft>
                <a:spcPts val="0"/>
              </a:spcAft>
            </a:pPr>
            <a:r>
              <a:rPr sz="2400" b="1" i="0">
                <a:solidFill>
                  <a:srgbClr val="125F55"/>
                </a:solidFill>
                <a:latin typeface="Arial"/>
                <a:ea typeface="Arial"/>
                <a:cs typeface="Arial"/>
              </a:rPr>
              <a:t>Split into 2-D motion</a:t>
            </a:r>
            <a:endParaRPr lang="en-GB" sz="2400"/>
          </a:p>
        </p:txBody>
      </p:sp>
      <p:sp>
        <p:nvSpPr>
          <p:cNvPr id="66" name="Method step 4 text"/>
          <p:cNvSpPr txBox="1"/>
          <p:nvPr/>
        </p:nvSpPr>
        <p:spPr>
          <a:xfrm>
            <a:off x="22677120" y="17263872"/>
            <a:ext cx="6611112" cy="1225296"/>
          </a:xfrm>
          <a:prstGeom prst="rect">
            <a:avLst/>
          </a:prstGeom>
          <a:noFill/>
        </p:spPr>
        <p:txBody>
          <a:bodyPr wrap="square" lIns="0" tIns="0" rIns="0" bIns="0" anchor="t">
            <a:noAutofit/>
          </a:bodyPr>
          <a:lstStyle/>
          <a:p>
            <a:pPr algn="l">
              <a:lnSpc>
                <a:spcPct val="110400"/>
              </a:lnSpc>
              <a:spcBef>
                <a:spcPts val="0"/>
              </a:spcBef>
              <a:spcAft>
                <a:spcPts val="0"/>
              </a:spcAft>
            </a:pPr>
            <a:r>
              <a:rPr sz="2400" b="0" i="0">
                <a:solidFill>
                  <a:srgbClr val="1E1E1E"/>
                </a:solidFill>
                <a:latin typeface="Arial"/>
                <a:ea typeface="Arial"/>
                <a:cs typeface="Arial"/>
              </a:rPr>
              <a:t>Descending looks west, ascending looks east; combining both gives east–west and up–down motion at P1–P4.</a:t>
            </a:r>
            <a:endParaRPr lang="en-GB" sz="2400"/>
          </a:p>
        </p:txBody>
      </p:sp>
      <p:sp>
        <p:nvSpPr>
          <p:cNvPr id="67" name="Method step 1 details"/>
          <p:cNvSpPr txBox="1"/>
          <p:nvPr/>
        </p:nvSpPr>
        <p:spPr>
          <a:xfrm>
            <a:off x="892800" y="18086832"/>
            <a:ext cx="6611400" cy="411480"/>
          </a:xfrm>
          <a:prstGeom prst="rect">
            <a:avLst/>
          </a:prstGeom>
          <a:noFill/>
        </p:spPr>
        <p:txBody>
          <a:bodyPr wrap="square" lIns="0" tIns="0" rIns="0" bIns="0" anchor="t">
            <a:noAutofit/>
          </a:bodyPr>
          <a:lstStyle/>
          <a:p>
            <a:pPr algn="l">
              <a:lnSpc>
                <a:spcPct val="113000"/>
              </a:lnSpc>
              <a:spcBef>
                <a:spcPts val="0"/>
              </a:spcBef>
              <a:spcAft>
                <a:spcPts val="0"/>
              </a:spcAft>
            </a:pPr>
            <a:r>
              <a:rPr sz="2400" b="0" i="0">
                <a:solidFill>
                  <a:srgbClr val="626262"/>
                </a:solidFill>
                <a:latin typeface="Arial"/>
                <a:ea typeface="Arial"/>
                <a:cs typeface="Arial"/>
              </a:rPr>
              <a:t>GAMMA · 20 × 4 looks (80 m) · GLO-30 DEM</a:t>
            </a:r>
            <a:endParaRPr lang="en-GB" sz="2400"/>
          </a:p>
        </p:txBody>
      </p:sp>
      <p:sp>
        <p:nvSpPr>
          <p:cNvPr id="68" name="Method arrow 1"/>
          <p:cNvSpPr/>
          <p:nvPr/>
        </p:nvSpPr>
        <p:spPr>
          <a:xfrm>
            <a:off x="7734600" y="17519904"/>
            <a:ext cx="187200" cy="324000"/>
          </a:xfrm>
          <a:prstGeom prst="chevron">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Method arrow 2"/>
          <p:cNvSpPr/>
          <p:nvPr/>
        </p:nvSpPr>
        <p:spPr>
          <a:xfrm>
            <a:off x="14994000" y="17519904"/>
            <a:ext cx="187200" cy="324000"/>
          </a:xfrm>
          <a:prstGeom prst="chevron">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Method arrow 3"/>
          <p:cNvSpPr/>
          <p:nvPr/>
        </p:nvSpPr>
        <p:spPr>
          <a:xfrm>
            <a:off x="22253400" y="17519904"/>
            <a:ext cx="187200" cy="324000"/>
          </a:xfrm>
          <a:prstGeom prst="chevron">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Question 1"/>
          <p:cNvSpPr txBox="1"/>
          <p:nvPr/>
        </p:nvSpPr>
        <p:spPr>
          <a:xfrm>
            <a:off x="730800" y="19586448"/>
            <a:ext cx="14122800" cy="384048"/>
          </a:xfrm>
          <a:prstGeom prst="rect">
            <a:avLst/>
          </a:prstGeom>
          <a:noFill/>
        </p:spPr>
        <p:txBody>
          <a:bodyPr wrap="square" lIns="0" tIns="0" rIns="0" bIns="0" anchor="t">
            <a:noAutofit/>
          </a:bodyPr>
          <a:lstStyle/>
          <a:p>
            <a:pPr algn="l">
              <a:lnSpc>
                <a:spcPct val="104300"/>
              </a:lnSpc>
              <a:spcBef>
                <a:spcPts val="0"/>
              </a:spcBef>
              <a:spcAft>
                <a:spcPts val="0"/>
              </a:spcAft>
            </a:pPr>
            <a:r>
              <a:rPr sz="2400" b="1" i="0" spc="150">
                <a:solidFill>
                  <a:srgbClr val="626262"/>
                </a:solidFill>
                <a:latin typeface="Arial"/>
                <a:ea typeface="Arial"/>
                <a:cs typeface="Arial"/>
              </a:rPr>
              <a:t>Q1 · WHEN DID THE ICE LOCK IN?</a:t>
            </a:r>
            <a:endParaRPr lang="en-GB" sz="2400"/>
          </a:p>
        </p:txBody>
      </p:sp>
      <p:sp>
        <p:nvSpPr>
          <p:cNvPr id="72" name="Answer headline 1"/>
          <p:cNvSpPr txBox="1"/>
          <p:nvPr/>
        </p:nvSpPr>
        <p:spPr>
          <a:xfrm>
            <a:off x="730800" y="19970496"/>
            <a:ext cx="14122800" cy="457200"/>
          </a:xfrm>
          <a:prstGeom prst="rect">
            <a:avLst/>
          </a:prstGeom>
          <a:noFill/>
        </p:spPr>
        <p:txBody>
          <a:bodyPr wrap="square" lIns="0" tIns="0" rIns="0" bIns="0" anchor="t">
            <a:noAutofit/>
          </a:bodyPr>
          <a:lstStyle/>
          <a:p>
            <a:pPr algn="l">
              <a:lnSpc>
                <a:spcPct val="102600"/>
              </a:lnSpc>
              <a:spcBef>
                <a:spcPts val="0"/>
              </a:spcBef>
              <a:spcAft>
                <a:spcPts val="0"/>
              </a:spcAft>
            </a:pPr>
            <a:r>
              <a:rPr sz="2700" b="1" i="0">
                <a:solidFill>
                  <a:srgbClr val="125F55"/>
                </a:solidFill>
                <a:latin typeface="Arial"/>
                <a:ea typeface="Arial"/>
                <a:cs typeface="Arial"/>
              </a:rPr>
              <a:t>In 2021 the ice locked in 49 days later than in 2019</a:t>
            </a:r>
            <a:endParaRPr lang="en-GB" sz="2700"/>
          </a:p>
        </p:txBody>
      </p:sp>
      <p:sp>
        <p:nvSpPr>
          <p:cNvPr id="73" name="Question 2"/>
          <p:cNvSpPr txBox="1"/>
          <p:nvPr/>
        </p:nvSpPr>
        <p:spPr>
          <a:xfrm>
            <a:off x="15321600" y="19586448"/>
            <a:ext cx="14122800" cy="384048"/>
          </a:xfrm>
          <a:prstGeom prst="rect">
            <a:avLst/>
          </a:prstGeom>
          <a:noFill/>
        </p:spPr>
        <p:txBody>
          <a:bodyPr wrap="square" lIns="0" tIns="0" rIns="0" bIns="0" anchor="t">
            <a:noAutofit/>
          </a:bodyPr>
          <a:lstStyle/>
          <a:p>
            <a:pPr algn="l">
              <a:lnSpc>
                <a:spcPct val="104300"/>
              </a:lnSpc>
              <a:spcBef>
                <a:spcPts val="0"/>
              </a:spcBef>
              <a:spcAft>
                <a:spcPts val="0"/>
              </a:spcAft>
            </a:pPr>
            <a:r>
              <a:rPr sz="2400" b="1" i="0" spc="150">
                <a:solidFill>
                  <a:srgbClr val="626262"/>
                </a:solidFill>
                <a:latin typeface="Arial"/>
                <a:ea typeface="Arial"/>
                <a:cs typeface="Arial"/>
              </a:rPr>
              <a:t>WHAT DOES THE RAW RADAR SIGNAL SHOW? · BOTH WINTERS</a:t>
            </a:r>
            <a:endParaRPr lang="en-GB" sz="2400"/>
          </a:p>
        </p:txBody>
      </p:sp>
      <p:sp>
        <p:nvSpPr>
          <p:cNvPr id="74" name="Answer headline 2"/>
          <p:cNvSpPr txBox="1"/>
          <p:nvPr/>
        </p:nvSpPr>
        <p:spPr>
          <a:xfrm>
            <a:off x="15321600" y="19970496"/>
            <a:ext cx="14122800" cy="457200"/>
          </a:xfrm>
          <a:prstGeom prst="rect">
            <a:avLst/>
          </a:prstGeom>
          <a:noFill/>
        </p:spPr>
        <p:txBody>
          <a:bodyPr wrap="square" lIns="0" tIns="0" rIns="0" bIns="0" anchor="t">
            <a:noAutofit/>
          </a:bodyPr>
          <a:lstStyle/>
          <a:p>
            <a:pPr algn="l">
              <a:lnSpc>
                <a:spcPct val="102600"/>
              </a:lnSpc>
              <a:spcBef>
                <a:spcPts val="0"/>
              </a:spcBef>
              <a:spcAft>
                <a:spcPts val="0"/>
              </a:spcAft>
            </a:pPr>
            <a:r>
              <a:rPr sz="2700" b="1" i="0">
                <a:solidFill>
                  <a:srgbClr val="125F55"/>
                </a:solidFill>
                <a:latin typeface="Arial"/>
                <a:ea typeface="Arial"/>
                <a:cs typeface="Arial"/>
              </a:rPr>
              <a:t>Clear stripes from February in 2019, but only from mid-March in 2021</a:t>
            </a:r>
            <a:endParaRPr lang="en-GB" sz="2700"/>
          </a:p>
        </p:txBody>
      </p:sp>
      <p:sp>
        <p:nvSpPr>
          <p:cNvPr id="75" name="Question 3"/>
          <p:cNvSpPr txBox="1"/>
          <p:nvPr/>
        </p:nvSpPr>
        <p:spPr>
          <a:xfrm>
            <a:off x="730800" y="28072080"/>
            <a:ext cx="28713600" cy="384048"/>
          </a:xfrm>
          <a:prstGeom prst="rect">
            <a:avLst/>
          </a:prstGeom>
          <a:noFill/>
        </p:spPr>
        <p:txBody>
          <a:bodyPr wrap="square" lIns="0" tIns="0" rIns="0" bIns="0" anchor="t">
            <a:noAutofit/>
          </a:bodyPr>
          <a:lstStyle/>
          <a:p>
            <a:pPr algn="l">
              <a:lnSpc>
                <a:spcPct val="104300"/>
              </a:lnSpc>
              <a:spcBef>
                <a:spcPts val="0"/>
              </a:spcBef>
              <a:spcAft>
                <a:spcPts val="0"/>
              </a:spcAft>
            </a:pPr>
            <a:r>
              <a:rPr sz="2400" b="1" i="0" spc="150">
                <a:solidFill>
                  <a:srgbClr val="626262"/>
                </a:solidFill>
                <a:latin typeface="Arial"/>
                <a:ea typeface="Arial"/>
                <a:cs typeface="Arial"/>
              </a:rPr>
              <a:t>Q2 · HOW DID THE ICE MOVE? · FROM THE 8 INTERFEROGRAMS ABOVE</a:t>
            </a:r>
            <a:endParaRPr lang="en-GB" sz="2400"/>
          </a:p>
        </p:txBody>
      </p:sp>
      <p:sp>
        <p:nvSpPr>
          <p:cNvPr id="76" name="Answer headline 3"/>
          <p:cNvSpPr txBox="1"/>
          <p:nvPr/>
        </p:nvSpPr>
        <p:spPr>
          <a:xfrm>
            <a:off x="730800" y="28456128"/>
            <a:ext cx="28713600" cy="457200"/>
          </a:xfrm>
          <a:prstGeom prst="rect">
            <a:avLst/>
          </a:prstGeom>
          <a:noFill/>
        </p:spPr>
        <p:txBody>
          <a:bodyPr wrap="square" lIns="0" tIns="0" rIns="0" bIns="0" anchor="t">
            <a:noAutofit/>
          </a:bodyPr>
          <a:lstStyle/>
          <a:p>
            <a:pPr algn="l">
              <a:lnSpc>
                <a:spcPct val="102600"/>
              </a:lnSpc>
              <a:spcBef>
                <a:spcPts val="0"/>
              </a:spcBef>
              <a:spcAft>
                <a:spcPts val="0"/>
              </a:spcAft>
            </a:pPr>
            <a:r>
              <a:rPr sz="2700" b="1" i="0">
                <a:solidFill>
                  <a:srgbClr val="125F55"/>
                </a:solidFill>
                <a:latin typeface="Arial"/>
                <a:ea typeface="Arial"/>
                <a:cs typeface="Arial"/>
              </a:rPr>
              <a:t>Offshore (P4), the ice moved west 2.7× faster and rose instead of sinking in the late winter (2020–21)</a:t>
            </a:r>
            <a:endParaRPr lang="en-GB" sz="2700"/>
          </a:p>
        </p:txBody>
      </p:sp>
      <p:sp>
        <p:nvSpPr>
          <p:cNvPr id="78" name="Answer headline 4"/>
          <p:cNvSpPr txBox="1"/>
          <p:nvPr/>
        </p:nvSpPr>
        <p:spPr>
          <a:xfrm>
            <a:off x="13030200" y="34097976"/>
            <a:ext cx="16413480" cy="411480"/>
          </a:xfrm>
          <a:prstGeom prst="rect">
            <a:avLst/>
          </a:prstGeom>
          <a:noFill/>
        </p:spPr>
        <p:txBody>
          <a:bodyPr wrap="square" lIns="0" tIns="0" rIns="0" bIns="0" anchor="t">
            <a:noAutofit/>
          </a:bodyPr>
          <a:lstStyle/>
          <a:p>
            <a:pPr algn="l">
              <a:lnSpc>
                <a:spcPct val="102600"/>
              </a:lnSpc>
              <a:spcBef>
                <a:spcPts val="0"/>
              </a:spcBef>
              <a:spcAft>
                <a:spcPts val="0"/>
              </a:spcAft>
            </a:pPr>
            <a:r>
              <a:rPr sz="2500" b="1" i="0">
                <a:solidFill>
                  <a:srgbClr val="125F55"/>
                </a:solidFill>
                <a:latin typeface="Arial"/>
                <a:ea typeface="Arial"/>
                <a:cs typeface="Arial"/>
              </a:rPr>
              <a:t>Can we trust the numbers? Within 2 cm of a published study</a:t>
            </a:r>
            <a:endParaRPr lang="en-GB" sz="2500"/>
          </a:p>
        </p:txBody>
      </p:sp>
      <p:graphicFrame>
        <p:nvGraphicFramePr>
          <p:cNvPr id="79" name="Chart: coherent sea-ice share"/>
          <p:cNvGraphicFramePr>
            <a:graphicFrameLocks noGrp="1"/>
          </p:cNvGraphicFramePr>
          <p:nvPr/>
        </p:nvGraphicFramePr>
        <p:xfrm>
          <a:off x="731520" y="20500848"/>
          <a:ext cx="14109192" cy="4572000"/>
        </p:xfrm>
        <a:graphic>
          <a:graphicData uri="http://schemas.openxmlformats.org/drawingml/2006/chart">
            <c:chart xmlns:c="http://schemas.openxmlformats.org/drawingml/2006/chart" r:id="rId8"/>
          </a:graphicData>
        </a:graphic>
      </p:graphicFrame>
      <p:cxnSp>
        <p:nvCxnSpPr>
          <p:cNvPr id="133" name="Validation rule"/>
          <p:cNvCxnSpPr/>
          <p:nvPr/>
        </p:nvCxnSpPr>
        <p:spPr>
          <a:xfrm>
            <a:off x="13030200" y="34043112"/>
            <a:ext cx="16413480" cy="0"/>
          </a:xfrm>
          <a:prstGeom prst="line">
            <a:avLst/>
          </a:prstGeom>
          <a:ln w="18000">
            <a:solidFill>
              <a:srgbClr val="D6D6D6"/>
            </a:solidFill>
          </a:ln>
        </p:spPr>
        <p:style>
          <a:lnRef idx="2">
            <a:schemeClr val="accent1"/>
          </a:lnRef>
          <a:fillRef idx="0">
            <a:schemeClr val="accent1"/>
          </a:fillRef>
          <a:effectRef idx="0">
            <a:schemeClr val="accent1"/>
          </a:effectRef>
          <a:fontRef idx="minor">
            <a:schemeClr val="tx1"/>
          </a:fontRef>
        </p:style>
      </p:cxnSp>
      <p:graphicFrame>
        <p:nvGraphicFramePr>
          <p:cNvPr id="134" name="Table: validation against Chen et al."/>
          <p:cNvGraphicFramePr>
            <a:graphicFrameLocks noGrp="1"/>
          </p:cNvGraphicFramePr>
          <p:nvPr/>
        </p:nvGraphicFramePr>
        <p:xfrm>
          <a:off x="13030200" y="34957512"/>
          <a:ext cx="8961120" cy="1426464"/>
        </p:xfrm>
        <a:graphic>
          <a:graphicData uri="http://schemas.openxmlformats.org/drawingml/2006/table">
            <a:tbl>
              <a:tblPr firstRow="0" bandRow="0" firstCol="0" lastRow="0" lastCol="0" bandCol="0">
                <a:tableStyleId>{2D5ABB26-0587-4C30-8999-92F81FD0307C}</a:tableStyleId>
              </a:tblPr>
              <a:tblGrid>
                <a:gridCol w="1463040"/>
                <a:gridCol w="2377440"/>
                <a:gridCol w="2834640"/>
                <a:gridCol w="2286000"/>
              </a:tblGrid>
              <a:tr h="475488">
                <a:tc>
                  <a:txBody>
                    <a:bodyPr wrap="square"/>
                    <a:lstStyle/>
                    <a:p>
                      <a:pPr algn="l">
                        <a:lnSpc>
                          <a:spcPct val="108700"/>
                        </a:lnSpc>
                        <a:spcBef>
                          <a:spcPts val="0"/>
                        </a:spcBef>
                        <a:spcAft>
                          <a:spcPts val="0"/>
                        </a:spcAft>
                      </a:pPr>
                      <a:r>
                        <a:rPr sz="2400" b="1" i="0">
                          <a:solidFill>
                            <a:srgbClr val="FFFFFF"/>
                          </a:solidFill>
                          <a:latin typeface="Arial"/>
                          <a:ea typeface="Arial"/>
                          <a:cs typeface="Arial"/>
                        </a:rPr>
                        <a:t>Point</a:t>
                      </a:r>
                      <a:endParaRPr lang="en-GB" sz="2400"/>
                    </a:p>
                  </a:txBody>
                  <a:tcPr marL="108000" marR="108000" marT="32400" marB="32400" anchor="ctr">
                    <a:lnL w="0">
                      <a:noFill/>
                    </a:lnL>
                    <a:lnR w="0">
                      <a:noFill/>
                    </a:lnR>
                    <a:lnT w="0">
                      <a:noFill/>
                    </a:lnT>
                    <a:lnB w="0">
                      <a:noFill/>
                    </a:lnB>
                    <a:solidFill>
                      <a:srgbClr val="17685C"/>
                    </a:solidFill>
                  </a:tcPr>
                </a:tc>
                <a:tc>
                  <a:txBody>
                    <a:bodyPr wrap="square"/>
                    <a:lstStyle/>
                    <a:p>
                      <a:pPr algn="l">
                        <a:lnSpc>
                          <a:spcPct val="108700"/>
                        </a:lnSpc>
                        <a:spcBef>
                          <a:spcPts val="0"/>
                        </a:spcBef>
                        <a:spcAft>
                          <a:spcPts val="0"/>
                        </a:spcAft>
                      </a:pPr>
                      <a:r>
                        <a:rPr sz="2400" b="1" i="0">
                          <a:solidFill>
                            <a:srgbClr val="FFFFFF"/>
                          </a:solidFill>
                          <a:latin typeface="Arial"/>
                          <a:ea typeface="Arial"/>
                          <a:cs typeface="Arial"/>
                        </a:rPr>
                        <a:t>This study</a:t>
                      </a:r>
                      <a:endParaRPr lang="en-GB" sz="2400"/>
                    </a:p>
                  </a:txBody>
                  <a:tcPr marL="108000" marR="108000" marT="32400" marB="32400" anchor="ctr">
                    <a:lnL w="0">
                      <a:noFill/>
                    </a:lnL>
                    <a:lnR w="0">
                      <a:noFill/>
                    </a:lnR>
                    <a:lnT w="0">
                      <a:noFill/>
                    </a:lnT>
                    <a:lnB w="0">
                      <a:noFill/>
                    </a:lnB>
                    <a:solidFill>
                      <a:srgbClr val="17685C"/>
                    </a:solidFill>
                  </a:tcPr>
                </a:tc>
                <a:tc>
                  <a:txBody>
                    <a:bodyPr wrap="square"/>
                    <a:lstStyle/>
                    <a:p>
                      <a:pPr algn="l">
                        <a:lnSpc>
                          <a:spcPct val="108700"/>
                        </a:lnSpc>
                        <a:spcBef>
                          <a:spcPts val="0"/>
                        </a:spcBef>
                        <a:spcAft>
                          <a:spcPts val="0"/>
                        </a:spcAft>
                      </a:pPr>
                      <a:r>
                        <a:rPr sz="2400" b="1" i="0">
                          <a:solidFill>
                            <a:srgbClr val="FFFFFF"/>
                          </a:solidFill>
                          <a:latin typeface="Arial"/>
                          <a:ea typeface="Arial"/>
                          <a:cs typeface="Arial"/>
                        </a:rPr>
                        <a:t>Chen et al. [1]</a:t>
                      </a:r>
                      <a:endParaRPr lang="en-GB" sz="2400"/>
                    </a:p>
                  </a:txBody>
                  <a:tcPr marL="108000" marR="108000" marT="32400" marB="32400" anchor="ctr">
                    <a:lnL w="0">
                      <a:noFill/>
                    </a:lnL>
                    <a:lnR w="0">
                      <a:noFill/>
                    </a:lnR>
                    <a:lnT w="0">
                      <a:noFill/>
                    </a:lnT>
                    <a:lnB w="0">
                      <a:noFill/>
                    </a:lnB>
                    <a:solidFill>
                      <a:srgbClr val="17685C"/>
                    </a:solidFill>
                  </a:tcPr>
                </a:tc>
                <a:tc>
                  <a:txBody>
                    <a:bodyPr wrap="square"/>
                    <a:lstStyle/>
                    <a:p>
                      <a:pPr algn="l">
                        <a:lnSpc>
                          <a:spcPct val="108700"/>
                        </a:lnSpc>
                        <a:spcBef>
                          <a:spcPts val="0"/>
                        </a:spcBef>
                        <a:spcAft>
                          <a:spcPts val="0"/>
                        </a:spcAft>
                      </a:pPr>
                      <a:r>
                        <a:rPr sz="2400" b="1" i="0">
                          <a:solidFill>
                            <a:srgbClr val="FFFFFF"/>
                          </a:solidFill>
                          <a:latin typeface="Arial"/>
                          <a:ea typeface="Arial"/>
                          <a:cs typeface="Arial"/>
                        </a:rPr>
                        <a:t>Difference</a:t>
                      </a:r>
                      <a:endParaRPr lang="en-GB" sz="2400"/>
                    </a:p>
                  </a:txBody>
                  <a:tcPr marL="108000" marR="108000" marT="32400" marB="32400" anchor="ctr">
                    <a:lnL w="0">
                      <a:noFill/>
                    </a:lnL>
                    <a:lnR w="0">
                      <a:noFill/>
                    </a:lnR>
                    <a:lnT w="0">
                      <a:noFill/>
                    </a:lnT>
                    <a:lnB w="0">
                      <a:noFill/>
                    </a:lnB>
                    <a:solidFill>
                      <a:srgbClr val="17685C"/>
                    </a:solidFill>
                  </a:tcPr>
                </a:tc>
              </a:tr>
              <a:tr h="475488">
                <a:tc>
                  <a:txBody>
                    <a:bodyPr wrap="square"/>
                    <a:lstStyle/>
                    <a:p>
                      <a:pPr algn="l">
                        <a:lnSpc>
                          <a:spcPct val="108700"/>
                        </a:lnSpc>
                        <a:spcBef>
                          <a:spcPts val="0"/>
                        </a:spcBef>
                        <a:spcAft>
                          <a:spcPts val="0"/>
                        </a:spcAft>
                      </a:pPr>
                      <a:r>
                        <a:rPr sz="2400" b="0" i="0">
                          <a:solidFill>
                            <a:srgbClr val="1E1E1E"/>
                          </a:solidFill>
                          <a:latin typeface="Arial"/>
                          <a:ea typeface="Arial"/>
                          <a:cs typeface="Arial"/>
                        </a:rPr>
                        <a:t>P3</a:t>
                      </a:r>
                      <a:endParaRPr lang="en-GB" sz="2400"/>
                    </a:p>
                  </a:txBody>
                  <a:tcPr marL="108000" marR="108000" marT="32400" marB="324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+14.8 cm</a:t>
                      </a:r>
                      <a:endParaRPr lang="en-GB" sz="2400"/>
                    </a:p>
                  </a:txBody>
                  <a:tcPr marL="108000" marR="108000" marT="32400" marB="324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+16.7 cm</a:t>
                      </a:r>
                      <a:endParaRPr lang="en-GB" sz="2400"/>
                    </a:p>
                  </a:txBody>
                  <a:tcPr marL="108000" marR="108000" marT="32400" marB="32400" anchor="ctr">
                    <a:lnL w="0">
                      <a:noFill/>
                    </a:lnL>
                    <a:lnR w="0">
                      <a:noFill/>
                    </a:lnR>
                    <a:lnT w="0">
                      <a:noFill/>
                    </a:lnT>
                    <a:lnB w="12600">
                      <a:solidFill>
                        <a:srgbClr val="D6D6D6"/>
                      </a:solid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1.9 cm</a:t>
                      </a:r>
                      <a:endParaRPr lang="en-GB" sz="2400"/>
                    </a:p>
                  </a:txBody>
                  <a:tcPr marL="108000" marR="108000" marT="32400" marB="32400" anchor="ctr">
                    <a:lnL w="0">
                      <a:noFill/>
                    </a:lnL>
                    <a:lnR w="0">
                      <a:noFill/>
                    </a:lnR>
                    <a:lnT w="0">
                      <a:noFill/>
                    </a:lnT>
                    <a:lnB w="12600">
                      <a:solidFill>
                        <a:srgbClr val="D6D6D6"/>
                      </a:solidFill>
                    </a:lnB>
                    <a:solidFill>
                      <a:srgbClr val="FFFFFF"/>
                    </a:solidFill>
                  </a:tcPr>
                </a:tc>
              </a:tr>
              <a:tr h="475488">
                <a:tc>
                  <a:txBody>
                    <a:bodyPr wrap="square"/>
                    <a:lstStyle/>
                    <a:p>
                      <a:pPr algn="l">
                        <a:lnSpc>
                          <a:spcPct val="108700"/>
                        </a:lnSpc>
                        <a:spcBef>
                          <a:spcPts val="0"/>
                        </a:spcBef>
                        <a:spcAft>
                          <a:spcPts val="0"/>
                        </a:spcAft>
                      </a:pPr>
                      <a:r>
                        <a:rPr sz="2400" b="0" i="0">
                          <a:solidFill>
                            <a:srgbClr val="1E1E1E"/>
                          </a:solidFill>
                          <a:latin typeface="Arial"/>
                          <a:ea typeface="Arial"/>
                          <a:cs typeface="Arial"/>
                        </a:rPr>
                        <a:t>P4</a:t>
                      </a:r>
                      <a:endParaRPr lang="en-GB" sz="2400"/>
                    </a:p>
                  </a:txBody>
                  <a:tcPr marL="108000" marR="108000" marT="32400" marB="32400" anchor="ctr">
                    <a:lnL w="0">
                      <a:noFill/>
                    </a:lnL>
                    <a:lnR w="0">
                      <a:noFill/>
                    </a:lnR>
                    <a:lnT w="0">
                      <a:noFill/>
                    </a:lnT>
                    <a:lnB w="0">
                      <a:no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−5.6 cm</a:t>
                      </a:r>
                      <a:endParaRPr lang="en-GB" sz="2400"/>
                    </a:p>
                  </a:txBody>
                  <a:tcPr marL="108000" marR="108000" marT="32400" marB="32400" anchor="ctr">
                    <a:lnL w="0">
                      <a:noFill/>
                    </a:lnL>
                    <a:lnR w="0">
                      <a:noFill/>
                    </a:lnR>
                    <a:lnT w="0">
                      <a:noFill/>
                    </a:lnT>
                    <a:lnB w="0">
                      <a:no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−5.4 cm</a:t>
                      </a:r>
                      <a:endParaRPr lang="en-GB" sz="2400"/>
                    </a:p>
                  </a:txBody>
                  <a:tcPr marL="108000" marR="108000" marT="32400" marB="32400" anchor="ctr">
                    <a:lnL w="0">
                      <a:noFill/>
                    </a:lnL>
                    <a:lnR w="0">
                      <a:noFill/>
                    </a:lnR>
                    <a:lnT w="0">
                      <a:noFill/>
                    </a:lnT>
                    <a:lnB w="0">
                      <a:noFill/>
                    </a:lnB>
                    <a:solidFill>
                      <a:srgbClr val="FFFFFF"/>
                    </a:solidFill>
                  </a:tcPr>
                </a:tc>
                <a:tc>
                  <a:txBody>
                    <a:bodyPr wrap="square"/>
                    <a:lstStyle/>
                    <a:p>
                      <a:pPr algn="l">
                        <a:lnSpc>
                          <a:spcPct val="108700"/>
                        </a:lnSpc>
                        <a:spcBef>
                          <a:spcPts val="0"/>
                        </a:spcBef>
                        <a:spcAft>
                          <a:spcPts val="0"/>
                        </a:spcAft>
                      </a:pPr>
                      <a:r>
                        <a:rPr sz="2400" b="0" i="0">
                          <a:solidFill>
                            <a:srgbClr val="1E1E1E"/>
                          </a:solidFill>
                          <a:latin typeface="Arial"/>
                          <a:ea typeface="Arial"/>
                          <a:cs typeface="Arial"/>
                        </a:rPr>
                        <a:t>0.2 cm</a:t>
                      </a:r>
                      <a:endParaRPr lang="en-GB" sz="2400"/>
                    </a:p>
                  </a:txBody>
                  <a:tcPr marL="108000" marR="108000" marT="32400" marB="32400" anchor="ctr">
                    <a:lnL w="0">
                      <a:noFill/>
                    </a:lnL>
                    <a:lnR w="0">
                      <a:noFill/>
                    </a:lnR>
                    <a:lnT w="0">
                      <a:noFill/>
                    </a:lnT>
                    <a:lnB w="0">
                      <a:noFill/>
                    </a:lnB>
                    <a:solidFill>
                      <a:srgbClr val="FFFFFF"/>
                    </a:solidFill>
                  </a:tcPr>
                </a:tc>
              </a:tr>
            </a:tbl>
          </a:graphicData>
        </a:graphic>
      </p:graphicFrame>
      <p:sp>
        <p:nvSpPr>
          <p:cNvPr id="135" name="Validation notes"/>
          <p:cNvSpPr txBox="1"/>
          <p:nvPr/>
        </p:nvSpPr>
        <p:spPr>
          <a:xfrm>
            <a:off x="22357080" y="34957512"/>
            <a:ext cx="7086600" cy="1243584"/>
          </a:xfrm>
          <a:prstGeom prst="rect">
            <a:avLst/>
          </a:prstGeom>
          <a:noFill/>
        </p:spPr>
        <p:txBody>
          <a:bodyPr wrap="square" lIns="0" tIns="0" rIns="0" bIns="0" anchor="t">
            <a:noAutofit/>
          </a:bodyPr>
          <a:lstStyle/>
          <a:p>
            <a:pPr algn="l">
              <a:lnSpc>
                <a:spcPct val="111300"/>
              </a:lnSpc>
              <a:spcBef>
                <a:spcPts val="0"/>
              </a:spcBef>
              <a:spcAft>
                <a:spcPts val="0"/>
              </a:spcAft>
            </a:pPr>
            <a:r>
              <a:rPr lang="en-GB" sz="2400" b="0" i="0">
                <a:solidFill>
                  <a:srgbClr val="4A4A4A"/>
                </a:solidFill>
                <a:latin typeface="Arial"/>
                <a:ea typeface="Arial"/>
                <a:cs typeface="Arial"/>
              </a:rPr>
              <a:t>Measured before splitting into horizontal and vertical; same dates as [1] (48 days).</a:t>
            </a:r>
            <a:endParaRPr lang="en-GB" sz="2400"/>
          </a:p>
          <a:p>
            <a:pPr algn="l">
              <a:lnSpc>
                <a:spcPct val="111300"/>
              </a:lnSpc>
              <a:spcBef>
                <a:spcPts val="0"/>
              </a:spcBef>
              <a:spcAft>
                <a:spcPts val="0"/>
              </a:spcAft>
            </a:pPr>
            <a:r>
              <a:rPr lang="en-GB" sz="2400" b="1" i="0">
                <a:solidFill>
                  <a:srgbClr val="1E1E1E"/>
                </a:solidFill>
                <a:latin typeface="Arial"/>
                <a:ea typeface="Arial"/>
                <a:cs typeface="Arial"/>
              </a:rPr>
              <a:t>Precision</a:t>
            </a:r>
            <a:r>
              <a:rPr lang="en-GB" sz="2400" b="0" i="0">
                <a:solidFill>
                  <a:srgbClr val="1E1E1E"/>
                </a:solidFill>
                <a:latin typeface="Arial"/>
                <a:ea typeface="Arial"/>
                <a:cs typeface="Arial"/>
              </a:rPr>
              <a:t> (land point P5): ±0.7–1.6 cm.</a:t>
            </a:r>
            <a:endParaRPr lang="en-GB" sz="2400"/>
          </a:p>
        </p:txBody>
      </p:sp>
      <p:sp>
        <p:nvSpPr>
          <p:cNvPr id="136" name="Conclusion 1 number"/>
          <p:cNvSpPr/>
          <p:nvPr/>
        </p:nvSpPr>
        <p:spPr>
          <a:xfrm>
            <a:off x="730800" y="37322299"/>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1</a:t>
            </a:r>
            <a:endParaRPr lang="en-GB" sz="2400"/>
          </a:p>
        </p:txBody>
      </p:sp>
      <p:sp>
        <p:nvSpPr>
          <p:cNvPr id="137" name="Conclusion 1"/>
          <p:cNvSpPr txBox="1"/>
          <p:nvPr/>
        </p:nvSpPr>
        <p:spPr>
          <a:xfrm>
            <a:off x="1280160" y="37322299"/>
            <a:ext cx="13560552" cy="841248"/>
          </a:xfrm>
          <a:prstGeom prst="rect">
            <a:avLst/>
          </a:prstGeom>
          <a:noFill/>
        </p:spPr>
        <p:txBody>
          <a:bodyPr wrap="square" lIns="0" tIns="0" rIns="0" bIns="0" anchor="t">
            <a:noAutofit/>
          </a:bodyPr>
          <a:lstStyle/>
          <a:p>
            <a:pPr algn="l">
              <a:lnSpc>
                <a:spcPct val="109600"/>
              </a:lnSpc>
              <a:spcBef>
                <a:spcPts val="0"/>
              </a:spcBef>
              <a:spcAft>
                <a:spcPts val="0"/>
              </a:spcAft>
            </a:pPr>
            <a:r>
              <a:rPr lang="en-GB" sz="2400" b="1" i="0">
                <a:solidFill>
                  <a:srgbClr val="1E1E1E"/>
                </a:solidFill>
                <a:latin typeface="Arial"/>
                <a:ea typeface="Arial"/>
                <a:cs typeface="Arial"/>
              </a:rPr>
              <a:t>Coherence resolves not only when landfast ice forms but whether formation succeeds,</a:t>
            </a:r>
            <a:r>
              <a:rPr lang="en-GB" sz="2400" b="0" i="0">
                <a:solidFill>
                  <a:srgbClr val="1E1E1E"/>
                </a:solidFill>
                <a:latin typeface="Arial"/>
                <a:ea typeface="Arial"/>
                <a:cs typeface="Arial"/>
              </a:rPr>
              <a:t> capturing a mid-winter break-up and refreeze invisible to deformation measurements.</a:t>
            </a:r>
            <a:endParaRPr lang="en-GB" sz="2400"/>
          </a:p>
        </p:txBody>
      </p:sp>
      <p:sp>
        <p:nvSpPr>
          <p:cNvPr id="138" name="Conclusion 2 number"/>
          <p:cNvSpPr/>
          <p:nvPr/>
        </p:nvSpPr>
        <p:spPr>
          <a:xfrm>
            <a:off x="730800" y="38227555"/>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2</a:t>
            </a:r>
            <a:endParaRPr lang="en-GB" sz="2400"/>
          </a:p>
        </p:txBody>
      </p:sp>
      <p:sp>
        <p:nvSpPr>
          <p:cNvPr id="139" name="Conclusion 2"/>
          <p:cNvSpPr txBox="1"/>
          <p:nvPr/>
        </p:nvSpPr>
        <p:spPr>
          <a:xfrm>
            <a:off x="1280160" y="38227555"/>
            <a:ext cx="13560552" cy="841248"/>
          </a:xfrm>
          <a:prstGeom prst="rect">
            <a:avLst/>
          </a:prstGeom>
          <a:noFill/>
        </p:spPr>
        <p:txBody>
          <a:bodyPr wrap="square" lIns="0" tIns="0" rIns="0" bIns="0" anchor="t">
            <a:noAutofit/>
          </a:bodyPr>
          <a:lstStyle/>
          <a:p>
            <a:pPr algn="l">
              <a:lnSpc>
                <a:spcPct val="109600"/>
              </a:lnSpc>
              <a:spcBef>
                <a:spcPts val="0"/>
              </a:spcBef>
              <a:spcAft>
                <a:spcPts val="0"/>
              </a:spcAft>
            </a:pPr>
            <a:r>
              <a:rPr lang="en-GB" sz="2400" b="1" i="0">
                <a:solidFill>
                  <a:srgbClr val="1E1E1E"/>
                </a:solidFill>
                <a:latin typeface="Arial"/>
                <a:ea typeface="Arial"/>
                <a:cs typeface="Arial"/>
              </a:rPr>
              <a:t>The intermittent winter was also the more mobile,</a:t>
            </a:r>
            <a:r>
              <a:rPr lang="en-GB" sz="2400" b="0" i="0">
                <a:solidFill>
                  <a:srgbClr val="1E1E1E"/>
                </a:solidFill>
                <a:latin typeface="Arial"/>
                <a:ea typeface="Arial"/>
                <a:cs typeface="Arial"/>
              </a:rPr>
              <a:t> though two seasons cannot separate this from coincidence.</a:t>
            </a:r>
            <a:endParaRPr lang="en-GB" sz="2400"/>
          </a:p>
        </p:txBody>
      </p:sp>
      <p:sp>
        <p:nvSpPr>
          <p:cNvPr id="140" name="Conclusion 3 number"/>
          <p:cNvSpPr/>
          <p:nvPr/>
        </p:nvSpPr>
        <p:spPr>
          <a:xfrm>
            <a:off x="730800" y="39132811"/>
            <a:ext cx="411480" cy="411480"/>
          </a:xfrm>
          <a:prstGeom prst="ellipse">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noAutofit/>
          </a:bodyPr>
          <a:lstStyle/>
          <a:p>
            <a:pPr algn="ctr">
              <a:lnSpc>
                <a:spcPct val="87000"/>
              </a:lnSpc>
              <a:spcBef>
                <a:spcPts val="0"/>
              </a:spcBef>
              <a:spcAft>
                <a:spcPts val="0"/>
              </a:spcAft>
            </a:pPr>
            <a:r>
              <a:rPr sz="2400" b="1" i="0">
                <a:solidFill>
                  <a:srgbClr val="FFFFFF"/>
                </a:solidFill>
                <a:latin typeface="Arial"/>
                <a:ea typeface="Arial"/>
                <a:cs typeface="Arial"/>
              </a:rPr>
              <a:t>3</a:t>
            </a:r>
            <a:endParaRPr lang="en-GB" sz="2400"/>
          </a:p>
        </p:txBody>
      </p:sp>
      <p:sp>
        <p:nvSpPr>
          <p:cNvPr id="141" name="Conclusion 3"/>
          <p:cNvSpPr txBox="1"/>
          <p:nvPr/>
        </p:nvSpPr>
        <p:spPr>
          <a:xfrm>
            <a:off x="1280160" y="39132811"/>
            <a:ext cx="13560552" cy="1243584"/>
          </a:xfrm>
          <a:prstGeom prst="rect">
            <a:avLst/>
          </a:prstGeom>
          <a:noFill/>
        </p:spPr>
        <p:txBody>
          <a:bodyPr wrap="square" lIns="0" tIns="0" rIns="0" bIns="0" anchor="t">
            <a:noAutofit/>
          </a:bodyPr>
          <a:lstStyle/>
          <a:p>
            <a:pPr algn="l">
              <a:lnSpc>
                <a:spcPct val="109600"/>
              </a:lnSpc>
              <a:spcBef>
                <a:spcPts val="0"/>
              </a:spcBef>
              <a:spcAft>
                <a:spcPts val="0"/>
              </a:spcAft>
            </a:pPr>
            <a:r>
              <a:rPr lang="en-GB" sz="2400" b="1" i="0">
                <a:solidFill>
                  <a:srgbClr val="1E1E1E"/>
                </a:solidFill>
                <a:latin typeface="Arial"/>
                <a:ea typeface="Arial"/>
                <a:cs typeface="Arial"/>
              </a:rPr>
              <a:t>Snow metamorphism and early-growth dielectric change also cost coherence over immobile ice,</a:t>
            </a:r>
            <a:r>
              <a:rPr lang="en-GB" sz="2400" b="0" i="0">
                <a:solidFill>
                  <a:srgbClr val="1E1E1E"/>
                </a:solidFill>
                <a:latin typeface="Arial"/>
                <a:ea typeface="Arial"/>
                <a:cs typeface="Arial"/>
              </a:rPr>
              <a:t> so dates are late-biased; longer records and independent draft data are needed to bound this.</a:t>
            </a:r>
            <a:endParaRPr lang="en-GB" sz="2400"/>
          </a:p>
        </p:txBody>
      </p:sp>
      <p:sp>
        <p:nvSpPr>
          <p:cNvPr id="142" name="Bottom line"/>
          <p:cNvSpPr/>
          <p:nvPr/>
        </p:nvSpPr>
        <p:spPr>
          <a:xfrm>
            <a:off x="731520" y="41053051"/>
            <a:ext cx="14109192" cy="585216"/>
          </a:xfrm>
          <a:prstGeom prst="roundRect">
            <a:avLst>
              <a:gd name="adj" fmla="val 15451"/>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216000" tIns="0" rIns="144000" bIns="0">
            <a:noAutofit/>
          </a:bodyPr>
          <a:lstStyle/>
          <a:p>
            <a:pPr algn="l">
              <a:lnSpc>
                <a:spcPct val="108700"/>
              </a:lnSpc>
              <a:spcBef>
                <a:spcPts val="0"/>
              </a:spcBef>
              <a:spcAft>
                <a:spcPts val="0"/>
              </a:spcAft>
            </a:pPr>
            <a:r>
              <a:rPr sz="2400" b="1" i="0">
                <a:solidFill>
                  <a:srgbClr val="FFFFFF"/>
                </a:solidFill>
                <a:latin typeface="Arial"/>
                <a:ea typeface="Arial"/>
                <a:cs typeface="Arial"/>
              </a:rPr>
              <a:t>Coherence offers a free, repeatable way to monitor when coastal sea ice becomes landfast.</a:t>
            </a:r>
            <a:endParaRPr lang="en-GB" sz="2400"/>
          </a:p>
        </p:txBody>
      </p:sp>
      <p:sp>
        <p:nvSpPr>
          <p:cNvPr id="151" name="Future item 3"/>
          <p:cNvSpPr txBox="1"/>
          <p:nvPr/>
        </p:nvSpPr>
        <p:spPr>
          <a:xfrm>
            <a:off x="731520" y="40102075"/>
            <a:ext cx="14109192" cy="841248"/>
          </a:xfrm>
          <a:prstGeom prst="rect">
            <a:avLst/>
          </a:prstGeom>
          <a:noFill/>
        </p:spPr>
        <p:txBody>
          <a:bodyPr wrap="square" lIns="0" tIns="0" rIns="0" bIns="0" anchor="t">
            <a:noAutofit/>
          </a:bodyPr>
          <a:lstStyle/>
          <a:p>
            <a:pPr algn="l">
              <a:lnSpc>
                <a:spcPct val="111300"/>
              </a:lnSpc>
              <a:spcBef>
                <a:spcPts val="0"/>
              </a:spcBef>
              <a:spcAft>
                <a:spcPts val="0"/>
              </a:spcAft>
            </a:pPr>
            <a:r>
              <a:rPr lang="en-GB" sz="2400" b="1" i="0">
                <a:solidFill>
                  <a:srgbClr val="125F55"/>
                </a:solidFill>
                <a:latin typeface="Arial"/>
                <a:ea typeface="Arial"/>
                <a:cs typeface="Arial"/>
              </a:rPr>
              <a:t>Next steps: </a:t>
            </a:r>
            <a:r>
              <a:rPr lang="en-GB" sz="2400" b="0" i="0">
                <a:solidFill>
                  <a:srgbClr val="1E1E1E"/>
                </a:solidFill>
                <a:latin typeface="Arial"/>
                <a:ea typeface="Arial"/>
                <a:cs typeface="Arial"/>
              </a:rPr>
              <a:t>L-band (ALOS-2) comparison, and deep-learning mapping of motion across the full Sentinel-1 archive (under way).</a:t>
            </a:r>
            <a:endParaRPr lang="en-GB" sz="2400"/>
          </a:p>
        </p:txBody>
      </p:sp>
      <p:sp>
        <p:nvSpPr>
          <p:cNvPr id="152" name="Reference 1"/>
          <p:cNvSpPr txBox="1"/>
          <p:nvPr/>
        </p:nvSpPr>
        <p:spPr>
          <a:xfrm>
            <a:off x="15343632" y="37322299"/>
            <a:ext cx="14100048" cy="4572000"/>
          </a:xfrm>
          <a:prstGeom prst="rect">
            <a:avLst/>
          </a:prstGeom>
          <a:noFill/>
        </p:spPr>
        <p:txBody>
          <a:bodyPr wrap="square" lIns="0" tIns="0" rIns="0" bIns="0" anchor="t">
            <a:noAutofit/>
          </a:bodyPr>
          <a:lstStyle/>
          <a:p>
            <a:pPr algn="l">
              <a:lnSpc>
                <a:spcPct val="105000"/>
              </a:lnSpc>
              <a:spcBef>
                <a:spcPts val="0"/>
              </a:spcBef>
              <a:spcAft>
                <a:spcPts val="800"/>
              </a:spcAft>
            </a:pPr>
            <a:r>
              <a:rPr lang="en-GB" sz="2400" b="0" i="0">
                <a:solidFill>
                  <a:srgbClr val="1E1E1E"/>
                </a:solidFill>
                <a:latin typeface="Arial"/>
                <a:ea typeface="Arial"/>
                <a:cs typeface="Arial"/>
              </a:rPr>
              <a:t>[1] Chen, Z., Montpetit, B., Banks, S., White, L., Behnamian, A., Duffe, J., &amp; Pasher, J. (2021). InSAR monitoring of Arctic landfast sea ice deformation using L-band ALOS-2, C-band Radarsat-2 and Sentinel-1. </a:t>
            </a:r>
            <a:r>
              <a:rPr lang="en-GB" sz="2400" b="0" i="1">
                <a:solidFill>
                  <a:srgbClr val="1E1E1E"/>
                </a:solidFill>
                <a:latin typeface="Arial"/>
                <a:ea typeface="Arial"/>
                <a:cs typeface="Arial"/>
              </a:rPr>
              <a:t>Remote Sensing, 13</a:t>
            </a:r>
            <a:r>
              <a:rPr lang="en-GB" sz="2400" b="0" i="0">
                <a:solidFill>
                  <a:srgbClr val="1E1E1E"/>
                </a:solidFill>
                <a:latin typeface="Arial"/>
                <a:ea typeface="Arial"/>
                <a:cs typeface="Arial"/>
              </a:rPr>
              <a:t>(22), 4570. https://doi.org/10.3390/rs13224570</a:t>
            </a:r>
            <a:endParaRPr lang="en-GB" sz="2400"/>
          </a:p>
          <a:p>
            <a:pPr algn="l">
              <a:lnSpc>
                <a:spcPct val="105000"/>
              </a:lnSpc>
              <a:spcBef>
                <a:spcPts val="0"/>
              </a:spcBef>
              <a:spcAft>
                <a:spcPts val="800"/>
              </a:spcAft>
            </a:pPr>
            <a:r>
              <a:rPr lang="en-GB" sz="2400" b="0" i="0">
                <a:solidFill>
                  <a:srgbClr val="1E1E1E"/>
                </a:solidFill>
                <a:latin typeface="Arial"/>
                <a:ea typeface="Arial"/>
                <a:cs typeface="Arial"/>
              </a:rPr>
              <a:t>[2] Zhu, Y., Zhou, C., Zhu, D., Wang, T., &amp; Zhang, T. (2023). Interannual variation of landfast ice using ascending and descending Sentinel-1 images from 2019 to 2021: A case study of Cambridge Bay. </a:t>
            </a:r>
            <a:r>
              <a:rPr lang="en-GB" sz="2400" b="0" i="1">
                <a:solidFill>
                  <a:srgbClr val="1E1E1E"/>
                </a:solidFill>
                <a:latin typeface="Arial"/>
                <a:ea typeface="Arial"/>
                <a:cs typeface="Arial"/>
              </a:rPr>
              <a:t>Remote Sensing, 15</a:t>
            </a:r>
            <a:r>
              <a:rPr lang="en-GB" sz="2400" b="0" i="0">
                <a:solidFill>
                  <a:srgbClr val="1E1E1E"/>
                </a:solidFill>
                <a:latin typeface="Arial"/>
                <a:ea typeface="Arial"/>
                <a:cs typeface="Arial"/>
              </a:rPr>
              <a:t>(5), 1296. https://doi.org/10.3390/rs15051296</a:t>
            </a:r>
            <a:endParaRPr lang="en-GB" sz="2400"/>
          </a:p>
          <a:p>
            <a:pPr algn="l">
              <a:lnSpc>
                <a:spcPct val="105000"/>
              </a:lnSpc>
              <a:spcBef>
                <a:spcPts val="0"/>
              </a:spcBef>
              <a:spcAft>
                <a:spcPts val="800"/>
              </a:spcAft>
            </a:pPr>
            <a:r>
              <a:rPr lang="en-GB" sz="2400" b="0" i="0">
                <a:solidFill>
                  <a:srgbClr val="1E1E1E"/>
                </a:solidFill>
                <a:latin typeface="Arial"/>
                <a:ea typeface="Arial"/>
                <a:cs typeface="Arial"/>
              </a:rPr>
              <a:t>[3] Berardino, P., Fornaro, G., Lanari, R., &amp; Sansosti, E. (2002). A new algorithm for surface deformation monitoring based on small baseline differential SAR interferograms. </a:t>
            </a:r>
            <a:r>
              <a:rPr lang="en-GB" sz="2400" b="0" i="1">
                <a:solidFill>
                  <a:srgbClr val="1E1E1E"/>
                </a:solidFill>
                <a:latin typeface="Arial"/>
                <a:ea typeface="Arial"/>
                <a:cs typeface="Arial"/>
              </a:rPr>
              <a:t>IEEE Transactions on Geoscience and Remote Sensing, 40</a:t>
            </a:r>
            <a:r>
              <a:rPr lang="en-GB" sz="2400" b="0" i="0">
                <a:solidFill>
                  <a:srgbClr val="1E1E1E"/>
                </a:solidFill>
                <a:latin typeface="Arial"/>
                <a:ea typeface="Arial"/>
                <a:cs typeface="Arial"/>
              </a:rPr>
              <a:t>(11), 2375–2383. https://doi.org/10.1109/TGRS.2002.803792</a:t>
            </a:r>
            <a:endParaRPr lang="en-GB" sz="2400"/>
          </a:p>
        </p:txBody>
      </p:sp>
      <p:sp>
        <p:nvSpPr>
          <p:cNvPr id="155" name="Footer"/>
          <p:cNvSpPr/>
          <p:nvPr/>
        </p:nvSpPr>
        <p:spPr>
          <a:xfrm>
            <a:off x="0" y="41788800"/>
            <a:ext cx="30175200" cy="1015200"/>
          </a:xfrm>
          <a:prstGeom prst="rect">
            <a:avLst/>
          </a:prstGeom>
          <a:solidFill>
            <a:srgbClr val="125F5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0" tIns="0" rIns="540000" bIns="0">
            <a:noAutofit/>
          </a:bodyPr>
          <a:lstStyle/>
          <a:p>
            <a:pPr algn="r">
              <a:lnSpc>
                <a:spcPct val="87000"/>
              </a:lnSpc>
              <a:spcBef>
                <a:spcPts val="0"/>
              </a:spcBef>
              <a:spcAft>
                <a:spcPts val="0"/>
              </a:spcAft>
            </a:pPr>
            <a:r>
              <a:rPr sz="4200" b="0" i="0">
                <a:solidFill>
                  <a:srgbClr val="FFFFFF"/>
                </a:solidFill>
                <a:latin typeface="Arial"/>
                <a:ea typeface="Arial"/>
                <a:cs typeface="Arial"/>
              </a:rPr>
              <a:t>https://sciforum.net/event/ECRS2026</a:t>
            </a:r>
            <a:endParaRPr lang="en-GB" sz="4200"/>
          </a:p>
        </p:txBody>
      </p:sp>
      <p:sp>
        <p:nvSpPr>
          <p:cNvPr id="5002" name="Q1 bullet dot 1"/>
          <p:cNvSpPr txBox="1"/>
          <p:nvPr/>
        </p:nvSpPr>
        <p:spPr>
          <a:xfrm>
            <a:off x="731520" y="25219152"/>
            <a:ext cx="329184" cy="406908"/>
          </a:xfrm>
          <a:prstGeom prst="rect">
            <a:avLst/>
          </a:prstGeom>
          <a:noFill/>
          <a:ln/>
        </p:spPr>
        <p:txBody>
          <a:bodyPr wrap="square" lIns="0" tIns="0" rIns="0" bIns="0" rtlCol="0" anchor="t"/>
          <a:lstStyle/>
          <a:p>
            <a:pPr indent="0" marL="0">
              <a:lnSpc>
                <a:spcPct val="110000"/>
              </a:lnSpc>
              <a:buNone/>
            </a:pPr>
            <a:r>
              <a:rPr lang="en-GB" altLang="en-US" sz="2400" dirty="0">
                <a:solidFill>
                  <a:srgbClr val="1F4F9E"/>
                </a:solidFill>
                <a:latin typeface="Arial" pitchFamily="34" charset="0"/>
                <a:ea typeface="Arial" pitchFamily="34" charset="-122"/>
                <a:cs typeface="Arial" pitchFamily="34" charset="-120"/>
              </a:rPr>
              <a:t>●</a:t>
            </a:r>
            <a:endParaRPr lang="en-GB" sz="2400" dirty="0"/>
          </a:p>
        </p:txBody>
      </p:sp>
      <p:sp>
        <p:nvSpPr>
          <p:cNvPr id="5003" name="Q1 bullet 1"/>
          <p:cNvSpPr txBox="1"/>
          <p:nvPr/>
        </p:nvSpPr>
        <p:spPr>
          <a:xfrm>
            <a:off x="1097280" y="25219152"/>
            <a:ext cx="13743432" cy="406908"/>
          </a:xfrm>
          <a:prstGeom prst="rect">
            <a:avLst/>
          </a:prstGeom>
          <a:noFill/>
          <a:ln/>
        </p:spPr>
        <p:txBody>
          <a:bodyPr wrap="square" lIns="0" tIns="0" rIns="0" bIns="0" rtlCol="0" anchor="t"/>
          <a:lstStyle/>
          <a:p>
            <a:pPr indent="0" marL="0">
              <a:lnSpc>
                <a:spcPct val="110000"/>
              </a:lnSpc>
              <a:buNone/>
            </a:pPr>
            <a:r>
              <a:rPr lang="en-GB" altLang="en-US" sz="2400" b="1" dirty="0">
                <a:solidFill>
                  <a:srgbClr val="1F4F9E"/>
                </a:solidFill>
                <a:latin typeface="Arial" pitchFamily="34" charset="0"/>
                <a:ea typeface="Arial" pitchFamily="34" charset="-122"/>
                <a:cs typeface="Arial" pitchFamily="34" charset="-120"/>
              </a:rPr>
              <a:t>2018–19</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locked in on </a:t>
            </a:r>
            <a:pPr indent="0" marL="0">
              <a:lnSpc>
                <a:spcPct val="110000"/>
              </a:lnSpc>
              <a:buNone/>
            </a:pPr>
            <a:r>
              <a:rPr lang="en-GB" altLang="en-US" sz="2400" b="1" dirty="0">
                <a:solidFill>
                  <a:srgbClr val="1F4F9E"/>
                </a:solidFill>
                <a:latin typeface="Arial" pitchFamily="34" charset="0"/>
                <a:ea typeface="Arial" pitchFamily="34" charset="-122"/>
                <a:cs typeface="Arial" pitchFamily="34" charset="-120"/>
              </a:rPr>
              <a:t>30 Jan 2019</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and stayed coherent until early April.</a:t>
            </a:r>
            <a:endParaRPr lang="en-GB" sz="2400" dirty="0"/>
          </a:p>
        </p:txBody>
      </p:sp>
      <p:sp>
        <p:nvSpPr>
          <p:cNvPr id="5004" name="Q1 bullet dot 2"/>
          <p:cNvSpPr txBox="1"/>
          <p:nvPr/>
        </p:nvSpPr>
        <p:spPr>
          <a:xfrm>
            <a:off x="731520" y="25735788"/>
            <a:ext cx="329184" cy="406908"/>
          </a:xfrm>
          <a:prstGeom prst="rect">
            <a:avLst/>
          </a:prstGeom>
          <a:noFill/>
          <a:ln/>
        </p:spPr>
        <p:txBody>
          <a:bodyPr wrap="square" lIns="0" tIns="0" rIns="0" bIns="0" rtlCol="0" anchor="t"/>
          <a:lstStyle/>
          <a:p>
            <a:pPr indent="0" marL="0">
              <a:lnSpc>
                <a:spcPct val="110000"/>
              </a:lnSpc>
              <a:buNone/>
            </a:pPr>
            <a:r>
              <a:rPr lang="en-GB" altLang="en-US" sz="2400" dirty="0">
                <a:solidFill>
                  <a:srgbClr val="D9731F"/>
                </a:solidFill>
                <a:latin typeface="Arial" pitchFamily="34" charset="0"/>
                <a:ea typeface="Arial" pitchFamily="34" charset="-122"/>
                <a:cs typeface="Arial" pitchFamily="34" charset="-120"/>
              </a:rPr>
              <a:t>●</a:t>
            </a:r>
            <a:endParaRPr lang="en-GB" sz="2400" dirty="0"/>
          </a:p>
        </p:txBody>
      </p:sp>
      <p:sp>
        <p:nvSpPr>
          <p:cNvPr id="5005" name="Q1 bullet 2"/>
          <p:cNvSpPr txBox="1"/>
          <p:nvPr/>
        </p:nvSpPr>
        <p:spPr>
          <a:xfrm>
            <a:off x="1097280" y="25735788"/>
            <a:ext cx="13743432" cy="813816"/>
          </a:xfrm>
          <a:prstGeom prst="rect">
            <a:avLst/>
          </a:prstGeom>
          <a:noFill/>
          <a:ln/>
        </p:spPr>
        <p:txBody>
          <a:bodyPr wrap="square" lIns="0" tIns="0" rIns="0" bIns="0" rtlCol="0" anchor="t"/>
          <a:lstStyle/>
          <a:p>
            <a:pPr indent="0" marL="0">
              <a:lnSpc>
                <a:spcPct val="110000"/>
              </a:lnSpc>
              <a:buNone/>
            </a:pPr>
            <a:r>
              <a:rPr lang="en-GB" altLang="en-US" sz="2400" b="1" dirty="0">
                <a:solidFill>
                  <a:srgbClr val="D9731F"/>
                </a:solidFill>
                <a:latin typeface="Arial" pitchFamily="34" charset="0"/>
                <a:ea typeface="Arial" pitchFamily="34" charset="-122"/>
                <a:cs typeface="Arial" pitchFamily="34" charset="-120"/>
              </a:rPr>
              <a:t>2020–21</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locked in on </a:t>
            </a:r>
            <a:pPr indent="0" marL="0">
              <a:lnSpc>
                <a:spcPct val="110000"/>
              </a:lnSpc>
              <a:buNone/>
            </a:pPr>
            <a:r>
              <a:rPr lang="en-GB" altLang="en-US" sz="2400" b="1" dirty="0">
                <a:solidFill>
                  <a:srgbClr val="D9731F"/>
                </a:solidFill>
                <a:latin typeface="Arial" pitchFamily="34" charset="0"/>
                <a:ea typeface="Arial" pitchFamily="34" charset="-122"/>
                <a:cs typeface="Arial" pitchFamily="34" charset="-120"/>
              </a:rPr>
              <a:t>20 Mar 2021</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49 days later, after a break-up in early March (coherent ice 55% → 16%).</a:t>
            </a:r>
            <a:endParaRPr lang="en-GB" sz="2400" dirty="0"/>
          </a:p>
        </p:txBody>
      </p:sp>
      <p:sp>
        <p:nvSpPr>
          <p:cNvPr id="5006" name="Q1 bullet dot 3"/>
          <p:cNvSpPr txBox="1"/>
          <p:nvPr/>
        </p:nvSpPr>
        <p:spPr>
          <a:xfrm>
            <a:off x="731520" y="26659332"/>
            <a:ext cx="329184" cy="406908"/>
          </a:xfrm>
          <a:prstGeom prst="rect">
            <a:avLst/>
          </a:prstGeom>
          <a:noFill/>
          <a:ln/>
        </p:spPr>
        <p:txBody>
          <a:bodyPr wrap="square" lIns="0" tIns="0" rIns="0" bIns="0" rtlCol="0" anchor="t"/>
          <a:lstStyle/>
          <a:p>
            <a:pPr indent="0" marL="0">
              <a:lnSpc>
                <a:spcPct val="110000"/>
              </a:lnSpc>
              <a:buNone/>
            </a:pPr>
            <a:r>
              <a:rPr lang="en-GB" altLang="en-US" sz="2400" dirty="0">
                <a:solidFill>
                  <a:srgbClr val="125F55"/>
                </a:solidFill>
                <a:latin typeface="Arial" pitchFamily="34" charset="0"/>
                <a:ea typeface="Arial" pitchFamily="34" charset="-122"/>
                <a:cs typeface="Arial" pitchFamily="34" charset="-120"/>
              </a:rPr>
              <a:t>●</a:t>
            </a:r>
            <a:endParaRPr lang="en-GB" sz="2400" dirty="0"/>
          </a:p>
        </p:txBody>
      </p:sp>
      <p:sp>
        <p:nvSpPr>
          <p:cNvPr id="5007" name="Q1 bullet 3"/>
          <p:cNvSpPr txBox="1"/>
          <p:nvPr/>
        </p:nvSpPr>
        <p:spPr>
          <a:xfrm>
            <a:off x="1097280" y="26659332"/>
            <a:ext cx="13743432" cy="406908"/>
          </a:xfrm>
          <a:prstGeom prst="rect">
            <a:avLst/>
          </a:prstGeom>
          <a:noFill/>
          <a:ln/>
        </p:spPr>
        <p:txBody>
          <a:bodyPr wrap="square" lIns="0" tIns="0" rIns="0" bIns="0" rtlCol="0" anchor="t"/>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Only </a:t>
            </a:r>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12-day</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pairs work: coherence 0.78–0.81 at 12 days, but 0.54 at 24 days.</a:t>
            </a:r>
            <a:endParaRPr lang="en-GB" sz="2400" dirty="0"/>
          </a:p>
        </p:txBody>
      </p:sp>
      <p:sp>
        <p:nvSpPr>
          <p:cNvPr id="5008" name="Pass header descending"/>
          <p:cNvSpPr txBox="1"/>
          <p:nvPr/>
        </p:nvSpPr>
        <p:spPr>
          <a:xfrm>
            <a:off x="15471648" y="20500848"/>
            <a:ext cx="6784848"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Descending pass</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(S1A, HH) · looks west</a:t>
            </a:r>
            <a:endParaRPr lang="en-GB" sz="2400" dirty="0"/>
          </a:p>
        </p:txBody>
      </p:sp>
      <p:sp>
        <p:nvSpPr>
          <p:cNvPr id="5009" name="Pass header ascending"/>
          <p:cNvSpPr txBox="1"/>
          <p:nvPr/>
        </p:nvSpPr>
        <p:spPr>
          <a:xfrm>
            <a:off x="22530816" y="20500848"/>
            <a:ext cx="6784848"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Ascending pass</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(S1B, VV) · looks east</a:t>
            </a:r>
            <a:endParaRPr lang="en-GB" sz="2400" dirty="0"/>
          </a:p>
        </p:txBody>
      </p:sp>
      <p:sp>
        <p:nvSpPr>
          <p:cNvPr id="5010" name="Pass rule 0"/>
          <p:cNvSpPr/>
          <p:nvPr/>
        </p:nvSpPr>
        <p:spPr>
          <a:xfrm>
            <a:off x="15471648" y="20930616"/>
            <a:ext cx="6784848" cy="0"/>
          </a:xfrm>
          <a:prstGeom prst="line">
            <a:avLst/>
          </a:prstGeom>
          <a:noFill/>
          <a:ln w="17780">
            <a:solidFill>
              <a:srgbClr val="1E1E1E"/>
            </a:solidFill>
            <a:prstDash val="solid"/>
          </a:ln>
        </p:spPr>
      </p:sp>
      <p:sp>
        <p:nvSpPr>
          <p:cNvPr id="5011" name="Pass rule 2"/>
          <p:cNvSpPr/>
          <p:nvPr/>
        </p:nvSpPr>
        <p:spPr>
          <a:xfrm>
            <a:off x="22530816" y="20930616"/>
            <a:ext cx="6784848" cy="0"/>
          </a:xfrm>
          <a:prstGeom prst="line">
            <a:avLst/>
          </a:prstGeom>
          <a:noFill/>
          <a:ln w="17780">
            <a:solidFill>
              <a:srgbClr val="1E1E1E"/>
            </a:solidFill>
            <a:prstDash val="solid"/>
          </a:ln>
        </p:spPr>
      </p:sp>
      <p:sp>
        <p:nvSpPr>
          <p:cNvPr id="5012" name="Interferogram date 2018–19 1"/>
          <p:cNvSpPr txBox="1"/>
          <p:nvPr/>
        </p:nvSpPr>
        <p:spPr>
          <a:xfrm>
            <a:off x="15471648" y="20967192"/>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1F4F9E"/>
                </a:solidFill>
                <a:latin typeface="Arial" pitchFamily="34" charset="0"/>
                <a:ea typeface="Arial" pitchFamily="34" charset="-122"/>
                <a:cs typeface="Arial" pitchFamily="34" charset="-120"/>
              </a:rPr>
              <a:t>17 Feb – 1 Mar 2019</a:t>
            </a:r>
            <a:endParaRPr lang="en-GB" sz="2400" dirty="0"/>
          </a:p>
        </p:txBody>
      </p:sp>
      <p:pic>
        <p:nvPicPr>
          <p:cNvPr id="5013" name="Interferogram 17 Feb – 1 Mar 2019" descr="/private/tmp/claude-501/-Users-bhakthadarshan-Documents-DUK-Confernce/afca98ef-9cc5-4a67-a426-9a824b18c829/scratchpad/p4/img/ifg19_d1.png">    </p:cNvPr>
          <p:cNvPicPr>
            <a:picLocks noChangeAspect="1"/>
          </p:cNvPicPr>
          <p:nvPr/>
        </p:nvPicPr>
        <p:blipFill>
          <a:blip r:embed="rId903"/>
          <a:stretch>
            <a:fillRect/>
          </a:stretch>
        </p:blipFill>
        <p:spPr>
          <a:xfrm>
            <a:off x="15471648" y="21342096"/>
            <a:ext cx="3346704" cy="2624866"/>
          </a:xfrm>
          <a:prstGeom prst="rect">
            <a:avLst/>
          </a:prstGeom>
        </p:spPr>
      </p:pic>
      <p:sp>
        <p:nvSpPr>
          <p:cNvPr id="5014" name="Interferogram frame 2018–19 1"/>
          <p:cNvSpPr/>
          <p:nvPr/>
        </p:nvSpPr>
        <p:spPr>
          <a:xfrm>
            <a:off x="15471648" y="21342096"/>
            <a:ext cx="3346704" cy="2624866"/>
          </a:xfrm>
          <a:prstGeom prst="rect">
            <a:avLst/>
          </a:prstGeom>
          <a:ln w="9525">
            <a:solidFill>
              <a:srgbClr val="9A9A9A"/>
            </a:solidFill>
            <a:prstDash val="solid"/>
          </a:ln>
        </p:spPr>
      </p:sp>
      <p:sp>
        <p:nvSpPr>
          <p:cNvPr id="5015" name="Interferogram date 2018–19 2"/>
          <p:cNvSpPr txBox="1"/>
          <p:nvPr/>
        </p:nvSpPr>
        <p:spPr>
          <a:xfrm>
            <a:off x="18909792" y="20967192"/>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1F4F9E"/>
                </a:solidFill>
                <a:latin typeface="Arial" pitchFamily="34" charset="0"/>
                <a:ea typeface="Arial" pitchFamily="34" charset="-122"/>
                <a:cs typeface="Arial" pitchFamily="34" charset="-120"/>
              </a:rPr>
              <a:t>1 – 13 Mar 2019</a:t>
            </a:r>
            <a:endParaRPr lang="en-GB" sz="2400" dirty="0"/>
          </a:p>
        </p:txBody>
      </p:sp>
      <p:pic>
        <p:nvPicPr>
          <p:cNvPr id="5016" name="Interferogram 1 – 13 Mar 2019" descr="/private/tmp/claude-501/-Users-bhakthadarshan-Documents-DUK-Confernce/afca98ef-9cc5-4a67-a426-9a824b18c829/scratchpad/p4/img/ifg19_d2.png">    </p:cNvPr>
          <p:cNvPicPr>
            <a:picLocks noChangeAspect="1"/>
          </p:cNvPicPr>
          <p:nvPr/>
        </p:nvPicPr>
        <p:blipFill>
          <a:blip r:embed="rId904"/>
          <a:stretch>
            <a:fillRect/>
          </a:stretch>
        </p:blipFill>
        <p:spPr>
          <a:xfrm>
            <a:off x="18909792" y="21342096"/>
            <a:ext cx="3346704" cy="2624866"/>
          </a:xfrm>
          <a:prstGeom prst="rect">
            <a:avLst/>
          </a:prstGeom>
        </p:spPr>
      </p:pic>
      <p:sp>
        <p:nvSpPr>
          <p:cNvPr id="5017" name="Interferogram frame 2018–19 2"/>
          <p:cNvSpPr/>
          <p:nvPr/>
        </p:nvSpPr>
        <p:spPr>
          <a:xfrm>
            <a:off x="18909792" y="21342096"/>
            <a:ext cx="3346704" cy="2624866"/>
          </a:xfrm>
          <a:prstGeom prst="rect">
            <a:avLst/>
          </a:prstGeom>
          <a:ln w="9525">
            <a:solidFill>
              <a:srgbClr val="9A9A9A"/>
            </a:solidFill>
            <a:prstDash val="solid"/>
          </a:ln>
        </p:spPr>
      </p:sp>
      <p:sp>
        <p:nvSpPr>
          <p:cNvPr id="5018" name="Interferogram date 2018–19 3"/>
          <p:cNvSpPr txBox="1"/>
          <p:nvPr/>
        </p:nvSpPr>
        <p:spPr>
          <a:xfrm>
            <a:off x="22530816" y="20967192"/>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1F4F9E"/>
                </a:solidFill>
                <a:latin typeface="Arial" pitchFamily="34" charset="0"/>
                <a:ea typeface="Arial" pitchFamily="34" charset="-122"/>
                <a:cs typeface="Arial" pitchFamily="34" charset="-120"/>
              </a:rPr>
              <a:t>21 Feb – 5 Mar 2019</a:t>
            </a:r>
            <a:endParaRPr lang="en-GB" sz="2400" dirty="0"/>
          </a:p>
        </p:txBody>
      </p:sp>
      <p:pic>
        <p:nvPicPr>
          <p:cNvPr id="5019" name="Interferogram 21 Feb – 5 Mar 2019" descr="/private/tmp/claude-501/-Users-bhakthadarshan-Documents-DUK-Confernce/afca98ef-9cc5-4a67-a426-9a824b18c829/scratchpad/p4/img/ifg19_a1.png">    </p:cNvPr>
          <p:cNvPicPr>
            <a:picLocks noChangeAspect="1"/>
          </p:cNvPicPr>
          <p:nvPr/>
        </p:nvPicPr>
        <p:blipFill>
          <a:blip r:embed="rId905"/>
          <a:stretch>
            <a:fillRect/>
          </a:stretch>
        </p:blipFill>
        <p:spPr>
          <a:xfrm>
            <a:off x="22530816" y="21342096"/>
            <a:ext cx="3346704" cy="2624866"/>
          </a:xfrm>
          <a:prstGeom prst="rect">
            <a:avLst/>
          </a:prstGeom>
        </p:spPr>
      </p:pic>
      <p:sp>
        <p:nvSpPr>
          <p:cNvPr id="5020" name="Interferogram frame 2018–19 3"/>
          <p:cNvSpPr/>
          <p:nvPr/>
        </p:nvSpPr>
        <p:spPr>
          <a:xfrm>
            <a:off x="22530816" y="21342096"/>
            <a:ext cx="3346704" cy="2624866"/>
          </a:xfrm>
          <a:prstGeom prst="rect">
            <a:avLst/>
          </a:prstGeom>
          <a:ln w="9525">
            <a:solidFill>
              <a:srgbClr val="9A9A9A"/>
            </a:solidFill>
            <a:prstDash val="solid"/>
          </a:ln>
        </p:spPr>
      </p:sp>
      <p:sp>
        <p:nvSpPr>
          <p:cNvPr id="5021" name="Interferogram date 2018–19 4"/>
          <p:cNvSpPr txBox="1"/>
          <p:nvPr/>
        </p:nvSpPr>
        <p:spPr>
          <a:xfrm>
            <a:off x="25968960" y="20967192"/>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1F4F9E"/>
                </a:solidFill>
                <a:latin typeface="Arial" pitchFamily="34" charset="0"/>
                <a:ea typeface="Arial" pitchFamily="34" charset="-122"/>
                <a:cs typeface="Arial" pitchFamily="34" charset="-120"/>
              </a:rPr>
              <a:t>5 – 17 Mar 2019</a:t>
            </a:r>
            <a:endParaRPr lang="en-GB" sz="2400" dirty="0"/>
          </a:p>
        </p:txBody>
      </p:sp>
      <p:pic>
        <p:nvPicPr>
          <p:cNvPr id="5022" name="Interferogram 5 – 17 Mar 2019" descr="/private/tmp/claude-501/-Users-bhakthadarshan-Documents-DUK-Confernce/afca98ef-9cc5-4a67-a426-9a824b18c829/scratchpad/p4/img/ifg19_a2.png">    </p:cNvPr>
          <p:cNvPicPr>
            <a:picLocks noChangeAspect="1"/>
          </p:cNvPicPr>
          <p:nvPr/>
        </p:nvPicPr>
        <p:blipFill>
          <a:blip r:embed="rId906"/>
          <a:stretch>
            <a:fillRect/>
          </a:stretch>
        </p:blipFill>
        <p:spPr>
          <a:xfrm>
            <a:off x="25968960" y="21342096"/>
            <a:ext cx="3346704" cy="2624866"/>
          </a:xfrm>
          <a:prstGeom prst="rect">
            <a:avLst/>
          </a:prstGeom>
        </p:spPr>
      </p:pic>
      <p:sp>
        <p:nvSpPr>
          <p:cNvPr id="5023" name="Interferogram frame 2018–19 4"/>
          <p:cNvSpPr/>
          <p:nvPr/>
        </p:nvSpPr>
        <p:spPr>
          <a:xfrm>
            <a:off x="25968960" y="21342096"/>
            <a:ext cx="3346704" cy="2624866"/>
          </a:xfrm>
          <a:prstGeom prst="rect">
            <a:avLst/>
          </a:prstGeom>
          <a:ln w="9525">
            <a:solidFill>
              <a:srgbClr val="9A9A9A"/>
            </a:solidFill>
            <a:prstDash val="solid"/>
          </a:ln>
        </p:spPr>
      </p:sp>
      <p:sp>
        <p:nvSpPr>
          <p:cNvPr id="5024" name="Interferogram date 2020–21 1"/>
          <p:cNvSpPr txBox="1"/>
          <p:nvPr/>
        </p:nvSpPr>
        <p:spPr>
          <a:xfrm>
            <a:off x="15471648" y="24049258"/>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D9731F"/>
                </a:solidFill>
                <a:latin typeface="Arial" pitchFamily="34" charset="0"/>
                <a:ea typeface="Arial" pitchFamily="34" charset="-122"/>
                <a:cs typeface="Arial" pitchFamily="34" charset="-120"/>
              </a:rPr>
              <a:t>14 – 26 Mar 2021</a:t>
            </a:r>
            <a:endParaRPr lang="en-GB" sz="2400" dirty="0"/>
          </a:p>
        </p:txBody>
      </p:sp>
      <p:pic>
        <p:nvPicPr>
          <p:cNvPr id="5025" name="Interferogram 14 – 26 Mar 2021" descr="/private/tmp/claude-501/-Users-bhakthadarshan-Documents-DUK-Confernce/afca98ef-9cc5-4a67-a426-9a824b18c829/scratchpad/p4/img/ifg21_d1.png">    </p:cNvPr>
          <p:cNvPicPr>
            <a:picLocks noChangeAspect="1"/>
          </p:cNvPicPr>
          <p:nvPr/>
        </p:nvPicPr>
        <p:blipFill>
          <a:blip r:embed="rId907"/>
          <a:stretch>
            <a:fillRect/>
          </a:stretch>
        </p:blipFill>
        <p:spPr>
          <a:xfrm>
            <a:off x="15471648" y="24424162"/>
            <a:ext cx="3346704" cy="2624866"/>
          </a:xfrm>
          <a:prstGeom prst="rect">
            <a:avLst/>
          </a:prstGeom>
        </p:spPr>
      </p:pic>
      <p:sp>
        <p:nvSpPr>
          <p:cNvPr id="5026" name="Interferogram frame 2020–21 1"/>
          <p:cNvSpPr/>
          <p:nvPr/>
        </p:nvSpPr>
        <p:spPr>
          <a:xfrm>
            <a:off x="15471648" y="24424162"/>
            <a:ext cx="3346704" cy="2624866"/>
          </a:xfrm>
          <a:prstGeom prst="rect">
            <a:avLst/>
          </a:prstGeom>
          <a:ln w="9525">
            <a:solidFill>
              <a:srgbClr val="9A9A9A"/>
            </a:solidFill>
            <a:prstDash val="solid"/>
          </a:ln>
        </p:spPr>
      </p:sp>
      <p:sp>
        <p:nvSpPr>
          <p:cNvPr id="5027" name="Interferogram date 2020–21 2"/>
          <p:cNvSpPr txBox="1"/>
          <p:nvPr/>
        </p:nvSpPr>
        <p:spPr>
          <a:xfrm>
            <a:off x="18909792" y="24049258"/>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D9731F"/>
                </a:solidFill>
                <a:latin typeface="Arial" pitchFamily="34" charset="0"/>
                <a:ea typeface="Arial" pitchFamily="34" charset="-122"/>
                <a:cs typeface="Arial" pitchFamily="34" charset="-120"/>
              </a:rPr>
              <a:t>26 Mar – 7 Apr 2021</a:t>
            </a:r>
            <a:endParaRPr lang="en-GB" sz="2400" dirty="0"/>
          </a:p>
        </p:txBody>
      </p:sp>
      <p:pic>
        <p:nvPicPr>
          <p:cNvPr id="5028" name="Interferogram 26 Mar – 7 Apr 2021" descr="/private/tmp/claude-501/-Users-bhakthadarshan-Documents-DUK-Confernce/afca98ef-9cc5-4a67-a426-9a824b18c829/scratchpad/p4/img/ifg21_d2.png">    </p:cNvPr>
          <p:cNvPicPr>
            <a:picLocks noChangeAspect="1"/>
          </p:cNvPicPr>
          <p:nvPr/>
        </p:nvPicPr>
        <p:blipFill>
          <a:blip r:embed="rId908"/>
          <a:stretch>
            <a:fillRect/>
          </a:stretch>
        </p:blipFill>
        <p:spPr>
          <a:xfrm>
            <a:off x="18909792" y="24424162"/>
            <a:ext cx="3346704" cy="2624866"/>
          </a:xfrm>
          <a:prstGeom prst="rect">
            <a:avLst/>
          </a:prstGeom>
        </p:spPr>
      </p:pic>
      <p:sp>
        <p:nvSpPr>
          <p:cNvPr id="5029" name="Interferogram frame 2020–21 2"/>
          <p:cNvSpPr/>
          <p:nvPr/>
        </p:nvSpPr>
        <p:spPr>
          <a:xfrm>
            <a:off x="18909792" y="24424162"/>
            <a:ext cx="3346704" cy="2624866"/>
          </a:xfrm>
          <a:prstGeom prst="rect">
            <a:avLst/>
          </a:prstGeom>
          <a:ln w="9525">
            <a:solidFill>
              <a:srgbClr val="9A9A9A"/>
            </a:solidFill>
            <a:prstDash val="solid"/>
          </a:ln>
        </p:spPr>
      </p:sp>
      <p:sp>
        <p:nvSpPr>
          <p:cNvPr id="5030" name="Interferogram date 2020–21 3"/>
          <p:cNvSpPr txBox="1"/>
          <p:nvPr/>
        </p:nvSpPr>
        <p:spPr>
          <a:xfrm>
            <a:off x="22530816" y="24049258"/>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D9731F"/>
                </a:solidFill>
                <a:latin typeface="Arial" pitchFamily="34" charset="0"/>
                <a:ea typeface="Arial" pitchFamily="34" charset="-122"/>
                <a:cs typeface="Arial" pitchFamily="34" charset="-120"/>
              </a:rPr>
              <a:t>18 – 30 Mar 2021</a:t>
            </a:r>
            <a:endParaRPr lang="en-GB" sz="2400" dirty="0"/>
          </a:p>
        </p:txBody>
      </p:sp>
      <p:pic>
        <p:nvPicPr>
          <p:cNvPr id="5031" name="Interferogram 18 – 30 Mar 2021" descr="/private/tmp/claude-501/-Users-bhakthadarshan-Documents-DUK-Confernce/afca98ef-9cc5-4a67-a426-9a824b18c829/scratchpad/p4/img/ifg21_a1.png">    </p:cNvPr>
          <p:cNvPicPr>
            <a:picLocks noChangeAspect="1"/>
          </p:cNvPicPr>
          <p:nvPr/>
        </p:nvPicPr>
        <p:blipFill>
          <a:blip r:embed="rId909"/>
          <a:stretch>
            <a:fillRect/>
          </a:stretch>
        </p:blipFill>
        <p:spPr>
          <a:xfrm>
            <a:off x="22530816" y="24424162"/>
            <a:ext cx="3346704" cy="2624866"/>
          </a:xfrm>
          <a:prstGeom prst="rect">
            <a:avLst/>
          </a:prstGeom>
        </p:spPr>
      </p:pic>
      <p:sp>
        <p:nvSpPr>
          <p:cNvPr id="5032" name="Interferogram frame 2020–21 3"/>
          <p:cNvSpPr/>
          <p:nvPr/>
        </p:nvSpPr>
        <p:spPr>
          <a:xfrm>
            <a:off x="22530816" y="24424162"/>
            <a:ext cx="3346704" cy="2624866"/>
          </a:xfrm>
          <a:prstGeom prst="rect">
            <a:avLst/>
          </a:prstGeom>
          <a:ln w="9525">
            <a:solidFill>
              <a:srgbClr val="9A9A9A"/>
            </a:solidFill>
            <a:prstDash val="solid"/>
          </a:ln>
        </p:spPr>
      </p:sp>
      <p:sp>
        <p:nvSpPr>
          <p:cNvPr id="5033" name="Interferogram date 2020–21 4"/>
          <p:cNvSpPr txBox="1"/>
          <p:nvPr/>
        </p:nvSpPr>
        <p:spPr>
          <a:xfrm>
            <a:off x="25968960" y="24049258"/>
            <a:ext cx="3346704" cy="36576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D9731F"/>
                </a:solidFill>
                <a:latin typeface="Arial" pitchFamily="34" charset="0"/>
                <a:ea typeface="Arial" pitchFamily="34" charset="-122"/>
                <a:cs typeface="Arial" pitchFamily="34" charset="-120"/>
              </a:rPr>
              <a:t>30 Mar – 11 Apr 2021</a:t>
            </a:r>
            <a:endParaRPr lang="en-GB" sz="2400" dirty="0"/>
          </a:p>
        </p:txBody>
      </p:sp>
      <p:pic>
        <p:nvPicPr>
          <p:cNvPr id="5034" name="Interferogram 30 Mar – 11 Apr 2021" descr="/private/tmp/claude-501/-Users-bhakthadarshan-Documents-DUK-Confernce/afca98ef-9cc5-4a67-a426-9a824b18c829/scratchpad/p4/img/ifg21_a2.png">    </p:cNvPr>
          <p:cNvPicPr>
            <a:picLocks noChangeAspect="1"/>
          </p:cNvPicPr>
          <p:nvPr/>
        </p:nvPicPr>
        <p:blipFill>
          <a:blip r:embed="rId910"/>
          <a:stretch>
            <a:fillRect/>
          </a:stretch>
        </p:blipFill>
        <p:spPr>
          <a:xfrm>
            <a:off x="25968960" y="24424162"/>
            <a:ext cx="3346704" cy="2624866"/>
          </a:xfrm>
          <a:prstGeom prst="rect">
            <a:avLst/>
          </a:prstGeom>
        </p:spPr>
      </p:pic>
      <p:sp>
        <p:nvSpPr>
          <p:cNvPr id="5035" name="Interferogram frame 2020–21 4"/>
          <p:cNvSpPr/>
          <p:nvPr/>
        </p:nvSpPr>
        <p:spPr>
          <a:xfrm>
            <a:off x="25968960" y="24424162"/>
            <a:ext cx="3346704" cy="2624866"/>
          </a:xfrm>
          <a:prstGeom prst="rect">
            <a:avLst/>
          </a:prstGeom>
          <a:ln w="9525">
            <a:solidFill>
              <a:srgbClr val="9A9A9A"/>
            </a:solidFill>
            <a:prstDash val="solid"/>
          </a:ln>
        </p:spPr>
      </p:sp>
      <p:pic>
        <p:nvPicPr>
          <p:cNvPr id="5036" name="Phase colour bar" descr="/private/tmp/claude-501/-Users-bhakthadarshan-Documents-DUK-Confernce/afca98ef-9cc5-4a67-a426-9a824b18c829/scratchpad/p4/img/cbar_phase_h.png">    </p:cNvPr>
          <p:cNvPicPr>
            <a:picLocks noChangeAspect="1"/>
          </p:cNvPicPr>
          <p:nvPr/>
        </p:nvPicPr>
        <p:blipFill>
          <a:blip r:embed="rId911"/>
          <a:stretch>
            <a:fillRect/>
          </a:stretch>
        </p:blipFill>
        <p:spPr>
          <a:xfrm>
            <a:off x="15343632" y="27213620"/>
            <a:ext cx="2468880" cy="219456"/>
          </a:xfrm>
          <a:prstGeom prst="rect">
            <a:avLst/>
          </a:prstGeom>
        </p:spPr>
      </p:pic>
      <p:sp>
        <p:nvSpPr>
          <p:cNvPr id="5037" name="Phase colour bar frame"/>
          <p:cNvSpPr/>
          <p:nvPr/>
        </p:nvSpPr>
        <p:spPr>
          <a:xfrm>
            <a:off x="15343632" y="27213620"/>
            <a:ext cx="2468880" cy="219456"/>
          </a:xfrm>
          <a:prstGeom prst="rect">
            <a:avLst/>
          </a:prstGeom>
          <a:ln w="9525">
            <a:solidFill>
              <a:srgbClr val="9A9A9A"/>
            </a:solidFill>
            <a:prstDash val="solid"/>
          </a:ln>
        </p:spPr>
      </p:sp>
      <p:sp>
        <p:nvSpPr>
          <p:cNvPr id="5038" name="Phase tick min"/>
          <p:cNvSpPr txBox="1"/>
          <p:nvPr/>
        </p:nvSpPr>
        <p:spPr>
          <a:xfrm>
            <a:off x="15343632" y="27460508"/>
            <a:ext cx="640080" cy="384048"/>
          </a:xfrm>
          <a:prstGeom prst="rect">
            <a:avLst/>
          </a:prstGeom>
          <a:noFill/>
          <a:ln/>
        </p:spPr>
        <p:txBody>
          <a:bodyPr wrap="square" lIns="0" tIns="0" rIns="0" bIns="0" rtlCol="0" anchor="t"/>
          <a:lstStyle/>
          <a:p>
            <a:pPr algn="l"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−π</a:t>
            </a:r>
            <a:endParaRPr lang="en-GB" sz="2400" dirty="0"/>
          </a:p>
        </p:txBody>
      </p:sp>
      <p:sp>
        <p:nvSpPr>
          <p:cNvPr id="5039" name="Phase tick 0"/>
          <p:cNvSpPr txBox="1"/>
          <p:nvPr/>
        </p:nvSpPr>
        <p:spPr>
          <a:xfrm>
            <a:off x="16258032" y="27460508"/>
            <a:ext cx="640080" cy="384048"/>
          </a:xfrm>
          <a:prstGeom prst="rect">
            <a:avLst/>
          </a:prstGeom>
          <a:noFill/>
          <a:ln/>
        </p:spPr>
        <p:txBody>
          <a:bodyPr wrap="square" lIns="0" tIns="0" rIns="0" bIns="0" rtlCol="0" anchor="t"/>
          <a:lstStyle/>
          <a:p>
            <a:pPr algn="ct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0</a:t>
            </a:r>
            <a:endParaRPr lang="en-GB" sz="2400" dirty="0"/>
          </a:p>
        </p:txBody>
      </p:sp>
      <p:sp>
        <p:nvSpPr>
          <p:cNvPr id="5040" name="Phase tick max"/>
          <p:cNvSpPr txBox="1"/>
          <p:nvPr/>
        </p:nvSpPr>
        <p:spPr>
          <a:xfrm>
            <a:off x="17172432" y="27460508"/>
            <a:ext cx="640080" cy="384048"/>
          </a:xfrm>
          <a:prstGeom prst="rect">
            <a:avLst/>
          </a:prstGeom>
          <a:noFill/>
          <a:ln/>
        </p:spPr>
        <p:txBody>
          <a:bodyPr wrap="square" lIns="0" tIns="0" rIns="0" bIns="0" rtlCol="0" anchor="t"/>
          <a:lstStyle/>
          <a:p>
            <a:pPr algn="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+π</a:t>
            </a:r>
            <a:endParaRPr lang="en-GB" sz="2400" dirty="0"/>
          </a:p>
        </p:txBody>
      </p:sp>
      <p:sp>
        <p:nvSpPr>
          <p:cNvPr id="5041" name="How-to-read key"/>
          <p:cNvSpPr txBox="1"/>
          <p:nvPr/>
        </p:nvSpPr>
        <p:spPr>
          <a:xfrm>
            <a:off x="18086832" y="27149612"/>
            <a:ext cx="11356848" cy="813816"/>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1 colour cycle</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 2.8 cm toward or away from the satellite  ·  </a:t>
            </a:r>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tight stripes</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 fast motion  ·  </a:t>
            </a:r>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smooth colour</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 little motion (e.g. land)  ·  </a:t>
            </a:r>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white</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 not measurable</a:t>
            </a:r>
            <a:endParaRPr lang="en-GB" sz="2400" dirty="0"/>
          </a:p>
        </p:txBody>
      </p:sp>
      <p:sp>
        <p:nvSpPr>
          <p:cNvPr id="5042" name="Map column sideways"/>
          <p:cNvSpPr txBox="1"/>
          <p:nvPr/>
        </p:nvSpPr>
        <p:spPr>
          <a:xfrm>
            <a:off x="2011680" y="29004768"/>
            <a:ext cx="5385816"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Sideways motion</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(east–west, cm)</a:t>
            </a:r>
            <a:endParaRPr lang="en-GB" sz="2400" dirty="0"/>
          </a:p>
        </p:txBody>
      </p:sp>
      <p:sp>
        <p:nvSpPr>
          <p:cNvPr id="5043" name="Map column up-down"/>
          <p:cNvSpPr txBox="1"/>
          <p:nvPr/>
        </p:nvSpPr>
        <p:spPr>
          <a:xfrm>
            <a:off x="7351776" y="29004768"/>
            <a:ext cx="5111496"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Up–down motion</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(cm)</a:t>
            </a:r>
            <a:endParaRPr lang="en-GB" sz="2400" dirty="0"/>
          </a:p>
        </p:txBody>
      </p:sp>
      <p:sp>
        <p:nvSpPr>
          <p:cNvPr id="5044" name="Map row 2018–19"/>
          <p:cNvSpPr txBox="1"/>
          <p:nvPr/>
        </p:nvSpPr>
        <p:spPr>
          <a:xfrm>
            <a:off x="731520" y="30581231"/>
            <a:ext cx="1234440" cy="457200"/>
          </a:xfrm>
          <a:prstGeom prst="rect">
            <a:avLst/>
          </a:prstGeom>
          <a:noFill/>
          <a:ln/>
        </p:spPr>
        <p:txBody>
          <a:bodyPr wrap="square" lIns="0" tIns="0" rIns="0" bIns="0" rtlCol="0" anchor="ctr"/>
          <a:lstStyle/>
          <a:p>
            <a:pPr indent="0" marL="0">
              <a:lnSpc>
                <a:spcPct val="110000"/>
              </a:lnSpc>
              <a:buNone/>
            </a:pPr>
            <a:r>
              <a:rPr lang="en-GB" altLang="en-US" sz="2400" b="1" dirty="0">
                <a:solidFill>
                  <a:srgbClr val="1F4F9E"/>
                </a:solidFill>
                <a:latin typeface="Arial" pitchFamily="34" charset="0"/>
                <a:ea typeface="Arial" pitchFamily="34" charset="-122"/>
                <a:cs typeface="Arial" pitchFamily="34" charset="-120"/>
              </a:rPr>
              <a:t>2018–19</a:t>
            </a:r>
            <a:endParaRPr lang="en-GB" sz="2400" dirty="0"/>
          </a:p>
        </p:txBody>
      </p:sp>
      <p:pic>
        <p:nvPicPr>
          <p:cNvPr id="5045" name="Deformation map map_H19" descr="/private/tmp/claude-501/-Users-bhakthadarshan-Documents-DUK-Confernce/afca98ef-9cc5-4a67-a426-9a824b18c829/scratchpad/p4/img/map_H19.png">    </p:cNvPr>
          <p:cNvPicPr>
            <a:picLocks noChangeAspect="1"/>
          </p:cNvPicPr>
          <p:nvPr/>
        </p:nvPicPr>
        <p:blipFill>
          <a:blip r:embed="rId912"/>
          <a:stretch>
            <a:fillRect/>
          </a:stretch>
        </p:blipFill>
        <p:spPr>
          <a:xfrm>
            <a:off x="2011680" y="29443680"/>
            <a:ext cx="3474720" cy="2732302"/>
          </a:xfrm>
          <a:prstGeom prst="rect">
            <a:avLst/>
          </a:prstGeom>
        </p:spPr>
      </p:pic>
      <p:sp>
        <p:nvSpPr>
          <p:cNvPr id="5046" name="Deformation map frame map_H19"/>
          <p:cNvSpPr/>
          <p:nvPr/>
        </p:nvSpPr>
        <p:spPr>
          <a:xfrm>
            <a:off x="2011680" y="29443680"/>
            <a:ext cx="3474720" cy="2732302"/>
          </a:xfrm>
          <a:prstGeom prst="rect">
            <a:avLst/>
          </a:prstGeom>
          <a:ln w="9525">
            <a:solidFill>
              <a:srgbClr val="9A9A9A"/>
            </a:solidFill>
            <a:prstDash val="solid"/>
          </a:ln>
        </p:spPr>
      </p:sp>
      <p:pic>
        <p:nvPicPr>
          <p:cNvPr id="5047" name="Colour bar map_H19" descr="/private/tmp/claude-501/-Users-bhakthadarshan-Documents-DUK-Confernce/afca98ef-9cc5-4a67-a426-9a824b18c829/scratchpad/p4/img/cb_H19.png">    </p:cNvPr>
          <p:cNvPicPr>
            <a:picLocks noChangeAspect="1"/>
          </p:cNvPicPr>
          <p:nvPr/>
        </p:nvPicPr>
        <p:blipFill>
          <a:blip r:embed="rId913"/>
          <a:stretch>
            <a:fillRect/>
          </a:stretch>
        </p:blipFill>
        <p:spPr>
          <a:xfrm>
            <a:off x="5559552" y="29443680"/>
            <a:ext cx="146304" cy="2732302"/>
          </a:xfrm>
          <a:prstGeom prst="rect">
            <a:avLst/>
          </a:prstGeom>
        </p:spPr>
      </p:pic>
      <p:sp>
        <p:nvSpPr>
          <p:cNvPr id="5048" name="Colour bar frame map_H19"/>
          <p:cNvSpPr/>
          <p:nvPr/>
        </p:nvSpPr>
        <p:spPr>
          <a:xfrm>
            <a:off x="5559552" y="29443680"/>
            <a:ext cx="146304" cy="2732302"/>
          </a:xfrm>
          <a:prstGeom prst="rect">
            <a:avLst/>
          </a:prstGeom>
          <a:ln w="9525">
            <a:solidFill>
              <a:srgbClr val="9A9A9A"/>
            </a:solidFill>
            <a:prstDash val="solid"/>
          </a:ln>
        </p:spPr>
      </p:sp>
      <p:sp>
        <p:nvSpPr>
          <p:cNvPr id="5049" name="Tick map_H19 40 east"/>
          <p:cNvSpPr/>
          <p:nvPr/>
        </p:nvSpPr>
        <p:spPr>
          <a:xfrm>
            <a:off x="5705856" y="29778114"/>
            <a:ext cx="64008" cy="0"/>
          </a:xfrm>
          <a:prstGeom prst="line">
            <a:avLst/>
          </a:prstGeom>
          <a:noFill/>
          <a:ln w="15875">
            <a:solidFill>
              <a:srgbClr val="333333"/>
            </a:solidFill>
            <a:prstDash val="solid"/>
          </a:ln>
        </p:spPr>
      </p:sp>
      <p:sp>
        <p:nvSpPr>
          <p:cNvPr id="5050" name="Tick label map_H19 40 east"/>
          <p:cNvSpPr txBox="1"/>
          <p:nvPr/>
        </p:nvSpPr>
        <p:spPr>
          <a:xfrm>
            <a:off x="5797296" y="29586090"/>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40 east</a:t>
            </a:r>
            <a:endParaRPr lang="en-GB" sz="2400" dirty="0"/>
          </a:p>
        </p:txBody>
      </p:sp>
      <p:sp>
        <p:nvSpPr>
          <p:cNvPr id="5051" name="Tick map_H19 0"/>
          <p:cNvSpPr/>
          <p:nvPr/>
        </p:nvSpPr>
        <p:spPr>
          <a:xfrm>
            <a:off x="5705856" y="30817754"/>
            <a:ext cx="64008" cy="0"/>
          </a:xfrm>
          <a:prstGeom prst="line">
            <a:avLst/>
          </a:prstGeom>
          <a:noFill/>
          <a:ln w="15875">
            <a:solidFill>
              <a:srgbClr val="333333"/>
            </a:solidFill>
            <a:prstDash val="solid"/>
          </a:ln>
        </p:spPr>
      </p:sp>
      <p:sp>
        <p:nvSpPr>
          <p:cNvPr id="5052" name="Tick label map_H19 0"/>
          <p:cNvSpPr txBox="1"/>
          <p:nvPr/>
        </p:nvSpPr>
        <p:spPr>
          <a:xfrm>
            <a:off x="5797296" y="30625730"/>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0</a:t>
            </a:r>
            <a:endParaRPr lang="en-GB" sz="2400" dirty="0"/>
          </a:p>
        </p:txBody>
      </p:sp>
      <p:sp>
        <p:nvSpPr>
          <p:cNvPr id="5053" name="Tick map_H19 40 west"/>
          <p:cNvSpPr/>
          <p:nvPr/>
        </p:nvSpPr>
        <p:spPr>
          <a:xfrm>
            <a:off x="5705856" y="31852204"/>
            <a:ext cx="64008" cy="0"/>
          </a:xfrm>
          <a:prstGeom prst="line">
            <a:avLst/>
          </a:prstGeom>
          <a:noFill/>
          <a:ln w="15875">
            <a:solidFill>
              <a:srgbClr val="333333"/>
            </a:solidFill>
            <a:prstDash val="solid"/>
          </a:ln>
        </p:spPr>
      </p:sp>
      <p:sp>
        <p:nvSpPr>
          <p:cNvPr id="5054" name="Tick label map_H19 40 west"/>
          <p:cNvSpPr txBox="1"/>
          <p:nvPr/>
        </p:nvSpPr>
        <p:spPr>
          <a:xfrm>
            <a:off x="5797296" y="31660180"/>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40 west</a:t>
            </a:r>
            <a:endParaRPr lang="en-GB" sz="2400" dirty="0"/>
          </a:p>
        </p:txBody>
      </p:sp>
      <p:pic>
        <p:nvPicPr>
          <p:cNvPr id="5055" name="Deformation map map_V19" descr="/private/tmp/claude-501/-Users-bhakthadarshan-Documents-DUK-Confernce/afca98ef-9cc5-4a67-a426-9a824b18c829/scratchpad/p4/img/map_V19.png">    </p:cNvPr>
          <p:cNvPicPr>
            <a:picLocks noChangeAspect="1"/>
          </p:cNvPicPr>
          <p:nvPr/>
        </p:nvPicPr>
        <p:blipFill>
          <a:blip r:embed="rId914"/>
          <a:stretch>
            <a:fillRect/>
          </a:stretch>
        </p:blipFill>
        <p:spPr>
          <a:xfrm>
            <a:off x="7351776" y="29443680"/>
            <a:ext cx="3474720" cy="2732302"/>
          </a:xfrm>
          <a:prstGeom prst="rect">
            <a:avLst/>
          </a:prstGeom>
        </p:spPr>
      </p:pic>
      <p:sp>
        <p:nvSpPr>
          <p:cNvPr id="5056" name="Deformation map frame map_V19"/>
          <p:cNvSpPr/>
          <p:nvPr/>
        </p:nvSpPr>
        <p:spPr>
          <a:xfrm>
            <a:off x="7351776" y="29443680"/>
            <a:ext cx="3474720" cy="2732302"/>
          </a:xfrm>
          <a:prstGeom prst="rect">
            <a:avLst/>
          </a:prstGeom>
          <a:ln w="9525">
            <a:solidFill>
              <a:srgbClr val="9A9A9A"/>
            </a:solidFill>
            <a:prstDash val="solid"/>
          </a:ln>
        </p:spPr>
      </p:sp>
      <p:pic>
        <p:nvPicPr>
          <p:cNvPr id="5057" name="Colour bar map_V19" descr="/private/tmp/claude-501/-Users-bhakthadarshan-Documents-DUK-Confernce/afca98ef-9cc5-4a67-a426-9a824b18c829/scratchpad/p4/img/cb_V19.png">    </p:cNvPr>
          <p:cNvPicPr>
            <a:picLocks noChangeAspect="1"/>
          </p:cNvPicPr>
          <p:nvPr/>
        </p:nvPicPr>
        <p:blipFill>
          <a:blip r:embed="rId915"/>
          <a:stretch>
            <a:fillRect/>
          </a:stretch>
        </p:blipFill>
        <p:spPr>
          <a:xfrm>
            <a:off x="10899648" y="29443680"/>
            <a:ext cx="146304" cy="2732302"/>
          </a:xfrm>
          <a:prstGeom prst="rect">
            <a:avLst/>
          </a:prstGeom>
        </p:spPr>
      </p:pic>
      <p:sp>
        <p:nvSpPr>
          <p:cNvPr id="5058" name="Colour bar frame map_V19"/>
          <p:cNvSpPr/>
          <p:nvPr/>
        </p:nvSpPr>
        <p:spPr>
          <a:xfrm>
            <a:off x="10899648" y="29443680"/>
            <a:ext cx="146304" cy="2732302"/>
          </a:xfrm>
          <a:prstGeom prst="rect">
            <a:avLst/>
          </a:prstGeom>
          <a:ln w="9525">
            <a:solidFill>
              <a:srgbClr val="9A9A9A"/>
            </a:solidFill>
            <a:prstDash val="solid"/>
          </a:ln>
        </p:spPr>
      </p:sp>
      <p:sp>
        <p:nvSpPr>
          <p:cNvPr id="5059" name="Tick map_V19 10 up"/>
          <p:cNvSpPr/>
          <p:nvPr/>
        </p:nvSpPr>
        <p:spPr>
          <a:xfrm>
            <a:off x="11045952" y="30106263"/>
            <a:ext cx="64008" cy="0"/>
          </a:xfrm>
          <a:prstGeom prst="line">
            <a:avLst/>
          </a:prstGeom>
          <a:noFill/>
          <a:ln w="15875">
            <a:solidFill>
              <a:srgbClr val="333333"/>
            </a:solidFill>
            <a:prstDash val="solid"/>
          </a:ln>
        </p:spPr>
      </p:sp>
      <p:sp>
        <p:nvSpPr>
          <p:cNvPr id="5060" name="Tick label map_V19 10 up"/>
          <p:cNvSpPr txBox="1"/>
          <p:nvPr/>
        </p:nvSpPr>
        <p:spPr>
          <a:xfrm>
            <a:off x="11137392" y="29914239"/>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10 up</a:t>
            </a:r>
            <a:endParaRPr lang="en-GB" sz="2400" dirty="0"/>
          </a:p>
        </p:txBody>
      </p:sp>
      <p:sp>
        <p:nvSpPr>
          <p:cNvPr id="5061" name="Tick map_V19 0"/>
          <p:cNvSpPr/>
          <p:nvPr/>
        </p:nvSpPr>
        <p:spPr>
          <a:xfrm>
            <a:off x="11045952" y="30809831"/>
            <a:ext cx="64008" cy="0"/>
          </a:xfrm>
          <a:prstGeom prst="line">
            <a:avLst/>
          </a:prstGeom>
          <a:noFill/>
          <a:ln w="15875">
            <a:solidFill>
              <a:srgbClr val="333333"/>
            </a:solidFill>
            <a:prstDash val="solid"/>
          </a:ln>
        </p:spPr>
      </p:sp>
      <p:sp>
        <p:nvSpPr>
          <p:cNvPr id="5062" name="Tick label map_V19 0"/>
          <p:cNvSpPr txBox="1"/>
          <p:nvPr/>
        </p:nvSpPr>
        <p:spPr>
          <a:xfrm>
            <a:off x="11137392" y="30617807"/>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0</a:t>
            </a:r>
            <a:endParaRPr lang="en-GB" sz="2400" dirty="0"/>
          </a:p>
        </p:txBody>
      </p:sp>
      <p:sp>
        <p:nvSpPr>
          <p:cNvPr id="5063" name="Tick map_V19 10 down"/>
          <p:cNvSpPr/>
          <p:nvPr/>
        </p:nvSpPr>
        <p:spPr>
          <a:xfrm>
            <a:off x="11045952" y="31513398"/>
            <a:ext cx="64008" cy="0"/>
          </a:xfrm>
          <a:prstGeom prst="line">
            <a:avLst/>
          </a:prstGeom>
          <a:noFill/>
          <a:ln w="15875">
            <a:solidFill>
              <a:srgbClr val="333333"/>
            </a:solidFill>
            <a:prstDash val="solid"/>
          </a:ln>
        </p:spPr>
      </p:sp>
      <p:sp>
        <p:nvSpPr>
          <p:cNvPr id="5064" name="Tick label map_V19 10 down"/>
          <p:cNvSpPr txBox="1"/>
          <p:nvPr/>
        </p:nvSpPr>
        <p:spPr>
          <a:xfrm>
            <a:off x="11137392" y="31321374"/>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10 down</a:t>
            </a:r>
            <a:endParaRPr lang="en-GB" sz="2400" dirty="0"/>
          </a:p>
        </p:txBody>
      </p:sp>
      <p:sp>
        <p:nvSpPr>
          <p:cNvPr id="5065" name="Map row 2020–21"/>
          <p:cNvSpPr txBox="1"/>
          <p:nvPr/>
        </p:nvSpPr>
        <p:spPr>
          <a:xfrm>
            <a:off x="731520" y="33432404"/>
            <a:ext cx="1234440" cy="457200"/>
          </a:xfrm>
          <a:prstGeom prst="rect">
            <a:avLst/>
          </a:prstGeom>
          <a:noFill/>
          <a:ln/>
        </p:spPr>
        <p:txBody>
          <a:bodyPr wrap="square" lIns="0" tIns="0" rIns="0" bIns="0" rtlCol="0" anchor="ctr"/>
          <a:lstStyle/>
          <a:p>
            <a:pPr indent="0" marL="0">
              <a:lnSpc>
                <a:spcPct val="110000"/>
              </a:lnSpc>
              <a:buNone/>
            </a:pPr>
            <a:r>
              <a:rPr lang="en-GB" altLang="en-US" sz="2400" b="1" dirty="0">
                <a:solidFill>
                  <a:srgbClr val="D9731F"/>
                </a:solidFill>
                <a:latin typeface="Arial" pitchFamily="34" charset="0"/>
                <a:ea typeface="Arial" pitchFamily="34" charset="-122"/>
                <a:cs typeface="Arial" pitchFamily="34" charset="-120"/>
              </a:rPr>
              <a:t>2020–21</a:t>
            </a:r>
            <a:endParaRPr lang="en-GB" sz="2400" dirty="0"/>
          </a:p>
        </p:txBody>
      </p:sp>
      <p:pic>
        <p:nvPicPr>
          <p:cNvPr id="5066" name="Deformation map map_H21" descr="/private/tmp/claude-501/-Users-bhakthadarshan-Documents-DUK-Confernce/afca98ef-9cc5-4a67-a426-9a824b18c829/scratchpad/p4/img/map_H21.png">    </p:cNvPr>
          <p:cNvPicPr>
            <a:picLocks noChangeAspect="1"/>
          </p:cNvPicPr>
          <p:nvPr/>
        </p:nvPicPr>
        <p:blipFill>
          <a:blip r:embed="rId916"/>
          <a:stretch>
            <a:fillRect/>
          </a:stretch>
        </p:blipFill>
        <p:spPr>
          <a:xfrm>
            <a:off x="2011680" y="32294854"/>
            <a:ext cx="3474720" cy="2732302"/>
          </a:xfrm>
          <a:prstGeom prst="rect">
            <a:avLst/>
          </a:prstGeom>
        </p:spPr>
      </p:pic>
      <p:sp>
        <p:nvSpPr>
          <p:cNvPr id="5067" name="Deformation map frame map_H21"/>
          <p:cNvSpPr/>
          <p:nvPr/>
        </p:nvSpPr>
        <p:spPr>
          <a:xfrm>
            <a:off x="2011680" y="32294854"/>
            <a:ext cx="3474720" cy="2732302"/>
          </a:xfrm>
          <a:prstGeom prst="rect">
            <a:avLst/>
          </a:prstGeom>
          <a:ln w="9525">
            <a:solidFill>
              <a:srgbClr val="9A9A9A"/>
            </a:solidFill>
            <a:prstDash val="solid"/>
          </a:ln>
        </p:spPr>
      </p:sp>
      <p:pic>
        <p:nvPicPr>
          <p:cNvPr id="5068" name="Colour bar map_H21" descr="/private/tmp/claude-501/-Users-bhakthadarshan-Documents-DUK-Confernce/afca98ef-9cc5-4a67-a426-9a824b18c829/scratchpad/p4/img/cb_H21.png">    </p:cNvPr>
          <p:cNvPicPr>
            <a:picLocks noChangeAspect="1"/>
          </p:cNvPicPr>
          <p:nvPr/>
        </p:nvPicPr>
        <p:blipFill>
          <a:blip r:embed="rId917"/>
          <a:stretch>
            <a:fillRect/>
          </a:stretch>
        </p:blipFill>
        <p:spPr>
          <a:xfrm>
            <a:off x="5559552" y="32294854"/>
            <a:ext cx="146304" cy="2732302"/>
          </a:xfrm>
          <a:prstGeom prst="rect">
            <a:avLst/>
          </a:prstGeom>
        </p:spPr>
      </p:pic>
      <p:sp>
        <p:nvSpPr>
          <p:cNvPr id="5069" name="Colour bar frame map_H21"/>
          <p:cNvSpPr/>
          <p:nvPr/>
        </p:nvSpPr>
        <p:spPr>
          <a:xfrm>
            <a:off x="5559552" y="32294854"/>
            <a:ext cx="146304" cy="2732302"/>
          </a:xfrm>
          <a:prstGeom prst="rect">
            <a:avLst/>
          </a:prstGeom>
          <a:ln w="9525">
            <a:solidFill>
              <a:srgbClr val="9A9A9A"/>
            </a:solidFill>
            <a:prstDash val="solid"/>
          </a:ln>
        </p:spPr>
      </p:sp>
      <p:sp>
        <p:nvSpPr>
          <p:cNvPr id="5070" name="Tick map_H21 40 east"/>
          <p:cNvSpPr/>
          <p:nvPr/>
        </p:nvSpPr>
        <p:spPr>
          <a:xfrm>
            <a:off x="5705856" y="32681474"/>
            <a:ext cx="64008" cy="0"/>
          </a:xfrm>
          <a:prstGeom prst="line">
            <a:avLst/>
          </a:prstGeom>
          <a:noFill/>
          <a:ln w="15875">
            <a:solidFill>
              <a:srgbClr val="333333"/>
            </a:solidFill>
            <a:prstDash val="solid"/>
          </a:ln>
        </p:spPr>
      </p:sp>
      <p:sp>
        <p:nvSpPr>
          <p:cNvPr id="5071" name="Tick label map_H21 40 east"/>
          <p:cNvSpPr txBox="1"/>
          <p:nvPr/>
        </p:nvSpPr>
        <p:spPr>
          <a:xfrm>
            <a:off x="5797296" y="32489450"/>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40 east</a:t>
            </a:r>
            <a:endParaRPr lang="en-GB" sz="2400" dirty="0"/>
          </a:p>
        </p:txBody>
      </p:sp>
      <p:sp>
        <p:nvSpPr>
          <p:cNvPr id="5072" name="Tick map_H21 0"/>
          <p:cNvSpPr/>
          <p:nvPr/>
        </p:nvSpPr>
        <p:spPr>
          <a:xfrm>
            <a:off x="5705856" y="33668928"/>
            <a:ext cx="64008" cy="0"/>
          </a:xfrm>
          <a:prstGeom prst="line">
            <a:avLst/>
          </a:prstGeom>
          <a:noFill/>
          <a:ln w="15875">
            <a:solidFill>
              <a:srgbClr val="333333"/>
            </a:solidFill>
            <a:prstDash val="solid"/>
          </a:ln>
        </p:spPr>
      </p:sp>
      <p:sp>
        <p:nvSpPr>
          <p:cNvPr id="5073" name="Tick label map_H21 0"/>
          <p:cNvSpPr txBox="1"/>
          <p:nvPr/>
        </p:nvSpPr>
        <p:spPr>
          <a:xfrm>
            <a:off x="5797296" y="33476904"/>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0</a:t>
            </a:r>
            <a:endParaRPr lang="en-GB" sz="2400" dirty="0"/>
          </a:p>
        </p:txBody>
      </p:sp>
      <p:sp>
        <p:nvSpPr>
          <p:cNvPr id="5074" name="Tick map_H21 40 west"/>
          <p:cNvSpPr/>
          <p:nvPr/>
        </p:nvSpPr>
        <p:spPr>
          <a:xfrm>
            <a:off x="5705856" y="34640535"/>
            <a:ext cx="64008" cy="0"/>
          </a:xfrm>
          <a:prstGeom prst="line">
            <a:avLst/>
          </a:prstGeom>
          <a:noFill/>
          <a:ln w="15875">
            <a:solidFill>
              <a:srgbClr val="333333"/>
            </a:solidFill>
            <a:prstDash val="solid"/>
          </a:ln>
        </p:spPr>
      </p:sp>
      <p:sp>
        <p:nvSpPr>
          <p:cNvPr id="5075" name="Tick label map_H21 40 west"/>
          <p:cNvSpPr txBox="1"/>
          <p:nvPr/>
        </p:nvSpPr>
        <p:spPr>
          <a:xfrm>
            <a:off x="5797296" y="34448511"/>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40 west</a:t>
            </a:r>
            <a:endParaRPr lang="en-GB" sz="2400" dirty="0"/>
          </a:p>
        </p:txBody>
      </p:sp>
      <p:pic>
        <p:nvPicPr>
          <p:cNvPr id="5076" name="Deformation map map_V21" descr="/private/tmp/claude-501/-Users-bhakthadarshan-Documents-DUK-Confernce/afca98ef-9cc5-4a67-a426-9a824b18c829/scratchpad/p4/img/map_V21.png">    </p:cNvPr>
          <p:cNvPicPr>
            <a:picLocks noChangeAspect="1"/>
          </p:cNvPicPr>
          <p:nvPr/>
        </p:nvPicPr>
        <p:blipFill>
          <a:blip r:embed="rId918"/>
          <a:stretch>
            <a:fillRect/>
          </a:stretch>
        </p:blipFill>
        <p:spPr>
          <a:xfrm>
            <a:off x="7351776" y="32294854"/>
            <a:ext cx="3474720" cy="2732302"/>
          </a:xfrm>
          <a:prstGeom prst="rect">
            <a:avLst/>
          </a:prstGeom>
        </p:spPr>
      </p:pic>
      <p:sp>
        <p:nvSpPr>
          <p:cNvPr id="5077" name="Deformation map frame map_V21"/>
          <p:cNvSpPr/>
          <p:nvPr/>
        </p:nvSpPr>
        <p:spPr>
          <a:xfrm>
            <a:off x="7351776" y="32294854"/>
            <a:ext cx="3474720" cy="2732302"/>
          </a:xfrm>
          <a:prstGeom prst="rect">
            <a:avLst/>
          </a:prstGeom>
          <a:ln w="9525">
            <a:solidFill>
              <a:srgbClr val="9A9A9A"/>
            </a:solidFill>
            <a:prstDash val="solid"/>
          </a:ln>
        </p:spPr>
      </p:sp>
      <p:pic>
        <p:nvPicPr>
          <p:cNvPr id="5078" name="Colour bar map_V21" descr="/private/tmp/claude-501/-Users-bhakthadarshan-Documents-DUK-Confernce/afca98ef-9cc5-4a67-a426-9a824b18c829/scratchpad/p4/img/cb_V21.png">    </p:cNvPr>
          <p:cNvPicPr>
            <a:picLocks noChangeAspect="1"/>
          </p:cNvPicPr>
          <p:nvPr/>
        </p:nvPicPr>
        <p:blipFill>
          <a:blip r:embed="rId919"/>
          <a:stretch>
            <a:fillRect/>
          </a:stretch>
        </p:blipFill>
        <p:spPr>
          <a:xfrm>
            <a:off x="10899648" y="32294854"/>
            <a:ext cx="146304" cy="2732302"/>
          </a:xfrm>
          <a:prstGeom prst="rect">
            <a:avLst/>
          </a:prstGeom>
        </p:spPr>
      </p:pic>
      <p:sp>
        <p:nvSpPr>
          <p:cNvPr id="5079" name="Colour bar frame map_V21"/>
          <p:cNvSpPr/>
          <p:nvPr/>
        </p:nvSpPr>
        <p:spPr>
          <a:xfrm>
            <a:off x="10899648" y="32294854"/>
            <a:ext cx="146304" cy="2732302"/>
          </a:xfrm>
          <a:prstGeom prst="rect">
            <a:avLst/>
          </a:prstGeom>
          <a:ln w="9525">
            <a:solidFill>
              <a:srgbClr val="9A9A9A"/>
            </a:solidFill>
            <a:prstDash val="solid"/>
          </a:ln>
        </p:spPr>
      </p:sp>
      <p:sp>
        <p:nvSpPr>
          <p:cNvPr id="5080" name="Tick map_V21 20 up"/>
          <p:cNvSpPr/>
          <p:nvPr/>
        </p:nvSpPr>
        <p:spPr>
          <a:xfrm>
            <a:off x="11045952" y="32644042"/>
            <a:ext cx="64008" cy="0"/>
          </a:xfrm>
          <a:prstGeom prst="line">
            <a:avLst/>
          </a:prstGeom>
          <a:noFill/>
          <a:ln w="15875">
            <a:solidFill>
              <a:srgbClr val="333333"/>
            </a:solidFill>
            <a:prstDash val="solid"/>
          </a:ln>
        </p:spPr>
      </p:sp>
      <p:sp>
        <p:nvSpPr>
          <p:cNvPr id="5081" name="Tick label map_V21 20 up"/>
          <p:cNvSpPr txBox="1"/>
          <p:nvPr/>
        </p:nvSpPr>
        <p:spPr>
          <a:xfrm>
            <a:off x="11137392" y="32452018"/>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20 up</a:t>
            </a:r>
            <a:endParaRPr lang="en-GB" sz="2400" dirty="0"/>
          </a:p>
        </p:txBody>
      </p:sp>
      <p:sp>
        <p:nvSpPr>
          <p:cNvPr id="5082" name="Tick map_V21 0"/>
          <p:cNvSpPr/>
          <p:nvPr/>
        </p:nvSpPr>
        <p:spPr>
          <a:xfrm>
            <a:off x="11045952" y="33661004"/>
            <a:ext cx="64008" cy="0"/>
          </a:xfrm>
          <a:prstGeom prst="line">
            <a:avLst/>
          </a:prstGeom>
          <a:noFill/>
          <a:ln w="15875">
            <a:solidFill>
              <a:srgbClr val="333333"/>
            </a:solidFill>
            <a:prstDash val="solid"/>
          </a:ln>
        </p:spPr>
      </p:sp>
      <p:sp>
        <p:nvSpPr>
          <p:cNvPr id="5083" name="Tick label map_V21 0"/>
          <p:cNvSpPr txBox="1"/>
          <p:nvPr/>
        </p:nvSpPr>
        <p:spPr>
          <a:xfrm>
            <a:off x="11137392" y="33468980"/>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0</a:t>
            </a:r>
            <a:endParaRPr lang="en-GB" sz="2400" dirty="0"/>
          </a:p>
        </p:txBody>
      </p:sp>
      <p:sp>
        <p:nvSpPr>
          <p:cNvPr id="5084" name="Tick map_V21 20 down"/>
          <p:cNvSpPr/>
          <p:nvPr/>
        </p:nvSpPr>
        <p:spPr>
          <a:xfrm>
            <a:off x="11045952" y="34683158"/>
            <a:ext cx="64008" cy="0"/>
          </a:xfrm>
          <a:prstGeom prst="line">
            <a:avLst/>
          </a:prstGeom>
          <a:noFill/>
          <a:ln w="15875">
            <a:solidFill>
              <a:srgbClr val="333333"/>
            </a:solidFill>
            <a:prstDash val="solid"/>
          </a:ln>
        </p:spPr>
      </p:sp>
      <p:sp>
        <p:nvSpPr>
          <p:cNvPr id="5085" name="Tick label map_V21 20 down"/>
          <p:cNvSpPr txBox="1"/>
          <p:nvPr/>
        </p:nvSpPr>
        <p:spPr>
          <a:xfrm>
            <a:off x="11137392" y="34491134"/>
            <a:ext cx="1325880" cy="384048"/>
          </a:xfrm>
          <a:prstGeom prst="rect">
            <a:avLst/>
          </a:prstGeom>
          <a:noFill/>
          <a:ln/>
        </p:spPr>
        <p:txBody>
          <a:bodyPr wrap="square" lIns="0" tIns="0" rIns="0" bIns="0" rtlCol="0" anchor="ctr"/>
          <a:lstStyle/>
          <a:p>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20 down</a:t>
            </a:r>
            <a:endParaRPr lang="en-GB" sz="2400" dirty="0"/>
          </a:p>
        </p:txBody>
      </p:sp>
      <p:sp>
        <p:nvSpPr>
          <p:cNvPr id="5086" name="Map key"/>
          <p:cNvSpPr txBox="1"/>
          <p:nvPr/>
        </p:nvSpPr>
        <p:spPr>
          <a:xfrm>
            <a:off x="731520" y="35118595"/>
            <a:ext cx="11731752" cy="813816"/>
          </a:xfrm>
          <a:prstGeom prst="rect">
            <a:avLst/>
          </a:prstGeom>
          <a:noFill/>
          <a:ln/>
        </p:spPr>
        <p:txBody>
          <a:bodyPr wrap="square" lIns="0" tIns="0" rIns="0" bIns="0" rtlCol="0" anchor="t"/>
          <a:lstStyle/>
          <a:p>
            <a:pP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Each map = 20 days (2019: 21 Feb – 13 Mar; 2021: 18 Mar – 7 Apr). Grey = land; white = no data; ○ P1 near shore, ◇ P4 offshore.</a:t>
            </a:r>
            <a:endParaRPr lang="en-GB" sz="2400" dirty="0"/>
          </a:p>
        </p:txBody>
      </p:sp>
      <p:sp>
        <p:nvSpPr>
          <p:cNvPr id="5087" name="Bar legend"/>
          <p:cNvSpPr txBox="1"/>
          <p:nvPr/>
        </p:nvSpPr>
        <p:spPr>
          <a:xfrm>
            <a:off x="13030200" y="29004768"/>
            <a:ext cx="9144000" cy="411480"/>
          </a:xfrm>
          <a:prstGeom prst="rect">
            <a:avLst/>
          </a:prstGeom>
          <a:noFill/>
          <a:ln/>
        </p:spPr>
        <p:txBody>
          <a:bodyPr wrap="square" lIns="0" tIns="0" rIns="0" bIns="0" rtlCol="0" anchor="t"/>
          <a:lstStyle/>
          <a:p>
            <a:pPr indent="0" marL="0">
              <a:lnSpc>
                <a:spcPct val="110000"/>
              </a:lnSpc>
              <a:buNone/>
            </a:pPr>
            <a:r>
              <a:rPr lang="en-GB" altLang="en-US" sz="2400" dirty="0">
                <a:solidFill>
                  <a:srgbClr val="1F4F9E"/>
                </a:solidFill>
                <a:latin typeface="Arial" pitchFamily="34" charset="0"/>
                <a:ea typeface="Arial" pitchFamily="34" charset="-122"/>
                <a:cs typeface="Arial" pitchFamily="34" charset="-120"/>
              </a:rPr>
              <a:t>■ </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2018–19        </a:t>
            </a:r>
            <a:pPr indent="0" marL="0">
              <a:lnSpc>
                <a:spcPct val="110000"/>
              </a:lnSpc>
              <a:buNone/>
            </a:pPr>
            <a:r>
              <a:rPr lang="en-GB" altLang="en-US" sz="2400" dirty="0">
                <a:solidFill>
                  <a:srgbClr val="D9731F"/>
                </a:solidFill>
                <a:latin typeface="Arial" pitchFamily="34" charset="0"/>
                <a:ea typeface="Arial" pitchFamily="34" charset="-122"/>
                <a:cs typeface="Arial" pitchFamily="34" charset="-120"/>
              </a:rPr>
              <a:t>■ </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2020–21</a:t>
            </a:r>
            <a:endParaRPr lang="en-GB" sz="2400" dirty="0"/>
          </a:p>
        </p:txBody>
      </p:sp>
      <p:sp>
        <p:nvSpPr>
          <p:cNvPr id="5088" name="Bar title west"/>
          <p:cNvSpPr txBox="1"/>
          <p:nvPr/>
        </p:nvSpPr>
        <p:spPr>
          <a:xfrm>
            <a:off x="13030200" y="29443680"/>
            <a:ext cx="8046720"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Speed to the west</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(cm per day)</a:t>
            </a:r>
            <a:endParaRPr lang="en-GB" sz="2400" dirty="0"/>
          </a:p>
        </p:txBody>
      </p:sp>
      <p:sp>
        <p:nvSpPr>
          <p:cNvPr id="5089" name="Bar title up-down"/>
          <p:cNvSpPr txBox="1"/>
          <p:nvPr/>
        </p:nvSpPr>
        <p:spPr>
          <a:xfrm>
            <a:off x="21396960" y="29443680"/>
            <a:ext cx="8046720"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Up–down speed</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 (cm per day)</a:t>
            </a:r>
            <a:endParaRPr lang="en-GB" sz="2400" dirty="0"/>
          </a:p>
        </p:txBody>
      </p:sp>
      <p:graphicFrame>
        <p:nvGraphicFramePr>
          <p:cNvPr id="5090" name="Chart: speed to the west" descr=""/>
          <p:cNvGraphicFramePr/>
          <p:nvPr/>
        </p:nvGraphicFramePr>
        <p:xfrm>
          <a:off x="13030200" y="29855160"/>
          <a:ext cx="8046720" cy="3246120"/>
        </p:xfrm>
        <a:graphic xmlns:a="http://schemas.openxmlformats.org/drawingml/2006/main">
          <a:graphicData uri="http://schemas.openxmlformats.org/drawingml/2006/chart">
            <c:chart xmlns:c="http://schemas.openxmlformats.org/drawingml/2006/chart" r:id="rId901"/>
          </a:graphicData>
        </a:graphic>
      </p:graphicFrame>
      <p:graphicFrame>
        <p:nvGraphicFramePr>
          <p:cNvPr id="5091" name="Chart: up-down speed" descr=""/>
          <p:cNvGraphicFramePr/>
          <p:nvPr/>
        </p:nvGraphicFramePr>
        <p:xfrm>
          <a:off x="21396960" y="29855160"/>
          <a:ext cx="8046720" cy="3246120"/>
        </p:xfrm>
        <a:graphic xmlns:a="http://schemas.openxmlformats.org/drawingml/2006/main">
          <a:graphicData uri="http://schemas.openxmlformats.org/drawingml/2006/chart">
            <c:chart xmlns:c="http://schemas.openxmlformats.org/drawingml/2006/chart" r:id="rId902"/>
          </a:graphicData>
        </a:graphic>
      </p:graphicFrame>
      <p:sp>
        <p:nvSpPr>
          <p:cNvPr id="5092" name="Bar n/a 1-2-1"/>
          <p:cNvSpPr txBox="1"/>
          <p:nvPr/>
        </p:nvSpPr>
        <p:spPr>
          <a:xfrm>
            <a:off x="15738371" y="31827521"/>
            <a:ext cx="822960" cy="384048"/>
          </a:xfrm>
          <a:prstGeom prst="rect">
            <a:avLst/>
          </a:prstGeom>
          <a:noFill/>
          <a:ln/>
        </p:spPr>
        <p:txBody>
          <a:bodyPr wrap="square" lIns="0" tIns="0" rIns="0" bIns="0" rtlCol="0" anchor="t"/>
          <a:lstStyle/>
          <a:p>
            <a:pPr algn="ct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n/a</a:t>
            </a:r>
            <a:endParaRPr lang="en-GB" sz="2400" dirty="0"/>
          </a:p>
        </p:txBody>
      </p:sp>
      <p:sp>
        <p:nvSpPr>
          <p:cNvPr id="5093" name="Bar n/a 1-3-2"/>
          <p:cNvSpPr txBox="1"/>
          <p:nvPr/>
        </p:nvSpPr>
        <p:spPr>
          <a:xfrm>
            <a:off x="18189526" y="31827521"/>
            <a:ext cx="822960" cy="384048"/>
          </a:xfrm>
          <a:prstGeom prst="rect">
            <a:avLst/>
          </a:prstGeom>
          <a:noFill/>
          <a:ln/>
        </p:spPr>
        <p:txBody>
          <a:bodyPr wrap="square" lIns="0" tIns="0" rIns="0" bIns="0" rtlCol="0" anchor="t"/>
          <a:lstStyle/>
          <a:p>
            <a:pPr algn="ct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n/a</a:t>
            </a:r>
            <a:endParaRPr lang="en-GB" sz="2400" dirty="0"/>
          </a:p>
        </p:txBody>
      </p:sp>
      <p:sp>
        <p:nvSpPr>
          <p:cNvPr id="5094" name="Bar n/a 2-2-1"/>
          <p:cNvSpPr txBox="1"/>
          <p:nvPr/>
        </p:nvSpPr>
        <p:spPr>
          <a:xfrm>
            <a:off x="24484256" y="31291911"/>
            <a:ext cx="822960" cy="384048"/>
          </a:xfrm>
          <a:prstGeom prst="rect">
            <a:avLst/>
          </a:prstGeom>
          <a:noFill/>
          <a:ln/>
        </p:spPr>
        <p:txBody>
          <a:bodyPr wrap="square" lIns="0" tIns="0" rIns="0" bIns="0" rtlCol="0" anchor="t"/>
          <a:lstStyle/>
          <a:p>
            <a:pPr algn="ct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n/a</a:t>
            </a:r>
            <a:endParaRPr lang="en-GB" sz="2400" dirty="0"/>
          </a:p>
        </p:txBody>
      </p:sp>
      <p:sp>
        <p:nvSpPr>
          <p:cNvPr id="5095" name="Bar n/a 2-3-2"/>
          <p:cNvSpPr txBox="1"/>
          <p:nvPr/>
        </p:nvSpPr>
        <p:spPr>
          <a:xfrm>
            <a:off x="26740432" y="31291911"/>
            <a:ext cx="822960" cy="384048"/>
          </a:xfrm>
          <a:prstGeom prst="rect">
            <a:avLst/>
          </a:prstGeom>
          <a:noFill/>
          <a:ln/>
        </p:spPr>
        <p:txBody>
          <a:bodyPr wrap="square" lIns="0" tIns="0" rIns="0" bIns="0" rtlCol="0" anchor="t"/>
          <a:lstStyle/>
          <a:p>
            <a:pPr algn="ct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n/a</a:t>
            </a:r>
            <a:endParaRPr lang="en-GB" sz="2400" dirty="0"/>
          </a:p>
        </p:txBody>
      </p:sp>
      <p:sp>
        <p:nvSpPr>
          <p:cNvPr id="5096" name="Bar message 1"/>
          <p:cNvSpPr txBox="1"/>
          <p:nvPr/>
        </p:nvSpPr>
        <p:spPr>
          <a:xfrm>
            <a:off x="18882360" y="30078850"/>
            <a:ext cx="2194560" cy="438912"/>
          </a:xfrm>
          <a:prstGeom prst="rect">
            <a:avLst/>
          </a:prstGeom>
          <a:noFill/>
          <a:ln/>
        </p:spPr>
        <p:txBody>
          <a:bodyPr wrap="square" lIns="0" tIns="0" rIns="0" bIns="0" rtlCol="0" anchor="t"/>
          <a:lstStyle/>
          <a:p>
            <a:pPr algn="ctr" indent="0" marL="0">
              <a:lnSpc>
                <a:spcPct val="110000"/>
              </a:lnSpc>
              <a:buNone/>
            </a:pPr>
            <a:r>
              <a:rPr lang="en-GB" altLang="en-US" sz="2400" b="1" dirty="0">
                <a:solidFill>
                  <a:srgbClr val="125F55"/>
                </a:solidFill>
                <a:latin typeface="Arial" pitchFamily="34" charset="0"/>
                <a:ea typeface="Arial" pitchFamily="34" charset="-122"/>
                <a:cs typeface="Arial" pitchFamily="34" charset="-120"/>
              </a:rPr>
              <a:t>2.7× faster</a:t>
            </a:r>
            <a:endParaRPr lang="en-GB" sz="2400" dirty="0"/>
          </a:p>
        </p:txBody>
      </p:sp>
      <p:sp>
        <p:nvSpPr>
          <p:cNvPr id="5097" name="Bar message 2"/>
          <p:cNvSpPr txBox="1"/>
          <p:nvPr/>
        </p:nvSpPr>
        <p:spPr>
          <a:xfrm>
            <a:off x="26700480" y="30046713"/>
            <a:ext cx="2743200" cy="438912"/>
          </a:xfrm>
          <a:prstGeom prst="rect">
            <a:avLst/>
          </a:prstGeom>
          <a:noFill/>
          <a:ln/>
        </p:spPr>
        <p:txBody>
          <a:bodyPr wrap="square" lIns="0" tIns="0" rIns="0" bIns="0" rtlCol="0" anchor="t"/>
          <a:lstStyle/>
          <a:p>
            <a:pPr algn="ctr" indent="0" marL="0">
              <a:lnSpc>
                <a:spcPct val="110000"/>
              </a:lnSpc>
              <a:buNone/>
            </a:pPr>
            <a:r>
              <a:rPr lang="en-GB" altLang="en-US" sz="2400" b="1" dirty="0">
                <a:solidFill>
                  <a:srgbClr val="125F55"/>
                </a:solidFill>
                <a:latin typeface="Arial" pitchFamily="34" charset="0"/>
                <a:ea typeface="Arial" pitchFamily="34" charset="-122"/>
                <a:cs typeface="Arial" pitchFamily="34" charset="-120"/>
              </a:rPr>
              <a:t>sinking → rising</a:t>
            </a:r>
            <a:endParaRPr lang="en-GB" sz="2400" dirty="0"/>
          </a:p>
        </p:txBody>
      </p:sp>
      <p:sp>
        <p:nvSpPr>
          <p:cNvPr id="5098" name="Bar note"/>
          <p:cNvSpPr txBox="1"/>
          <p:nvPr/>
        </p:nvSpPr>
        <p:spPr>
          <a:xfrm>
            <a:off x="13030200" y="33174432"/>
            <a:ext cx="16413480" cy="813816"/>
          </a:xfrm>
          <a:prstGeom prst="rect">
            <a:avLst/>
          </a:prstGeom>
          <a:noFill/>
          <a:ln/>
        </p:spPr>
        <p:txBody>
          <a:bodyPr wrap="square" lIns="0" tIns="0" rIns="0" bIns="0" rtlCol="0" anchor="t"/>
          <a:lstStyle/>
          <a:p>
            <a:pPr indent="0" marL="0">
              <a:lnSpc>
                <a:spcPct val="110000"/>
              </a:lnSpc>
              <a:buNone/>
            </a:pPr>
            <a:r>
              <a:rPr lang="en-GB" altLang="en-US" sz="2400" dirty="0">
                <a:solidFill>
                  <a:srgbClr val="4A4A4A"/>
                </a:solidFill>
                <a:latin typeface="Arial" pitchFamily="34" charset="0"/>
                <a:ea typeface="Arial" pitchFamily="34" charset="-122"/>
                <a:cs typeface="Arial" pitchFamily="34" charset="-120"/>
              </a:rPr>
              <a:t>Gaps: P2 was not measurable in 2018–19; the 2020–21 value at P3 is anomalous and left out. Per-day speeds, because the two windows differ (24 vs 20 days).</a:t>
            </a:r>
            <a:endParaRPr lang="en-GB" sz="2400" dirty="0"/>
          </a:p>
        </p:txBody>
      </p:sp>
      <p:sp>
        <p:nvSpPr>
          <p:cNvPr id="5099" name="Validation caption"/>
          <p:cNvSpPr txBox="1"/>
          <p:nvPr/>
        </p:nvSpPr>
        <p:spPr>
          <a:xfrm>
            <a:off x="13030200" y="34518600"/>
            <a:ext cx="16413480" cy="411480"/>
          </a:xfrm>
          <a:prstGeom prst="rect">
            <a:avLst/>
          </a:prstGeom>
          <a:noFill/>
          <a:ln/>
        </p:spPr>
        <p:txBody>
          <a:bodyPr wrap="square" lIns="0" tIns="0" rIns="0" bIns="0" rtlCol="0" anchor="t"/>
          <a:lstStyle/>
          <a:p>
            <a:pPr indent="0" marL="0">
              <a:lnSpc>
                <a:spcPct val="110000"/>
              </a:lnSpc>
              <a:buNone/>
            </a:pPr>
            <a:r>
              <a:rPr lang="en-GB" altLang="en-US" sz="2400" b="1" dirty="0">
                <a:solidFill>
                  <a:srgbClr val="1E1E1E"/>
                </a:solidFill>
                <a:latin typeface="Arial" pitchFamily="34" charset="0"/>
                <a:ea typeface="Arial" pitchFamily="34" charset="-122"/>
                <a:cs typeface="Arial" pitchFamily="34" charset="-120"/>
              </a:rPr>
              <a:t>Compared: </a:t>
            </a:r>
            <a:pPr indent="0" marL="0">
              <a:lnSpc>
                <a:spcPct val="110000"/>
              </a:lnSpc>
              <a:buNone/>
            </a:pPr>
            <a:r>
              <a:rPr lang="en-GB" altLang="en-US" sz="2400" dirty="0">
                <a:solidFill>
                  <a:srgbClr val="1E1E1E"/>
                </a:solidFill>
                <a:latin typeface="Arial" pitchFamily="34" charset="0"/>
                <a:ea typeface="Arial" pitchFamily="34" charset="-122"/>
                <a:cs typeface="Arial" pitchFamily="34" charset="-120"/>
              </a:rPr>
              <a:t>total line-of-sight motion (+ = toward the satellite), descending pass, 17 Feb – 6 Apr 2019</a:t>
            </a:r>
            <a:endParaRPr lang="en-GB" sz="2400" dirty="0"/>
          </a:p>
        </p:txBody>
      </p:sp>
      <p:sp>
        <p:nvSpPr>
          <p:cNvPr id="5100" name="Acknowledgment"/>
          <p:cNvSpPr txBox="1"/>
          <p:nvPr/>
        </p:nvSpPr>
        <p:spPr>
          <a:xfrm>
            <a:off x="731520" y="41788080"/>
            <a:ext cx="17373600" cy="1014984"/>
          </a:xfrm>
          <a:prstGeom prst="rect">
            <a:avLst/>
          </a:prstGeom>
          <a:noFill/>
          <a:ln/>
        </p:spPr>
        <p:txBody>
          <a:bodyPr wrap="square" lIns="0" tIns="0" rIns="0" bIns="0" rtlCol="0" anchor="ctr"/>
          <a:lstStyle/>
          <a:p>
            <a:pPr indent="0" marL="0">
              <a:lnSpc>
                <a:spcPct val="110000"/>
              </a:lnSpc>
              <a:buNone/>
            </a:pPr>
            <a:r>
              <a:rPr lang="en-GB" altLang="en-US" sz="2400" b="1" dirty="0">
                <a:solidFill>
                  <a:srgbClr val="FFFFFF"/>
                </a:solidFill>
                <a:latin typeface="Arial" pitchFamily="34" charset="0"/>
                <a:ea typeface="Arial" pitchFamily="34" charset="-122"/>
                <a:cs typeface="Arial" pitchFamily="34" charset="-120"/>
              </a:rPr>
              <a:t>Acknowledgment: </a:t>
            </a:r>
            <a:pPr indent="0" marL="0">
              <a:lnSpc>
                <a:spcPct val="110000"/>
              </a:lnSpc>
              <a:buNone/>
            </a:pPr>
            <a:r>
              <a:rPr lang="en-GB" altLang="en-US" sz="2400" dirty="0">
                <a:solidFill>
                  <a:srgbClr val="FFFFFF"/>
                </a:solidFill>
                <a:latin typeface="Arial" pitchFamily="34" charset="0"/>
                <a:ea typeface="Arial" pitchFamily="34" charset="-122"/>
                <a:cs typeface="Arial" pitchFamily="34" charset="-120"/>
              </a:rPr>
              <a:t>Copernicus Sentinel-1 data (ESA), processed with ASF HyP3 on OpenSARLab.</a:t>
            </a:r>
            <a:endParaRPr lang="en-GB" sz="2400" dirty="0"/>
          </a:p>
        </p:txBody>
      </p:sp>
      <p:sp>
        <p:nvSpPr>
          <p:cNvPr id="5101" name="Session badge"/>
          <p:cNvSpPr/>
          <p:nvPr/>
        </p:nvSpPr>
        <p:spPr>
          <a:xfrm>
            <a:off x="731520" y="3090672"/>
            <a:ext cx="2743200" cy="2788920"/>
          </a:xfrm>
          <a:prstGeom prst="roundRect">
            <a:avLst>
              <a:gd name="adj" fmla="val 4000"/>
            </a:avLst>
          </a:prstGeom>
          <a:solidFill>
            <a:srgbClr val="125F55"/>
          </a:solidFill>
          <a:ln/>
        </p:spPr>
      </p:sp>
      <p:sp>
        <p:nvSpPr>
          <p:cNvPr id="5102" name="Session label"/>
          <p:cNvSpPr txBox="1"/>
          <p:nvPr/>
        </p:nvSpPr>
        <p:spPr>
          <a:xfrm>
            <a:off x="731520" y="3291840"/>
            <a:ext cx="2743200" cy="384048"/>
          </a:xfrm>
          <a:prstGeom prst="rect">
            <a:avLst/>
          </a:prstGeom>
          <a:noFill/>
          <a:ln/>
        </p:spPr>
        <p:txBody>
          <a:bodyPr wrap="square" lIns="0" tIns="0" rIns="0" bIns="0" rtlCol="0" anchor="t"/>
          <a:lstStyle/>
          <a:p>
            <a:pPr algn="ctr" indent="0" marL="0">
              <a:lnSpc>
                <a:spcPct val="110000"/>
              </a:lnSpc>
              <a:buNone/>
            </a:pPr>
            <a:r>
              <a:rPr lang="en-GB" altLang="en-US" sz="2400" b="1" dirty="0">
                <a:solidFill>
                  <a:srgbClr val="FFFFFF"/>
                </a:solidFill>
                <a:latin typeface="Arial" pitchFamily="34" charset="0"/>
                <a:ea typeface="Arial" pitchFamily="34" charset="-122"/>
                <a:cs typeface="Arial" pitchFamily="34" charset="-120"/>
              </a:rPr>
              <a:t>SESSION</a:t>
            </a:r>
            <a:endParaRPr lang="en-GB" sz="2400" dirty="0"/>
          </a:p>
        </p:txBody>
      </p:sp>
      <p:sp>
        <p:nvSpPr>
          <p:cNvPr id="5103" name="Session code"/>
          <p:cNvSpPr txBox="1"/>
          <p:nvPr/>
        </p:nvSpPr>
        <p:spPr>
          <a:xfrm>
            <a:off x="731520" y="3657600"/>
            <a:ext cx="2743200" cy="1051560"/>
          </a:xfrm>
          <a:prstGeom prst="rect">
            <a:avLst/>
          </a:prstGeom>
          <a:noFill/>
          <a:ln/>
        </p:spPr>
        <p:txBody>
          <a:bodyPr wrap="square" lIns="0" tIns="0" rIns="0" bIns="0" rtlCol="0" anchor="ctr"/>
          <a:lstStyle/>
          <a:p>
            <a:pPr algn="ctr" indent="0" marL="0">
              <a:lnSpc>
                <a:spcPct val="110000"/>
              </a:lnSpc>
              <a:buNone/>
            </a:pPr>
            <a:r>
              <a:rPr lang="en-GB" altLang="en-US" sz="7200" b="1" dirty="0">
                <a:solidFill>
                  <a:srgbClr val="F2A33A"/>
                </a:solidFill>
                <a:latin typeface="Arial" pitchFamily="34" charset="0"/>
                <a:ea typeface="Arial" pitchFamily="34" charset="-122"/>
                <a:cs typeface="Arial" pitchFamily="34" charset="-120"/>
              </a:rPr>
              <a:t>S2</a:t>
            </a:r>
            <a:endParaRPr lang="en-GB" sz="7200" dirty="0"/>
          </a:p>
        </p:txBody>
      </p:sp>
      <p:sp>
        <p:nvSpPr>
          <p:cNvPr id="5104" name="Session name"/>
          <p:cNvSpPr txBox="1"/>
          <p:nvPr/>
        </p:nvSpPr>
        <p:spPr>
          <a:xfrm>
            <a:off x="914400" y="4809744"/>
            <a:ext cx="2377440" cy="868680"/>
          </a:xfrm>
          <a:prstGeom prst="rect">
            <a:avLst/>
          </a:prstGeom>
          <a:noFill/>
          <a:ln/>
        </p:spPr>
        <p:txBody>
          <a:bodyPr wrap="square" lIns="0" tIns="0" rIns="0" bIns="0" rtlCol="0" anchor="t"/>
          <a:lstStyle/>
          <a:p>
            <a:pPr algn="ctr" indent="0" marL="0">
              <a:lnSpc>
                <a:spcPct val="110000"/>
              </a:lnSpc>
              <a:buNone/>
            </a:pPr>
            <a:r>
              <a:rPr lang="en-GB" altLang="en-US" sz="2400" dirty="0">
                <a:solidFill>
                  <a:srgbClr val="FFFFFF"/>
                </a:solidFill>
                <a:latin typeface="Arial" pitchFamily="34" charset="0"/>
                <a:ea typeface="Arial" pitchFamily="34" charset="-122"/>
                <a:cs typeface="Arial" pitchFamily="34" charset="-120"/>
              </a:rPr>
              <a:t>SAR Remote Sensing</a:t>
            </a:r>
            <a:endParaRPr lang="en-GB" sz="2400" dirty="0"/>
          </a:p>
        </p:txBody>
      </p:sp>
      <p:pic>
        <p:nvPicPr>
          <p:cNvPr id="5105" name="QR code: abstract https://sciforum.net/paper/34580" descr="/private/tmp/claude-501/-Users-bhakthadarshan-Documents-DUK-Confernce/afca98ef-9cc5-4a67-a426-9a824b18c829/scratchpad/p4/img/qr_abstract.png">    </p:cNvPr>
          <p:cNvPicPr>
            <a:picLocks noChangeAspect="1"/>
          </p:cNvPicPr>
          <p:nvPr/>
        </p:nvPicPr>
        <p:blipFill>
          <a:blip r:embed="rId920"/>
          <a:stretch>
            <a:fillRect/>
          </a:stretch>
        </p:blipFill>
        <p:spPr>
          <a:xfrm>
            <a:off x="27111960" y="3044952"/>
            <a:ext cx="2331720" cy="2331720"/>
          </a:xfrm>
          <a:prstGeom prst="rect">
            <a:avLst/>
          </a:prstGeom>
        </p:spPr>
      </p:pic>
      <p:sp>
        <p:nvSpPr>
          <p:cNvPr id="5106" name="QR caption"/>
          <p:cNvSpPr txBox="1"/>
          <p:nvPr/>
        </p:nvSpPr>
        <p:spPr>
          <a:xfrm>
            <a:off x="26837640" y="5413248"/>
            <a:ext cx="2880360" cy="411480"/>
          </a:xfrm>
          <a:prstGeom prst="rect">
            <a:avLst/>
          </a:prstGeom>
          <a:noFill/>
          <a:ln/>
        </p:spPr>
        <p:txBody>
          <a:bodyPr wrap="square" lIns="0" tIns="0" rIns="0" bIns="0" rtlCol="0" anchor="t"/>
          <a:lstStyle/>
          <a:p>
            <a:pPr algn="ctr" indent="0" marL="0">
              <a:lnSpc>
                <a:spcPct val="110000"/>
              </a:lnSpc>
              <a:buNone/>
            </a:pPr>
            <a:r>
              <a:rPr lang="en-GB" altLang="en-US" sz="2400" b="1" dirty="0">
                <a:solidFill>
                  <a:srgbClr val="125F55"/>
                </a:solidFill>
                <a:latin typeface="Arial" pitchFamily="34" charset="0"/>
                <a:ea typeface="Arial" pitchFamily="34" charset="-122"/>
                <a:cs typeface="Arial" pitchFamily="34" charset="-120"/>
              </a:rPr>
              <a:t>Scan: abstract</a:t>
            </a:r>
            <a:endParaRPr lang="en-GB"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Coherence Onset and Two-Dimensional Deformation of Landfast Sea Ice at Cambridge Bay, Nunavut</dc:title>
  <dc:subject>ECRS 2026 poster</dc:subject>
  <dc:creator>Ananthanarayanan B and Shamjid 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