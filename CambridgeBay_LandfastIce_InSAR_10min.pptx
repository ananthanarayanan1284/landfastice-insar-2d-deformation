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c75c23e-457b-17e6-fd2a-b04c28ebfd59}">
          <p14:sldIdLst>
            <p14:sldId id="256"/>
            <p14:sldId id="257"/>
          </p14:sldIdLst>
        </p14:section>
        <p14:section name="Data and method" id="{f398e0e6-3808-9605-2e72-be59d4a05e78}">
          <p14:sldIdLst>
            <p14:sldId id="258"/>
            <p14:sldId id="259"/>
          </p14:sldIdLst>
        </p14:section>
        <p14:section name="Results" id="{91cf48a5-617e-fc2a-fd13-36b2c2dcefeb}">
          <p14:sldIdLst>
            <p14:sldId id="260"/>
            <p14:sldId id="261"/>
            <p14:sldId id="262"/>
          </p14:sldIdLst>
        </p14:section>
        <p14:section name="Conclusions" id="{cbfd9858-728d-45c9-2e54-915bf0f18086}">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
          <c:y val="0.14"/>
          <c:w val="0.86"/>
          <c:h val="0.68"/>
        </c:manualLayout>
      </c:layout>
      <c:lineChart>
        <c:varyColors val="0"/>
        <c:ser>
          <c:idx val="0"/>
          <c:order val="0"/>
          <c:tx>
            <c:strRef>
              <c:f>Sheet1!$B$1</c:f>
              <c:strCache>
                <c:ptCount val="1"/>
                <c:pt idx="0">
                  <c:v>2018–19</c:v>
                </c:pt>
              </c:strCache>
            </c:strRef>
          </c:tx>
          <c:spPr>
            <a:solidFill>
              <a:srgbClr val="1B6A8C"/>
            </a:solidFill>
            <a:ln w="38100" cap="flat">
              <a:solidFill>
                <a:srgbClr val="1B6A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B6A8C"/>
              </a:solidFill>
              <a:ln w="9525" cap="flat">
                <a:solidFill>
                  <a:srgbClr val="1B6A8C"/>
                </a:solidFill>
                <a:prstDash val="solid"/>
                <a:round/>
              </a:ln>
              <a:effectLst/>
            </c:spPr>
          </c:marker>
          <c:cat>
            <c:multiLvlStrRef>
              <c:f>Sheet1!$A$2:$A$11</c:f>
              <c:multiLvlStrCache>
                <c:ptCount val="10"/>
                <c:lvl>
                  <c:pt idx="0">
                    <c:v>Mid Dec</c:v>
                  </c:pt>
                  <c:pt idx="1">
                    <c:v>Late Dec</c:v>
                  </c:pt>
                  <c:pt idx="2">
                    <c:v>Early Jan</c:v>
                  </c:pt>
                  <c:pt idx="3">
                    <c:v>Mid Jan</c:v>
                  </c:pt>
                  <c:pt idx="4">
                    <c:v>Late Jan</c:v>
                  </c:pt>
                  <c:pt idx="5">
                    <c:v>Mid Feb</c:v>
                  </c:pt>
                  <c:pt idx="6">
                    <c:v>Late Feb</c:v>
                  </c:pt>
                  <c:pt idx="7">
                    <c:v>Early Mar</c:v>
                  </c:pt>
                  <c:pt idx="8">
                    <c:v>Mid Mar</c:v>
                  </c:pt>
                  <c:pt idx="9">
                    <c:v>Early Apr</c:v>
                  </c:pt>
                </c:lvl>
              </c:multiLvlStrCache>
            </c:multiLvlStrRef>
          </c:cat>
          <c:val>
            <c:numRef>
              <c:f>Sheet1!$B$2:$B$11</c:f>
              <c:numCache>
                <c:formatCode>General</c:formatCode>
                <c:ptCount val="10"/>
                <c:pt idx="0">
                  <c:v>9</c:v>
                </c:pt>
                <c:pt idx="1">
                  <c:v>15</c:v>
                </c:pt>
                <c:pt idx="2">
                  <c:v>39</c:v>
                </c:pt>
                <c:pt idx="3">
                  <c:v>27</c:v>
                </c:pt>
                <c:pt idx="4">
                  <c:v>55</c:v>
                </c:pt>
                <c:pt idx="5">
                  <c:v>57</c:v>
                </c:pt>
                <c:pt idx="6">
                  <c:v>90</c:v>
                </c:pt>
                <c:pt idx="7">
                  <c:v>88</c:v>
                </c:pt>
                <c:pt idx="8">
                  <c:v>96</c:v>
                </c:pt>
                <c:pt idx="9">
                  <c:v>95</c:v>
                </c:pt>
              </c:numCache>
            </c:numRef>
          </c:val>
          <c:smooth val="0"/>
        </c:ser>
        <c:ser>
          <c:idx val="1"/>
          <c:order val="1"/>
          <c:tx>
            <c:strRef>
              <c:f>Sheet1!$C$1</c:f>
              <c:strCache>
                <c:ptCount val="1"/>
                <c:pt idx="0">
                  <c:v>2020–21</c:v>
                </c:pt>
              </c:strCache>
            </c:strRef>
          </c:tx>
          <c:spPr>
            <a:solidFill>
              <a:srgbClr val="E07A2F"/>
            </a:solidFill>
            <a:ln w="38100" cap="flat">
              <a:solidFill>
                <a:srgbClr val="E07A2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07A2F"/>
              </a:solidFill>
              <a:ln w="9525" cap="flat">
                <a:solidFill>
                  <a:srgbClr val="E07A2F"/>
                </a:solidFill>
                <a:prstDash val="solid"/>
                <a:round/>
              </a:ln>
              <a:effectLst/>
            </c:spPr>
          </c:marker>
          <c:cat>
            <c:multiLvlStrRef>
              <c:f>Sheet1!$A$2:$A$11</c:f>
              <c:multiLvlStrCache>
                <c:ptCount val="10"/>
                <c:lvl>
                  <c:pt idx="0">
                    <c:v>Mid Dec</c:v>
                  </c:pt>
                  <c:pt idx="1">
                    <c:v>Late Dec</c:v>
                  </c:pt>
                  <c:pt idx="2">
                    <c:v>Early Jan</c:v>
                  </c:pt>
                  <c:pt idx="3">
                    <c:v>Mid Jan</c:v>
                  </c:pt>
                  <c:pt idx="4">
                    <c:v>Late Jan</c:v>
                  </c:pt>
                  <c:pt idx="5">
                    <c:v>Mid Feb</c:v>
                  </c:pt>
                  <c:pt idx="6">
                    <c:v>Late Feb</c:v>
                  </c:pt>
                  <c:pt idx="7">
                    <c:v>Early Mar</c:v>
                  </c:pt>
                  <c:pt idx="8">
                    <c:v>Mid Mar</c:v>
                  </c:pt>
                  <c:pt idx="9">
                    <c:v>Early Apr</c:v>
                  </c:pt>
                </c:lvl>
              </c:multiLvlStrCache>
            </c:multiLvlStrRef>
          </c:cat>
          <c:val>
            <c:numRef>
              <c:f>Sheet1!$C$2:$C$11</c:f>
              <c:numCache>
                <c:formatCode>General</c:formatCode>
                <c:ptCount val="10"/>
                <c:pt idx="0">
                  <c:v>6</c:v>
                </c:pt>
                <c:pt idx="1">
                  <c:v>53</c:v>
                </c:pt>
                <c:pt idx="2">
                  <c:v>12</c:v>
                </c:pt>
                <c:pt idx="3">
                  <c:v>14</c:v>
                </c:pt>
                <c:pt idx="4">
                  <c:v>10</c:v>
                </c:pt>
                <c:pt idx="5">
                  <c:v>39</c:v>
                </c:pt>
                <c:pt idx="6">
                  <c:v>55</c:v>
                </c:pt>
                <c:pt idx="7">
                  <c:v>16</c:v>
                </c:pt>
                <c:pt idx="8">
                  <c:v>95</c:v>
                </c:pt>
                <c:pt idx="9">
                  <c:v>94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5DEE7"/>
              </a:solidFill>
              <a:prstDash val="solid"/>
              <a:round/>
            </a:ln>
          </c:spPr>
        </c:majorGridlines>
        <c:title>
          <c:tx>
            <c:rich>
              <a:bodyPr/>
              <a:lstStyle/>
              <a:p>
                <a:pPr>
                  <a:defRPr sz="1300" b="0" i="0" u="none" strike="noStrike">
                    <a:solidFill>
                      <a:srgbClr val="5C6B7A"/>
                    </a:solidFill>
                    <a:latin typeface="+mn-lt"/>
                  </a:defRPr>
                </a:pPr>
                <a:r>
                  <a:rPr sz="1300" b="0" i="0" u="none" strike="noStrike">
                    <a:solidFill>
                      <a:srgbClr val="5C6B7A"/>
                    </a:solidFill>
                    <a:latin typeface="+mn-lt"/>
                  </a:rPr>
                  <a:t>Coherent ice area</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B7A"/>
                </a:solidFill>
                <a:latin typeface="+mn-lt"/>
              </a:defRPr>
            </a:pPr>
            <a:endParaRPr lang="en-US"/>
          </a:p>
        </c:txPr>
        <c:crossAx val="2094734554"/>
        <c:crosses val="autoZero"/>
        <c:crossBetween val="between"/>
        <c:majorUnit val="25"/>
      </c:valAx>
      <c:spPr>
        <a:noFill/>
        <a:ln>
          <a:noFill/>
        </a:ln>
        <a:effectLst/>
      </c:spPr>
    </c:plotArea>
    <c:legend>
      <c:legendPos val="t"/>
      <c:overlay val="0"/>
      <c:txPr>
        <a:bodyPr/>
        <a:lstStyle/>
        <a:p>
          <a:pPr>
            <a:defRPr sz="1400">
              <a:solidFill>
                <a:srgbClr val="1624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Ananthanarayanan from Digital University Kerala. This talk is about using Sentinel-1 radar interferometry, from both the ascending and descending orbits, to see when landfast sea ice at Cambridge Bay becomes fixed, and how it then deforms, in two contrasting winters.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Landfast ice is ice frozen to the coast. Communities travel on it, and its timing is changing. InSAR has already been used here by Chen and by Zhu, but in both studies coherence was only a mask. Our idea: drifting ice decorrelates and fixed ice stays coherent, so coherence itself can date consolidation.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Cambridge Bay sits on Dease Strait. We used Sentinel-1 interferometric wide-swath data, descending from Sentinel-1A and ascending from Sentinel-1B, processed in the free ASF HyP3 cloud. Four monitoring points sit at the same coordinates in both winters, with a land reference RP and a land control P5.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raw measurements: descending interferograms from February to April 2019. One colour cycle is 2.8 centimetres of motion toward or away from the satellite; dense fringes mean fast deformation; white is where coherence is too low to measure. Three steps turn them into results: coherence gives the onset date, SBAS gives time series against fixed land, and combining ascending with descending separates east-west from vertical motion. Our error, from a land control point, is 0.7 to 1.6 centimetres.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can free cloud processing reproduce the published result? Yes. At the two directly comparable points we agree with Chen et al. to within two centimetres, smaller than the spread between their own sensors. And the land control point bounds our precision at 0.7 to 1.6 centimetres.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result. The share of the ice that stays coherent, every twelve days. In 2018-19, blue, the ice consolidated once, on 30 January, and stayed. In 2020-21, orange, it reached 55 percent in late February, collapsed to 16 percent in early March, and only consolidated on 20 March: 49 days later. Coherence caught a failed consolidation.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Deformation: on the left the onset, on the right horizontal motion in both winters on a shared scale. Comparing rates at P4, the outermost reliable point, the horizontal rate nearly tripled and vertical motion reversed sign. The late, intermittent winter was the more mobile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Coherence is not just a mask: it dates consolidation and reveals when it fails. Free cloud processing reproduces the published result within two centimetres. And the late, intermittent winter was the more mobile one, though two winters cannot yet separate cause from coincidence.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6675120" cy="26517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931920"/>
            <a:ext cx="6675120" cy="82296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
        <p:nvSpPr>
          <p:cNvPr id="4" name="Text 0"/>
          <p:cNvSpPr/>
          <p:nvPr>
            <p:ph idx="102" type="body" hasCustomPrompt="1"/>
          </p:nvPr>
        </p:nvSpPr>
        <p:spPr>
          <a:xfrm>
            <a:off x="731520" y="4983480"/>
            <a:ext cx="6675120" cy="1280160"/>
          </a:xfrm>
          <a:prstGeom prst="rect">
            <a:avLst/>
          </a:prstGeom>
          <a:noFill/>
          <a:ln/>
        </p:spPr>
        <p:txBody>
          <a:bodyPr wrap="square" rtlCol="0"/>
          <a:lstStyle>
            <a:lvl1pPr indent="0" marL="0">
              <a:buNone/>
              <a:defRPr lang="en-US" sz="1400" dirty="0">
                <a:solidFill>
                  <a:schemeClr val="bg1"/>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Ananthanarayanan B and Shamjid P  ·  Digital University Kerala</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6675120" cy="2651760"/>
          </a:xfrm>
          <a:prstGeom prst="rect">
            <a:avLst/>
          </a:prstGeom>
          <a:noFill/>
          <a:ln/>
        </p:spPr>
        <p:txBody>
          <a:bodyPr wrap="square" lIns="0" tIns="0" rIns="0" bIns="0" rtlCol="0" anchor="b"/>
          <a:lstStyle/>
          <a:p>
            <a:pPr algn="l" indent="0" marL="0">
              <a:buNone/>
            </a:pPr>
            <a:r>
              <a:rPr lang="en-US" sz="3600" b="1" dirty="0">
                <a:solidFill>
                  <a:schemeClr val="bg1"/>
                </a:solidFill>
              </a:rPr>
              <a:t>Coherence onset and two-dimensional deformation of landfast sea ice at Cambridge Bay, Nunavut</a:t>
            </a:r>
            <a:endParaRPr lang="en-US" sz="3600" dirty="0"/>
          </a:p>
        </p:txBody>
      </p:sp>
      <p:sp>
        <p:nvSpPr>
          <p:cNvPr id="3" name="Text 0"/>
          <p:cNvSpPr/>
          <p:nvPr>
            <p:ph idx="101" type="body" hasCustomPrompt="1"/>
          </p:nvPr>
        </p:nvSpPr>
        <p:spPr>
          <a:xfrm>
            <a:off x="731520" y="3931920"/>
            <a:ext cx="6675120" cy="822960"/>
          </a:xfrm>
          <a:prstGeom prst="rect">
            <a:avLst/>
          </a:prstGeom>
          <a:noFill/>
          <a:ln/>
        </p:spPr>
        <p:txBody>
          <a:bodyPr wrap="square" lIns="0" tIns="0" rIns="0" bIns="0" rtlCol="0" anchor="t"/>
          <a:lstStyle/>
          <a:p>
            <a:pPr indent="0" marL="0">
              <a:buNone/>
            </a:pPr>
            <a:r>
              <a:rPr lang="en-US" sz="1800" dirty="0">
                <a:solidFill>
                  <a:schemeClr val="accent3"/>
                </a:solidFill>
              </a:rPr>
              <a:t>Sentinel-1 ascending + descending InSAR, winters 2018–19 and 2020–21</a:t>
            </a:r>
            <a:endParaRPr lang="en-US" sz="1800" dirty="0"/>
          </a:p>
        </p:txBody>
      </p:sp>
      <p:sp>
        <p:nvSpPr>
          <p:cNvPr id="4" name="Text 0"/>
          <p:cNvSpPr/>
          <p:nvPr>
            <p:ph idx="102" type="body" hasCustomPrompt="1"/>
          </p:nvPr>
        </p:nvSpPr>
        <p:spPr>
          <a:xfrm>
            <a:off x="731520" y="4983480"/>
            <a:ext cx="6675120" cy="1280160"/>
          </a:xfrm>
          <a:prstGeom prst="rect">
            <a:avLst/>
          </a:prstGeom>
          <a:noFill/>
          <a:ln/>
        </p:spPr>
        <p:txBody>
          <a:bodyPr wrap="square" lIns="0" tIns="0" rIns="0" bIns="0" rtlCol="0" anchor="t"/>
          <a:lstStyle/>
          <a:p>
            <a:pPr indent="0" marL="0">
              <a:buNone/>
            </a:pPr>
            <a:r>
              <a:rPr lang="en-US" sz="1400" b="1" dirty="0">
                <a:solidFill>
                  <a:schemeClr val="bg1"/>
                </a:solidFill>
              </a:rPr>
              <a:t>Ananthanarayanan B, Shamjid P*</a:t>
            </a:r>
            <a:endParaRPr lang="en-US" sz="1400" dirty="0"/>
          </a:p>
          <a:p>
            <a:pPr indent="0" marL="0">
              <a:buNone/>
            </a:pPr>
            <a:r>
              <a:rPr lang="en-US" sz="1400" dirty="0">
                <a:solidFill>
                  <a:schemeClr val="bg1"/>
                </a:solidFill>
              </a:rPr>
              <a:t>School of Digital Sciences, Digital University Kerala</a:t>
            </a:r>
            <a:endParaRPr lang="en-US" sz="1400" dirty="0"/>
          </a:p>
          <a:p>
            <a:pPr indent="0" marL="0">
              <a:buNone/>
            </a:pPr>
            <a:r>
              <a:rPr lang="en-US" sz="1400" dirty="0">
                <a:solidFill>
                  <a:schemeClr val="bg1"/>
                </a:solidFill>
              </a:rPr>
              <a:t>*shamjid.p@duk.ac.in</a:t>
            </a:r>
            <a:endParaRPr lang="en-US" sz="1400" dirty="0"/>
          </a:p>
        </p:txBody>
      </p:sp>
      <p:sp>
        <p:nvSpPr>
          <p:cNvPr id="5" name="Study area frame"/>
          <p:cNvSpPr/>
          <p:nvPr/>
        </p:nvSpPr>
        <p:spPr>
          <a:xfrm>
            <a:off x="7818120" y="1749683"/>
            <a:ext cx="3931920" cy="3358634"/>
          </a:xfrm>
          <a:prstGeom prst="roundRect">
            <a:avLst>
              <a:gd name="adj" fmla="val 3267"/>
            </a:avLst>
          </a:prstGeom>
          <a:solidFill>
            <a:schemeClr val="bg2"/>
          </a:solidFill>
          <a:ln/>
        </p:spPr>
      </p:sp>
      <p:pic>
        <p:nvPicPr>
          <p:cNvPr id="6" name="Study area" descr="/Users/bhakthadarshan/Documents/DUK/Confernce/figures/figures_2019/fig01_study_area_2019.png">    </p:cNvPr>
          <p:cNvPicPr>
            <a:picLocks noChangeAspect="1"/>
          </p:cNvPicPr>
          <p:nvPr/>
        </p:nvPicPr>
        <p:blipFill>
          <a:blip r:embed="rId1"/>
          <a:stretch>
            <a:fillRect/>
          </a:stretch>
        </p:blipFill>
        <p:spPr>
          <a:xfrm>
            <a:off x="7955280" y="1886843"/>
            <a:ext cx="3657600" cy="30843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Why the timing of landfast ice matters</a:t>
            </a:r>
            <a:endParaRPr lang="en-US" sz="3400" dirty="0"/>
          </a:p>
        </p:txBody>
      </p:sp>
      <p:sp>
        <p:nvSpPr>
          <p:cNvPr id="3" name="Motivation points"/>
          <p:cNvSpPr txBox="1"/>
          <p:nvPr/>
        </p:nvSpPr>
        <p:spPr>
          <a:xfrm>
            <a:off x="548640" y="1371600"/>
            <a:ext cx="6035040" cy="3017520"/>
          </a:xfrm>
          <a:prstGeom prst="rect">
            <a:avLst/>
          </a:prstGeom>
          <a:noFill/>
          <a:ln/>
        </p:spPr>
        <p:txBody>
          <a:bodyPr wrap="square" lIns="0" tIns="0" rIns="0" bIns="0" rtlCol="0" anchor="t"/>
          <a:lstStyle/>
          <a:p>
            <a:pPr marL="177800" indent="-177800">
              <a:spcAft>
                <a:spcPts val="1000"/>
              </a:spcAft>
              <a:buSzPct val="100000"/>
              <a:buChar char="•"/>
            </a:pPr>
            <a:r>
              <a:rPr lang="en-US" sz="1700" b="1" dirty="0">
                <a:solidFill>
                  <a:schemeClr val="tx1"/>
                </a:solidFill>
              </a:rPr>
              <a:t>A travel surface and a habitat: </a:t>
            </a:r>
            <a:pPr indent="0" marL="0">
              <a:spcAft>
                <a:spcPts val="1000"/>
              </a:spcAft>
              <a:buNone/>
            </a:pPr>
            <a:r>
              <a:rPr lang="en-US" sz="1700" dirty="0">
                <a:solidFill>
                  <a:schemeClr val="tx1"/>
                </a:solidFill>
              </a:rPr>
              <a:t>landfast ice carries winter travel and shapes nearshore ecology across the Canadian Arctic Archipelago.</a:t>
            </a:r>
            <a:endParaRPr lang="en-US" sz="1700" dirty="0"/>
          </a:p>
          <a:p>
            <a:pPr marL="177800" indent="-177800">
              <a:spcAft>
                <a:spcPts val="1000"/>
              </a:spcAft>
              <a:buSzPct val="100000"/>
              <a:buChar char="•"/>
            </a:pPr>
            <a:r>
              <a:rPr lang="en-US" sz="1700" b="1" dirty="0">
                <a:solidFill>
                  <a:schemeClr val="tx1"/>
                </a:solidFill>
              </a:rPr>
              <a:t>Its calendar is shifting </a:t>
            </a:r>
            <a:pPr indent="0" marL="0">
              <a:spcAft>
                <a:spcPts val="1000"/>
              </a:spcAft>
              <a:buNone/>
            </a:pPr>
            <a:r>
              <a:rPr lang="en-US" sz="1700" dirty="0">
                <a:solidFill>
                  <a:schemeClr val="tx1"/>
                </a:solidFill>
              </a:rPr>
              <a:t>under Arctic amplification, so formation dates need measuring, not assuming.</a:t>
            </a:r>
            <a:endParaRPr lang="en-US" sz="1700" dirty="0"/>
          </a:p>
          <a:p>
            <a:pPr marL="177800" indent="-177800">
              <a:spcAft>
                <a:spcPts val="1000"/>
              </a:spcAft>
              <a:buSzPct val="100000"/>
              <a:buChar char="•"/>
            </a:pPr>
            <a:r>
              <a:rPr lang="en-US" sz="1700" b="1" dirty="0">
                <a:solidFill>
                  <a:schemeClr val="tx1"/>
                </a:solidFill>
              </a:rPr>
              <a:t>InSAR at Cambridge Bay </a:t>
            </a:r>
            <a:pPr indent="0" marL="0">
              <a:spcAft>
                <a:spcPts val="1000"/>
              </a:spcAft>
              <a:buNone/>
            </a:pPr>
            <a:r>
              <a:rPr lang="en-US" sz="1700" dirty="0">
                <a:solidFill>
                  <a:schemeClr val="tx1"/>
                </a:solidFill>
              </a:rPr>
              <a:t>has retrieved 2-D displacement (Chen et al., 2021) and its interannual change (Zhu et al., 2023).</a:t>
            </a:r>
            <a:endParaRPr lang="en-US" sz="1700" dirty="0"/>
          </a:p>
        </p:txBody>
      </p:sp>
      <p:sp>
        <p:nvSpPr>
          <p:cNvPr id="4" name="Key idea card"/>
          <p:cNvSpPr/>
          <p:nvPr/>
        </p:nvSpPr>
        <p:spPr>
          <a:xfrm>
            <a:off x="6949440" y="1371600"/>
            <a:ext cx="4663440" cy="2880360"/>
          </a:xfrm>
          <a:prstGeom prst="roundRect">
            <a:avLst>
              <a:gd name="adj" fmla="val 3810"/>
            </a:avLst>
          </a:prstGeom>
          <a:solidFill>
            <a:schemeClr val="tx2"/>
          </a:solidFill>
          <a:ln/>
        </p:spPr>
      </p:sp>
      <p:sp>
        <p:nvSpPr>
          <p:cNvPr id="5" name="Key idea text"/>
          <p:cNvSpPr txBox="1"/>
          <p:nvPr/>
        </p:nvSpPr>
        <p:spPr>
          <a:xfrm>
            <a:off x="7269480" y="1600200"/>
            <a:ext cx="4023360" cy="2468880"/>
          </a:xfrm>
          <a:prstGeom prst="rect">
            <a:avLst/>
          </a:prstGeom>
          <a:noFill/>
          <a:ln/>
        </p:spPr>
        <p:txBody>
          <a:bodyPr wrap="square" lIns="0" tIns="0" rIns="0" bIns="0" rtlCol="0" anchor="t"/>
          <a:lstStyle/>
          <a:p>
            <a:pPr indent="0" marL="0">
              <a:spcAft>
                <a:spcPts val="1000"/>
              </a:spcAft>
              <a:buNone/>
            </a:pPr>
            <a:r>
              <a:rPr lang="en-US" sz="1400" b="1" dirty="0">
                <a:solidFill>
                  <a:schemeClr val="accent3"/>
                </a:solidFill>
              </a:rPr>
              <a:t>The idea</a:t>
            </a:r>
            <a:endParaRPr lang="en-US" sz="1400" dirty="0"/>
          </a:p>
          <a:p>
            <a:pPr indent="0" marL="0">
              <a:spcAft>
                <a:spcPts val="1000"/>
              </a:spcAft>
              <a:buNone/>
            </a:pPr>
            <a:r>
              <a:rPr lang="en-US" sz="1800" dirty="0">
                <a:solidFill>
                  <a:schemeClr val="bg1"/>
                </a:solidFill>
              </a:rPr>
              <a:t>Coherence is normally used only to select measurable pixels.</a:t>
            </a:r>
            <a:endParaRPr lang="en-US" sz="1400" dirty="0"/>
          </a:p>
          <a:p>
            <a:pPr indent="0" marL="0">
              <a:spcAft>
                <a:spcPts val="1000"/>
              </a:spcAft>
              <a:buNone/>
            </a:pPr>
            <a:r>
              <a:rPr lang="en-US" sz="1800" dirty="0">
                <a:solidFill>
                  <a:schemeClr val="bg1"/>
                </a:solidFill>
              </a:rPr>
              <a:t>But drifting ice loses coherence and fixed ice regains it: its seasonal course can record when the ice consolidated.</a:t>
            </a:r>
            <a:endParaRPr lang="en-US" sz="1400" dirty="0"/>
          </a:p>
        </p:txBody>
      </p:sp>
      <p:sp>
        <p:nvSpPr>
          <p:cNvPr id="6" name="Stage 1"/>
          <p:cNvSpPr/>
          <p:nvPr/>
        </p:nvSpPr>
        <p:spPr>
          <a:xfrm>
            <a:off x="548640" y="4617720"/>
            <a:ext cx="3474720" cy="1463040"/>
          </a:xfrm>
          <a:prstGeom prst="roundRect">
            <a:avLst>
              <a:gd name="adj" fmla="val 7500"/>
            </a:avLst>
          </a:prstGeom>
          <a:solidFill>
            <a:schemeClr val="bg2"/>
          </a:solidFill>
          <a:ln/>
        </p:spPr>
      </p:sp>
      <p:sp>
        <p:nvSpPr>
          <p:cNvPr id="7" name="Stage 1 head"/>
          <p:cNvSpPr txBox="1"/>
          <p:nvPr/>
        </p:nvSpPr>
        <p:spPr>
          <a:xfrm>
            <a:off x="822960" y="4800600"/>
            <a:ext cx="2926080" cy="411480"/>
          </a:xfrm>
          <a:prstGeom prst="rect">
            <a:avLst/>
          </a:prstGeom>
          <a:noFill/>
          <a:ln/>
        </p:spPr>
        <p:txBody>
          <a:bodyPr wrap="square" lIns="0" tIns="0" rIns="0" bIns="0" rtlCol="0" anchor="ctr"/>
          <a:lstStyle/>
          <a:p>
            <a:pPr indent="0" marL="0">
              <a:buNone/>
            </a:pPr>
            <a:r>
              <a:rPr lang="en-US" sz="1800" b="1" dirty="0">
                <a:solidFill>
                  <a:schemeClr val="accent2"/>
                </a:solidFill>
              </a:rPr>
              <a:t>Drifting ice</a:t>
            </a:r>
            <a:endParaRPr lang="en-US" sz="1800" dirty="0"/>
          </a:p>
        </p:txBody>
      </p:sp>
      <p:sp>
        <p:nvSpPr>
          <p:cNvPr id="8" name="Stage 1 body"/>
          <p:cNvSpPr txBox="1"/>
          <p:nvPr/>
        </p:nvSpPr>
        <p:spPr>
          <a:xfrm>
            <a:off x="822960" y="5257800"/>
            <a:ext cx="2926080" cy="685800"/>
          </a:xfrm>
          <a:prstGeom prst="rect">
            <a:avLst/>
          </a:prstGeom>
          <a:noFill/>
          <a:ln/>
        </p:spPr>
        <p:txBody>
          <a:bodyPr wrap="square" lIns="0" tIns="0" rIns="0" bIns="0" rtlCol="0" anchor="t"/>
          <a:lstStyle/>
          <a:p>
            <a:pPr indent="0" marL="0">
              <a:buNone/>
            </a:pPr>
            <a:r>
              <a:rPr lang="en-US" sz="1400" dirty="0">
                <a:solidFill>
                  <a:schemeClr val="tx1"/>
                </a:solidFill>
              </a:rPr>
              <a:t>coherence lost between passes</a:t>
            </a:r>
            <a:endParaRPr lang="en-US" sz="1400" dirty="0"/>
          </a:p>
        </p:txBody>
      </p:sp>
      <p:sp>
        <p:nvSpPr>
          <p:cNvPr id="9" name="Stage arrow 1"/>
          <p:cNvSpPr/>
          <p:nvPr/>
        </p:nvSpPr>
        <p:spPr>
          <a:xfrm>
            <a:off x="4069080" y="5349240"/>
            <a:ext cx="228600" cy="0"/>
          </a:xfrm>
          <a:prstGeom prst="line">
            <a:avLst/>
          </a:prstGeom>
          <a:noFill/>
          <a:ln w="25400">
            <a:solidFill>
              <a:srgbClr val="5C6B7A"/>
            </a:solidFill>
            <a:prstDash val="solid"/>
            <a:tailEnd type="triangle"/>
          </a:ln>
        </p:spPr>
      </p:sp>
      <p:sp>
        <p:nvSpPr>
          <p:cNvPr id="10" name="Stage 2"/>
          <p:cNvSpPr/>
          <p:nvPr/>
        </p:nvSpPr>
        <p:spPr>
          <a:xfrm>
            <a:off x="4343400" y="4617720"/>
            <a:ext cx="3474720" cy="1463040"/>
          </a:xfrm>
          <a:prstGeom prst="roundRect">
            <a:avLst>
              <a:gd name="adj" fmla="val 7500"/>
            </a:avLst>
          </a:prstGeom>
          <a:solidFill>
            <a:schemeClr val="bg2"/>
          </a:solidFill>
          <a:ln/>
        </p:spPr>
      </p:sp>
      <p:sp>
        <p:nvSpPr>
          <p:cNvPr id="11" name="Stage 2 head"/>
          <p:cNvSpPr txBox="1"/>
          <p:nvPr/>
        </p:nvSpPr>
        <p:spPr>
          <a:xfrm>
            <a:off x="4617720" y="4800600"/>
            <a:ext cx="2926080" cy="411480"/>
          </a:xfrm>
          <a:prstGeom prst="rect">
            <a:avLst/>
          </a:prstGeom>
          <a:noFill/>
          <a:ln/>
        </p:spPr>
        <p:txBody>
          <a:bodyPr wrap="square" lIns="0" tIns="0" rIns="0" bIns="0" rtlCol="0" anchor="ctr"/>
          <a:lstStyle/>
          <a:p>
            <a:pPr indent="0" marL="0">
              <a:buNone/>
            </a:pPr>
            <a:r>
              <a:rPr lang="en-US" sz="1800" b="1" dirty="0">
                <a:solidFill>
                  <a:schemeClr val="accent4"/>
                </a:solidFill>
              </a:rPr>
              <a:t>Consolidation</a:t>
            </a:r>
            <a:endParaRPr lang="en-US" sz="1800" dirty="0"/>
          </a:p>
        </p:txBody>
      </p:sp>
      <p:sp>
        <p:nvSpPr>
          <p:cNvPr id="12" name="Stage 2 body"/>
          <p:cNvSpPr txBox="1"/>
          <p:nvPr/>
        </p:nvSpPr>
        <p:spPr>
          <a:xfrm>
            <a:off x="4617720" y="5257800"/>
            <a:ext cx="2926080" cy="685800"/>
          </a:xfrm>
          <a:prstGeom prst="rect">
            <a:avLst/>
          </a:prstGeom>
          <a:noFill/>
          <a:ln/>
        </p:spPr>
        <p:txBody>
          <a:bodyPr wrap="square" lIns="0" tIns="0" rIns="0" bIns="0" rtlCol="0" anchor="t"/>
          <a:lstStyle/>
          <a:p>
            <a:pPr indent="0" marL="0">
              <a:buNone/>
            </a:pPr>
            <a:r>
              <a:rPr lang="en-US" sz="1400" dirty="0">
                <a:solidFill>
                  <a:schemeClr val="tx1"/>
                </a:solidFill>
              </a:rPr>
              <a:t>coherence returns as the ice locks in place</a:t>
            </a:r>
            <a:endParaRPr lang="en-US" sz="1400" dirty="0"/>
          </a:p>
        </p:txBody>
      </p:sp>
      <p:sp>
        <p:nvSpPr>
          <p:cNvPr id="13" name="Stage arrow 2"/>
          <p:cNvSpPr/>
          <p:nvPr/>
        </p:nvSpPr>
        <p:spPr>
          <a:xfrm>
            <a:off x="7863840" y="5349240"/>
            <a:ext cx="228600" cy="0"/>
          </a:xfrm>
          <a:prstGeom prst="line">
            <a:avLst/>
          </a:prstGeom>
          <a:noFill/>
          <a:ln w="25400">
            <a:solidFill>
              <a:srgbClr val="5C6B7A"/>
            </a:solidFill>
            <a:prstDash val="solid"/>
            <a:tailEnd type="triangle"/>
          </a:ln>
        </p:spPr>
      </p:sp>
      <p:sp>
        <p:nvSpPr>
          <p:cNvPr id="14" name="Stage 3"/>
          <p:cNvSpPr/>
          <p:nvPr/>
        </p:nvSpPr>
        <p:spPr>
          <a:xfrm>
            <a:off x="8138160" y="4617720"/>
            <a:ext cx="3474720" cy="1463040"/>
          </a:xfrm>
          <a:prstGeom prst="roundRect">
            <a:avLst>
              <a:gd name="adj" fmla="val 7500"/>
            </a:avLst>
          </a:prstGeom>
          <a:solidFill>
            <a:schemeClr val="bg2"/>
          </a:solidFill>
          <a:ln/>
        </p:spPr>
      </p:sp>
      <p:sp>
        <p:nvSpPr>
          <p:cNvPr id="15" name="Stage 3 head"/>
          <p:cNvSpPr txBox="1"/>
          <p:nvPr/>
        </p:nvSpPr>
        <p:spPr>
          <a:xfrm>
            <a:off x="8412480" y="4800600"/>
            <a:ext cx="2926080" cy="411480"/>
          </a:xfrm>
          <a:prstGeom prst="rect">
            <a:avLst/>
          </a:prstGeom>
          <a:noFill/>
          <a:ln/>
        </p:spPr>
        <p:txBody>
          <a:bodyPr wrap="square" lIns="0" tIns="0" rIns="0" bIns="0" rtlCol="0" anchor="ctr"/>
          <a:lstStyle/>
          <a:p>
            <a:pPr indent="0" marL="0">
              <a:buNone/>
            </a:pPr>
            <a:r>
              <a:rPr lang="en-US" sz="1800" b="1" dirty="0">
                <a:solidFill>
                  <a:schemeClr val="accent1"/>
                </a:solidFill>
              </a:rPr>
              <a:t>Landfast ice</a:t>
            </a:r>
            <a:endParaRPr lang="en-US" sz="1800" dirty="0"/>
          </a:p>
        </p:txBody>
      </p:sp>
      <p:sp>
        <p:nvSpPr>
          <p:cNvPr id="16" name="Stage 3 body"/>
          <p:cNvSpPr txBox="1"/>
          <p:nvPr/>
        </p:nvSpPr>
        <p:spPr>
          <a:xfrm>
            <a:off x="8412480" y="5257800"/>
            <a:ext cx="2926080" cy="685800"/>
          </a:xfrm>
          <a:prstGeom prst="rect">
            <a:avLst/>
          </a:prstGeom>
          <a:noFill/>
          <a:ln/>
        </p:spPr>
        <p:txBody>
          <a:bodyPr wrap="square" lIns="0" tIns="0" rIns="0" bIns="0" rtlCol="0" anchor="t"/>
          <a:lstStyle/>
          <a:p>
            <a:pPr indent="0" marL="0">
              <a:buNone/>
            </a:pPr>
            <a:r>
              <a:rPr lang="en-US" sz="1400" dirty="0">
                <a:solidFill>
                  <a:schemeClr val="tx1"/>
                </a:solidFill>
              </a:rPr>
              <a:t>coherent area stays above 50%: the onset date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Study area and data</a:t>
            </a:r>
            <a:endParaRPr lang="en-US" sz="3400" dirty="0"/>
          </a:p>
        </p:txBody>
      </p:sp>
      <p:sp>
        <p:nvSpPr>
          <p:cNvPr id="3" name="Study area map frame"/>
          <p:cNvSpPr/>
          <p:nvPr/>
        </p:nvSpPr>
        <p:spPr>
          <a:xfrm>
            <a:off x="548640" y="1325880"/>
            <a:ext cx="5208162" cy="4846320"/>
          </a:xfrm>
          <a:prstGeom prst="roundRect">
            <a:avLst>
              <a:gd name="adj" fmla="val 2264"/>
            </a:avLst>
          </a:prstGeom>
          <a:solidFill>
            <a:schemeClr val="bg2"/>
          </a:solidFill>
          <a:ln/>
        </p:spPr>
      </p:sp>
      <p:pic>
        <p:nvPicPr>
          <p:cNvPr id="4" name="Study area map" descr="/Users/bhakthadarshan/Documents/DUK/Confernce/figures/figures_2019/fig01_study_area_2019.png">    </p:cNvPr>
          <p:cNvPicPr>
            <a:picLocks noChangeAspect="1"/>
          </p:cNvPicPr>
          <p:nvPr/>
        </p:nvPicPr>
        <p:blipFill>
          <a:blip r:embed="rId1"/>
          <a:stretch>
            <a:fillRect/>
          </a:stretch>
        </p:blipFill>
        <p:spPr>
          <a:xfrm>
            <a:off x="685800" y="1463040"/>
            <a:ext cx="4933842" cy="4160520"/>
          </a:xfrm>
          <a:prstGeom prst="rect">
            <a:avLst/>
          </a:prstGeom>
        </p:spPr>
      </p:pic>
      <p:sp>
        <p:nvSpPr>
          <p:cNvPr id="5" name="Study area map caption"/>
          <p:cNvSpPr txBox="1"/>
          <p:nvPr/>
        </p:nvSpPr>
        <p:spPr>
          <a:xfrm>
            <a:off x="731520" y="5715000"/>
            <a:ext cx="4842402" cy="365760"/>
          </a:xfrm>
          <a:prstGeom prst="rect">
            <a:avLst/>
          </a:prstGeom>
          <a:noFill/>
          <a:ln/>
        </p:spPr>
        <p:txBody>
          <a:bodyPr wrap="square" lIns="0" tIns="0" rIns="0" bIns="0" rtlCol="0" anchor="ctr"/>
          <a:lstStyle/>
          <a:p>
            <a:pPr indent="0" marL="0">
              <a:buNone/>
            </a:pPr>
            <a:r>
              <a:rPr lang="en-US" sz="1100" i="1" dirty="0">
                <a:solidFill>
                  <a:schemeClr val="accent4"/>
                </a:solidFill>
              </a:rPr>
              <a:t>P1–P4 sea-ice points 1.2–8.2 km offshore, RP land reference, P5 land control</a:t>
            </a:r>
            <a:endParaRPr lang="en-US" sz="1100" dirty="0"/>
          </a:p>
        </p:txBody>
      </p:sp>
      <p:graphicFrame>
        <p:nvGraphicFramePr>
          <p:cNvPr id="4" name="Data table"/>
          <p:cNvGraphicFramePr>
            <a:graphicFrameLocks noGrp="1"/>
          </p:cNvGraphicFramePr>
          <p:nvPr>
            <p:extLst>
              <p:ext uri="{D42A27DB-BD31-4B8C-83A1-F6EECF244321}">
                <p14:modId xmlns:p14="http://schemas.microsoft.com/office/powerpoint/2010/main" val="1579011935"/>
              </p:ext>
            </p:extLst>
          </p:nvPr>
        </p:nvGraphicFramePr>
        <p:xfrm>
          <a:off x="6122562" y="1325880"/>
          <a:ext cx="5490318" cy="914400"/>
        </p:xfrm>
        <a:graphic>
          <a:graphicData uri="http://schemas.openxmlformats.org/drawingml/2006/table">
            <a:tbl>
              <a:tblPr/>
              <a:tblGrid>
                <a:gridCol w="1701999"/>
                <a:gridCol w="1894160"/>
                <a:gridCol w="1894160"/>
              </a:tblGrid>
              <a:tr h="0">
                <a:tc>
                  <a:txBody>
                    <a:bodyPr/>
                    <a:lstStyle/>
                    <a:p>
                      <a:pPr indent="0" marL="0">
                        <a:buNone/>
                      </a:pP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2018–19</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bg1"/>
                          </a:solidFill>
                        </a:rPr>
                        <a:t>2020–21</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r>
              <a:tr h="0">
                <a:tc>
                  <a:txBody>
                    <a:bodyPr/>
                    <a:lstStyle/>
                    <a:p>
                      <a:pPr indent="0" marL="0">
                        <a:buNone/>
                      </a:pPr>
                      <a:r>
                        <a:rPr lang="en-US" sz="1300" b="1" dirty="0">
                          <a:solidFill>
                            <a:schemeClr val="tx1"/>
                          </a:solidFill>
                        </a:rPr>
                        <a:t>Descending</a:t>
                      </a:r>
                      <a:endParaRPr lang="en-US" sz="1300" dirty="0"/>
                    </a:p>
                    <a:p>
                      <a:pPr indent="0" marL="0">
                        <a:buNone/>
                      </a:pPr>
                      <a:r>
                        <a:rPr lang="en-US" sz="1200" dirty="0">
                          <a:solidFill>
                            <a:schemeClr val="accent4"/>
                          </a:solidFill>
                        </a:rPr>
                        <a:t>S1A, HH</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17 Feb – 6 Apr</a:t>
                      </a:r>
                      <a:endParaRPr lang="en-US" sz="1300" dirty="0"/>
                    </a:p>
                    <a:p>
                      <a:pPr indent="0" marL="0">
                        <a:buNone/>
                      </a:pPr>
                      <a:r>
                        <a:rPr lang="en-US" sz="1200" dirty="0">
                          <a:solidFill>
                            <a:schemeClr val="accent4"/>
                          </a:solidFill>
                        </a:rPr>
                        <a:t>4 pairs</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14 Mar – 7 Apr</a:t>
                      </a:r>
                      <a:endParaRPr lang="en-US" sz="1300" dirty="0"/>
                    </a:p>
                    <a:p>
                      <a:pPr indent="0" marL="0">
                        <a:buNone/>
                      </a:pPr>
                      <a:r>
                        <a:rPr lang="en-US" sz="1200" dirty="0">
                          <a:solidFill>
                            <a:schemeClr val="accent4"/>
                          </a:solidFill>
                        </a:rPr>
                        <a:t>2 pairs</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Ascending</a:t>
                      </a:r>
                      <a:endParaRPr lang="en-US" sz="1300" dirty="0"/>
                    </a:p>
                    <a:p>
                      <a:pPr indent="0" marL="0">
                        <a:buNone/>
                      </a:pPr>
                      <a:r>
                        <a:rPr lang="en-US" sz="1200" dirty="0">
                          <a:solidFill>
                            <a:schemeClr val="accent4"/>
                          </a:solidFill>
                        </a:rPr>
                        <a:t>S1B, VV</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21 Feb – 17 Mar</a:t>
                      </a:r>
                      <a:endParaRPr lang="en-US" sz="1300" dirty="0"/>
                    </a:p>
                    <a:p>
                      <a:pPr indent="0" marL="0">
                        <a:buNone/>
                      </a:pPr>
                      <a:r>
                        <a:rPr lang="en-US" sz="1200" dirty="0">
                          <a:solidFill>
                            <a:schemeClr val="accent4"/>
                          </a:solidFill>
                        </a:rPr>
                        <a:t>2 pairs</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18 Mar – 23 Apr</a:t>
                      </a:r>
                      <a:endParaRPr lang="en-US" sz="1300" dirty="0"/>
                    </a:p>
                    <a:p>
                      <a:pPr indent="0" marL="0">
                        <a:buNone/>
                      </a:pPr>
                      <a:r>
                        <a:rPr lang="en-US" sz="1200" dirty="0">
                          <a:solidFill>
                            <a:schemeClr val="accent4"/>
                          </a:solidFill>
                        </a:rPr>
                        <a:t>3 pairs</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r h="0">
                <a:tc>
                  <a:txBody>
                    <a:bodyPr/>
                    <a:lstStyle/>
                    <a:p>
                      <a:pPr indent="0" marL="0">
                        <a:buNone/>
                      </a:pPr>
                      <a:r>
                        <a:rPr lang="en-US" sz="1300" b="1" dirty="0">
                          <a:solidFill>
                            <a:schemeClr val="tx1"/>
                          </a:solidFill>
                        </a:rPr>
                        <a:t>Coherence</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0.52 – 0.85</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0.47 – 0.81</a:t>
                      </a:r>
                      <a:endParaRPr lang="en-US" sz="1300" dirty="0"/>
                    </a:p>
                  </a:txBody>
                  <a:tcPr marL="73152" marR="73152" marT="73152" marB="73152">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bl>
          </a:graphicData>
        </a:graphic>
      </p:graphicFrame>
      <p:sp>
        <p:nvSpPr>
          <p:cNvPr id="7" name="Data notes"/>
          <p:cNvSpPr txBox="1"/>
          <p:nvPr/>
        </p:nvSpPr>
        <p:spPr>
          <a:xfrm>
            <a:off x="6122562" y="3429000"/>
            <a:ext cx="5490318" cy="2194560"/>
          </a:xfrm>
          <a:prstGeom prst="rect">
            <a:avLst/>
          </a:prstGeom>
          <a:noFill/>
          <a:ln/>
        </p:spPr>
        <p:txBody>
          <a:bodyPr wrap="square" lIns="0" tIns="0" rIns="0" bIns="0" rtlCol="0" anchor="t"/>
          <a:lstStyle/>
          <a:p>
            <a:pPr marL="177800" indent="-177800">
              <a:spcAft>
                <a:spcPts val="1000"/>
              </a:spcAft>
              <a:buSzPct val="100000"/>
              <a:buChar char="•"/>
            </a:pPr>
            <a:r>
              <a:rPr lang="en-US" sz="1500" b="1" dirty="0">
                <a:solidFill>
                  <a:schemeClr val="tx1"/>
                </a:solidFill>
              </a:rPr>
              <a:t>Sentinel-1 IW SLC, </a:t>
            </a:r>
            <a:pPr indent="0" marL="0">
              <a:spcAft>
                <a:spcPts val="1000"/>
              </a:spcAft>
              <a:buNone/>
            </a:pPr>
            <a:r>
              <a:rPr lang="en-US" sz="1500" dirty="0">
                <a:solidFill>
                  <a:schemeClr val="tx1"/>
                </a:solidFill>
              </a:rPr>
              <a:t>consecutive 12-day pairs, ASF HyP3 (GAMMA), 80 m</a:t>
            </a:r>
            <a:endParaRPr lang="en-US" sz="1500" dirty="0"/>
          </a:p>
          <a:p>
            <a:pPr marL="177800" indent="-177800">
              <a:spcAft>
                <a:spcPts val="1000"/>
              </a:spcAft>
              <a:buSzPct val="100000"/>
              <a:buChar char="•"/>
            </a:pPr>
            <a:r>
              <a:rPr lang="en-US" sz="1500" b="1" dirty="0">
                <a:solidFill>
                  <a:schemeClr val="tx1"/>
                </a:solidFill>
              </a:rPr>
              <a:t>Coherence tracked </a:t>
            </a:r>
            <a:pPr indent="0" marL="0">
              <a:spcAft>
                <a:spcPts val="1000"/>
              </a:spcAft>
              <a:buNone/>
            </a:pPr>
            <a:r>
              <a:rPr lang="en-US" sz="1500" dirty="0">
                <a:solidFill>
                  <a:schemeClr val="tx1"/>
                </a:solidFill>
              </a:rPr>
              <a:t>every 12 days, mid-December to late April</a:t>
            </a:r>
            <a:endParaRPr lang="en-US" sz="1500" dirty="0"/>
          </a:p>
          <a:p>
            <a:pPr marL="177800" indent="-177800">
              <a:spcAft>
                <a:spcPts val="1000"/>
              </a:spcAft>
              <a:buSzPct val="100000"/>
              <a:buChar char="•"/>
            </a:pPr>
            <a:r>
              <a:rPr lang="en-US" sz="1500" b="1" dirty="0">
                <a:solidFill>
                  <a:schemeClr val="tx1"/>
                </a:solidFill>
              </a:rPr>
              <a:t>Four sea-ice points </a:t>
            </a:r>
            <a:pPr indent="0" marL="0">
              <a:spcAft>
                <a:spcPts val="1000"/>
              </a:spcAft>
              <a:buNone/>
            </a:pPr>
            <a:r>
              <a:rPr lang="en-US" sz="1500" dirty="0">
                <a:solidFill>
                  <a:schemeClr val="tx1"/>
                </a:solidFill>
              </a:rPr>
              <a:t>1.2–8.2 km offshore, identical in both winters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From radar pairs to 2-D motion</a:t>
            </a:r>
            <a:endParaRPr lang="en-US" sz="3400" dirty="0"/>
          </a:p>
        </p:txBody>
      </p:sp>
      <p:sp>
        <p:nvSpPr>
          <p:cNvPr id="3" name="Descending interferograms frame"/>
          <p:cNvSpPr/>
          <p:nvPr/>
        </p:nvSpPr>
        <p:spPr>
          <a:xfrm>
            <a:off x="6694332" y="1325880"/>
            <a:ext cx="4625017" cy="4892040"/>
          </a:xfrm>
          <a:prstGeom prst="roundRect">
            <a:avLst>
              <a:gd name="adj" fmla="val 2372"/>
            </a:avLst>
          </a:prstGeom>
          <a:solidFill>
            <a:schemeClr val="bg2"/>
          </a:solidFill>
          <a:ln/>
        </p:spPr>
      </p:sp>
      <p:pic>
        <p:nvPicPr>
          <p:cNvPr id="4" name="Descending interferograms" descr="/Users/bhakthadarshan/Documents/DUK/Confernce/figures/figures_2019/fig04_ifg_descending_2019.png">    </p:cNvPr>
          <p:cNvPicPr>
            <a:picLocks noChangeAspect="1"/>
          </p:cNvPicPr>
          <p:nvPr/>
        </p:nvPicPr>
        <p:blipFill>
          <a:blip r:embed="rId1"/>
          <a:stretch>
            <a:fillRect/>
          </a:stretch>
        </p:blipFill>
        <p:spPr>
          <a:xfrm>
            <a:off x="6831492" y="1463040"/>
            <a:ext cx="4350697" cy="4206240"/>
          </a:xfrm>
          <a:prstGeom prst="rect">
            <a:avLst/>
          </a:prstGeom>
        </p:spPr>
      </p:pic>
      <p:sp>
        <p:nvSpPr>
          <p:cNvPr id="5" name="Descending interferograms caption"/>
          <p:cNvSpPr txBox="1"/>
          <p:nvPr/>
        </p:nvSpPr>
        <p:spPr>
          <a:xfrm>
            <a:off x="6877212" y="5760720"/>
            <a:ext cx="4259257" cy="365760"/>
          </a:xfrm>
          <a:prstGeom prst="rect">
            <a:avLst/>
          </a:prstGeom>
          <a:noFill/>
          <a:ln/>
        </p:spPr>
        <p:txBody>
          <a:bodyPr wrap="square" lIns="0" tIns="0" rIns="0" bIns="0" rtlCol="0" anchor="ctr"/>
          <a:lstStyle/>
          <a:p>
            <a:pPr indent="0" marL="0">
              <a:buNone/>
            </a:pPr>
            <a:r>
              <a:rPr lang="en-US" sz="1100" i="1" dirty="0">
                <a:solidFill>
                  <a:schemeClr val="accent4"/>
                </a:solidFill>
              </a:rPr>
              <a:t>Descending interferograms, 17 Feb – 6 Apr 2019</a:t>
            </a:r>
            <a:endParaRPr lang="en-US" sz="1100" dirty="0"/>
          </a:p>
        </p:txBody>
      </p:sp>
      <p:sp>
        <p:nvSpPr>
          <p:cNvPr id="6" name="Step 1 badge"/>
          <p:cNvSpPr/>
          <p:nvPr/>
        </p:nvSpPr>
        <p:spPr>
          <a:xfrm>
            <a:off x="548640" y="1417320"/>
            <a:ext cx="548640" cy="548640"/>
          </a:xfrm>
          <a:prstGeom prst="ellipse">
            <a:avLst/>
          </a:prstGeom>
          <a:solidFill>
            <a:schemeClr val="accent1"/>
          </a:solidFill>
          <a:ln/>
        </p:spPr>
      </p:sp>
      <p:sp>
        <p:nvSpPr>
          <p:cNvPr id="7" name="Step 1 number"/>
          <p:cNvSpPr txBox="1"/>
          <p:nvPr/>
        </p:nvSpPr>
        <p:spPr>
          <a:xfrm>
            <a:off x="548640" y="1417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Step 1 text"/>
          <p:cNvSpPr txBox="1"/>
          <p:nvPr/>
        </p:nvSpPr>
        <p:spPr>
          <a:xfrm>
            <a:off x="1280160" y="1371600"/>
            <a:ext cx="5048412" cy="10058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Coherence onset</a:t>
            </a:r>
            <a:endParaRPr lang="en-US" sz="1500" dirty="0"/>
          </a:p>
          <a:p>
            <a:pPr indent="0" marL="0">
              <a:spcAft>
                <a:spcPts val="400"/>
              </a:spcAft>
              <a:buNone/>
            </a:pPr>
            <a:r>
              <a:rPr lang="en-US" sz="1500" dirty="0">
                <a:solidFill>
                  <a:schemeClr val="tx1"/>
                </a:solidFill>
              </a:rPr>
              <a:t>coherent ice area every 12 days; onset = sustained above 50%</a:t>
            </a:r>
            <a:endParaRPr lang="en-US" sz="1500" dirty="0"/>
          </a:p>
        </p:txBody>
      </p:sp>
      <p:sp>
        <p:nvSpPr>
          <p:cNvPr id="9" name="Step 2 badge"/>
          <p:cNvSpPr/>
          <p:nvPr/>
        </p:nvSpPr>
        <p:spPr>
          <a:xfrm>
            <a:off x="548640" y="2606040"/>
            <a:ext cx="548640" cy="548640"/>
          </a:xfrm>
          <a:prstGeom prst="ellipse">
            <a:avLst/>
          </a:prstGeom>
          <a:solidFill>
            <a:schemeClr val="accent1"/>
          </a:solidFill>
          <a:ln/>
        </p:spPr>
      </p:sp>
      <p:sp>
        <p:nvSpPr>
          <p:cNvPr id="10" name="Step 2 number"/>
          <p:cNvSpPr txBox="1"/>
          <p:nvPr/>
        </p:nvSpPr>
        <p:spPr>
          <a:xfrm>
            <a:off x="548640" y="2606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Step 2 text"/>
          <p:cNvSpPr txBox="1"/>
          <p:nvPr/>
        </p:nvSpPr>
        <p:spPr>
          <a:xfrm>
            <a:off x="1280160" y="2560320"/>
            <a:ext cx="5048412" cy="10058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SBAS time series</a:t>
            </a:r>
            <a:endParaRPr lang="en-US" sz="1500" dirty="0"/>
          </a:p>
          <a:p>
            <a:pPr indent="0" marL="0">
              <a:spcAft>
                <a:spcPts val="400"/>
              </a:spcAft>
              <a:buNone/>
            </a:pPr>
            <a:r>
              <a:rPr lang="en-US" sz="1500" dirty="0">
                <a:solidFill>
                  <a:schemeClr val="tx1"/>
                </a:solidFill>
              </a:rPr>
              <a:t>ramps removed over land; referenced to fixed land</a:t>
            </a:r>
            <a:endParaRPr lang="en-US" sz="1500" dirty="0"/>
          </a:p>
        </p:txBody>
      </p:sp>
      <p:sp>
        <p:nvSpPr>
          <p:cNvPr id="12" name="Step 3 badge"/>
          <p:cNvSpPr/>
          <p:nvPr/>
        </p:nvSpPr>
        <p:spPr>
          <a:xfrm>
            <a:off x="548640" y="3794760"/>
            <a:ext cx="548640" cy="548640"/>
          </a:xfrm>
          <a:prstGeom prst="ellipse">
            <a:avLst/>
          </a:prstGeom>
          <a:solidFill>
            <a:schemeClr val="accent1"/>
          </a:solidFill>
          <a:ln/>
        </p:spPr>
      </p:sp>
      <p:sp>
        <p:nvSpPr>
          <p:cNvPr id="13" name="Step 3 number"/>
          <p:cNvSpPr txBox="1"/>
          <p:nvPr/>
        </p:nvSpPr>
        <p:spPr>
          <a:xfrm>
            <a:off x="548640" y="3794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Step 3 text"/>
          <p:cNvSpPr txBox="1"/>
          <p:nvPr/>
        </p:nvSpPr>
        <p:spPr>
          <a:xfrm>
            <a:off x="1280160" y="3749040"/>
            <a:ext cx="5048412" cy="10058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Asc + desc</a:t>
            </a:r>
            <a:endParaRPr lang="en-US" sz="1500" dirty="0"/>
          </a:p>
          <a:p>
            <a:pPr indent="0" marL="0">
              <a:spcAft>
                <a:spcPts val="400"/>
              </a:spcAft>
              <a:buNone/>
            </a:pPr>
            <a:r>
              <a:rPr lang="en-US" sz="1500" dirty="0">
                <a:solidFill>
                  <a:schemeClr val="tx1"/>
                </a:solidFill>
              </a:rPr>
              <a:t>two viewing directions solve for east–west and vertical motion</a:t>
            </a:r>
            <a:endParaRPr lang="en-US" sz="1500" dirty="0"/>
          </a:p>
        </p:txBody>
      </p:sp>
      <p:sp>
        <p:nvSpPr>
          <p:cNvPr id="15" name="Precision card"/>
          <p:cNvSpPr/>
          <p:nvPr/>
        </p:nvSpPr>
        <p:spPr>
          <a:xfrm>
            <a:off x="548640" y="5074920"/>
            <a:ext cx="5779932" cy="1143000"/>
          </a:xfrm>
          <a:prstGeom prst="roundRect">
            <a:avLst>
              <a:gd name="adj" fmla="val 9600"/>
            </a:avLst>
          </a:prstGeom>
          <a:solidFill>
            <a:schemeClr val="bg2"/>
          </a:solidFill>
          <a:ln/>
        </p:spPr>
      </p:sp>
      <p:sp>
        <p:nvSpPr>
          <p:cNvPr id="16" name="Precision text"/>
          <p:cNvSpPr txBox="1"/>
          <p:nvPr/>
        </p:nvSpPr>
        <p:spPr>
          <a:xfrm>
            <a:off x="777240" y="5120640"/>
            <a:ext cx="5322732" cy="1051560"/>
          </a:xfrm>
          <a:prstGeom prst="rect">
            <a:avLst/>
          </a:prstGeom>
          <a:noFill/>
          <a:ln/>
        </p:spPr>
        <p:txBody>
          <a:bodyPr wrap="square" lIns="0" tIns="0" rIns="0" bIns="0" rtlCol="0" anchor="ctr"/>
          <a:lstStyle/>
          <a:p>
            <a:pPr indent="0" marL="0">
              <a:buNone/>
            </a:pPr>
            <a:r>
              <a:rPr lang="en-US" sz="1400" b="1" dirty="0">
                <a:solidFill>
                  <a:schemeClr val="tx1"/>
                </a:solidFill>
              </a:rPr>
              <a:t>One fringe = 2.8 cm. </a:t>
            </a:r>
            <a:pPr indent="0" marL="0">
              <a:buNone/>
            </a:pPr>
            <a:r>
              <a:rPr lang="en-US" sz="1400" dirty="0">
                <a:solidFill>
                  <a:schemeClr val="tx1"/>
                </a:solidFill>
              </a:rPr>
              <a:t>Precision from a land control: ±1.6 cm (2018–19), ±0.7 cm (2020–21).</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Validated to within 2 cm</a:t>
            </a:r>
            <a:endParaRPr lang="en-US" sz="3400" dirty="0"/>
          </a:p>
        </p:txBody>
      </p:sp>
      <p:sp>
        <p:nvSpPr>
          <p:cNvPr id="3" name="Agreement card"/>
          <p:cNvSpPr/>
          <p:nvPr/>
        </p:nvSpPr>
        <p:spPr>
          <a:xfrm>
            <a:off x="548640" y="1371600"/>
            <a:ext cx="3566160" cy="2194560"/>
          </a:xfrm>
          <a:prstGeom prst="roundRect">
            <a:avLst>
              <a:gd name="adj" fmla="val 5000"/>
            </a:avLst>
          </a:prstGeom>
          <a:solidFill>
            <a:schemeClr val="bg2"/>
          </a:solidFill>
          <a:ln/>
        </p:spPr>
      </p:sp>
      <p:sp>
        <p:nvSpPr>
          <p:cNvPr id="4" name="Agreement value"/>
          <p:cNvSpPr txBox="1"/>
          <p:nvPr/>
        </p:nvSpPr>
        <p:spPr>
          <a:xfrm>
            <a:off x="777240" y="1915668"/>
            <a:ext cx="3108960" cy="594360"/>
          </a:xfrm>
          <a:prstGeom prst="rect">
            <a:avLst/>
          </a:prstGeom>
          <a:noFill/>
          <a:ln/>
        </p:spPr>
        <p:txBody>
          <a:bodyPr wrap="square" lIns="0" tIns="0" rIns="0" bIns="0" rtlCol="0" anchor="b"/>
          <a:lstStyle/>
          <a:p>
            <a:pPr indent="0" marL="0">
              <a:buNone/>
            </a:pPr>
            <a:r>
              <a:rPr lang="en-US" sz="3600" b="1" dirty="0">
                <a:solidFill>
                  <a:schemeClr val="accent5"/>
                </a:solidFill>
                <a:latin typeface="Georgia" pitchFamily="34" charset="0"/>
                <a:ea typeface="Georgia" pitchFamily="34" charset="-122"/>
                <a:cs typeface="Georgia" pitchFamily="34" charset="-120"/>
              </a:rPr>
              <a:t>≤ 2 cm</a:t>
            </a:r>
            <a:endParaRPr lang="en-US" sz="3600" dirty="0"/>
          </a:p>
        </p:txBody>
      </p:sp>
      <p:sp>
        <p:nvSpPr>
          <p:cNvPr id="5" name="Agreement label"/>
          <p:cNvSpPr txBox="1"/>
          <p:nvPr/>
        </p:nvSpPr>
        <p:spPr>
          <a:xfrm>
            <a:off x="777240" y="2546604"/>
            <a:ext cx="3108960" cy="512064"/>
          </a:xfrm>
          <a:prstGeom prst="rect">
            <a:avLst/>
          </a:prstGeom>
          <a:noFill/>
          <a:ln/>
        </p:spPr>
        <p:txBody>
          <a:bodyPr wrap="square" lIns="0" tIns="0" rIns="0" bIns="0" rtlCol="0" anchor="t"/>
          <a:lstStyle/>
          <a:p>
            <a:pPr indent="0" marL="0">
              <a:buNone/>
            </a:pPr>
            <a:r>
              <a:rPr lang="en-US" sz="1400" dirty="0">
                <a:solidFill>
                  <a:schemeClr val="tx1"/>
                </a:solidFill>
              </a:rPr>
              <a:t>agreement with Chen et al. (2021) where directly comparable</a:t>
            </a:r>
            <a:endParaRPr lang="en-US" sz="1400" dirty="0"/>
          </a:p>
        </p:txBody>
      </p:sp>
      <p:sp>
        <p:nvSpPr>
          <p:cNvPr id="6" name="Precision card"/>
          <p:cNvSpPr/>
          <p:nvPr/>
        </p:nvSpPr>
        <p:spPr>
          <a:xfrm>
            <a:off x="548640" y="3840480"/>
            <a:ext cx="3566160" cy="2194560"/>
          </a:xfrm>
          <a:prstGeom prst="roundRect">
            <a:avLst>
              <a:gd name="adj" fmla="val 5000"/>
            </a:avLst>
          </a:prstGeom>
          <a:solidFill>
            <a:schemeClr val="bg2"/>
          </a:solidFill>
          <a:ln/>
        </p:spPr>
      </p:sp>
      <p:sp>
        <p:nvSpPr>
          <p:cNvPr id="7" name="Precision value"/>
          <p:cNvSpPr txBox="1"/>
          <p:nvPr/>
        </p:nvSpPr>
        <p:spPr>
          <a:xfrm>
            <a:off x="777240" y="4384548"/>
            <a:ext cx="3108960" cy="594360"/>
          </a:xfrm>
          <a:prstGeom prst="rect">
            <a:avLst/>
          </a:prstGeom>
          <a:noFill/>
          <a:ln/>
        </p:spPr>
        <p:txBody>
          <a:bodyPr wrap="square" lIns="0" tIns="0" rIns="0" bIns="0" rtlCol="0" anchor="b"/>
          <a:lstStyle/>
          <a:p>
            <a:pPr indent="0" marL="0">
              <a:buNone/>
            </a:pPr>
            <a:r>
              <a:rPr lang="en-US" sz="3600" b="1" dirty="0">
                <a:solidFill>
                  <a:schemeClr val="accent1"/>
                </a:solidFill>
                <a:latin typeface="Georgia" pitchFamily="34" charset="0"/>
                <a:ea typeface="Georgia" pitchFamily="34" charset="-122"/>
                <a:cs typeface="Georgia" pitchFamily="34" charset="-120"/>
              </a:rPr>
              <a:t>±0.7–1.6 cm</a:t>
            </a:r>
            <a:endParaRPr lang="en-US" sz="3600" dirty="0"/>
          </a:p>
        </p:txBody>
      </p:sp>
      <p:sp>
        <p:nvSpPr>
          <p:cNvPr id="8" name="Precision label"/>
          <p:cNvSpPr txBox="1"/>
          <p:nvPr/>
        </p:nvSpPr>
        <p:spPr>
          <a:xfrm>
            <a:off x="777240" y="5015484"/>
            <a:ext cx="3108960" cy="512064"/>
          </a:xfrm>
          <a:prstGeom prst="rect">
            <a:avLst/>
          </a:prstGeom>
          <a:noFill/>
          <a:ln/>
        </p:spPr>
        <p:txBody>
          <a:bodyPr wrap="square" lIns="0" tIns="0" rIns="0" bIns="0" rtlCol="0" anchor="t"/>
          <a:lstStyle/>
          <a:p>
            <a:pPr indent="0" marL="0">
              <a:buNone/>
            </a:pPr>
            <a:r>
              <a:rPr lang="en-US" sz="1400" dirty="0">
                <a:solidFill>
                  <a:schemeClr val="tx1"/>
                </a:solidFill>
              </a:rPr>
              <a:t>precision from an independent land control point (P5)</a:t>
            </a:r>
            <a:endParaRPr lang="en-US" sz="1400" dirty="0"/>
          </a:p>
        </p:txBody>
      </p:sp>
      <p:graphicFrame>
        <p:nvGraphicFramePr>
          <p:cNvPr id="6" name="Validation table"/>
          <p:cNvGraphicFramePr>
            <a:graphicFrameLocks noGrp="1"/>
          </p:cNvGraphicFramePr>
          <p:nvPr>
            <p:extLst>
              <p:ext uri="{D42A27DB-BD31-4B8C-83A1-F6EECF244321}">
                <p14:modId xmlns:p14="http://schemas.microsoft.com/office/powerpoint/2010/main" val="1579011935"/>
              </p:ext>
            </p:extLst>
          </p:nvPr>
        </p:nvGraphicFramePr>
        <p:xfrm>
          <a:off x="4572000" y="1371600"/>
          <a:ext cx="7040880" cy="914400"/>
        </p:xfrm>
        <a:graphic>
          <a:graphicData uri="http://schemas.openxmlformats.org/drawingml/2006/table">
            <a:tbl>
              <a:tblPr/>
              <a:tblGrid>
                <a:gridCol w="1280160"/>
                <a:gridCol w="1828800"/>
                <a:gridCol w="2103120"/>
                <a:gridCol w="1828800"/>
              </a:tblGrid>
              <a:tr h="0">
                <a:tc>
                  <a:txBody>
                    <a:bodyPr/>
                    <a:lstStyle/>
                    <a:p>
                      <a:pPr indent="0" marL="0">
                        <a:buNone/>
                      </a:pPr>
                      <a:r>
                        <a:rPr lang="en-US" sz="1500" b="1" dirty="0">
                          <a:solidFill>
                            <a:schemeClr val="bg1"/>
                          </a:solidFill>
                        </a:rPr>
                        <a:t>Point</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This study</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Chen et al. 2021</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c>
                  <a:txBody>
                    <a:bodyPr/>
                    <a:lstStyle/>
                    <a:p>
                      <a:pPr indent="0" marL="0">
                        <a:buNone/>
                      </a:pPr>
                      <a:r>
                        <a:rPr lang="en-US" sz="1500" b="1" dirty="0">
                          <a:solidFill>
                            <a:schemeClr val="bg1"/>
                          </a:solidFill>
                        </a:rPr>
                        <a:t>Difference</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accent1"/>
                    </a:solidFill>
                  </a:tcPr>
                </a:tc>
              </a:tr>
              <a:tr h="0">
                <a:tc>
                  <a:txBody>
                    <a:bodyPr/>
                    <a:lstStyle/>
                    <a:p>
                      <a:pPr indent="0" marL="0">
                        <a:buNone/>
                      </a:pPr>
                      <a:r>
                        <a:rPr lang="en-US" sz="1500" b="1" dirty="0">
                          <a:solidFill>
                            <a:schemeClr val="tx1"/>
                          </a:solidFill>
                        </a:rPr>
                        <a:t>P3</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+14.8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+16.7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1.9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r h="0">
                <a:tc>
                  <a:txBody>
                    <a:bodyPr/>
                    <a:lstStyle/>
                    <a:p>
                      <a:pPr indent="0" marL="0">
                        <a:buNone/>
                      </a:pPr>
                      <a:r>
                        <a:rPr lang="en-US" sz="1500" b="1" dirty="0">
                          <a:solidFill>
                            <a:schemeClr val="tx1"/>
                          </a:solidFill>
                        </a:rPr>
                        <a:t>P4</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−5.6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−5.4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0.2 cm</a:t>
                      </a:r>
                      <a:endParaRPr lang="en-US" sz="1500" dirty="0"/>
                    </a:p>
                  </a:txBody>
                  <a:tcPr marL="91440" marR="91440" marT="91440" marB="91440">
                    <a:lnL w="9525" cap="flat" cmpd="sng" algn="ctr">
                      <a:solidFill>
                        <a:srgbClr val="D5DEE7"/>
                      </a:solidFill>
                      <a:prstDash val="solid"/>
                      <a:round/>
                      <a:headEnd type="none" w="med" len="med"/>
                      <a:tailEnd type="none" w="med" len="med"/>
                    </a:lnL>
                    <a:lnR w="9525" cap="flat" cmpd="sng" algn="ctr">
                      <a:solidFill>
                        <a:srgbClr val="D5DEE7"/>
                      </a:solidFill>
                      <a:prstDash val="solid"/>
                      <a:round/>
                      <a:headEnd type="none" w="med" len="med"/>
                      <a:tailEnd type="none" w="med" len="med"/>
                    </a:lnR>
                    <a:lnT w="9525" cap="flat" cmpd="sng" algn="ctr">
                      <a:solidFill>
                        <a:srgbClr val="D5DEE7"/>
                      </a:solidFill>
                      <a:prstDash val="solid"/>
                      <a:round/>
                      <a:headEnd type="none" w="med" len="med"/>
                      <a:tailEnd type="none" w="med" len="med"/>
                    </a:lnT>
                    <a:lnB w="9525" cap="flat" cmpd="sng" algn="ctr">
                      <a:solidFill>
                        <a:srgbClr val="D5DEE7"/>
                      </a:solidFill>
                      <a:prstDash val="solid"/>
                      <a:round/>
                      <a:headEnd type="none" w="med" len="med"/>
                      <a:tailEnd type="none" w="med" len="med"/>
                    </a:lnB>
                    <a:solidFill>
                      <a:schemeClr val="bg1"/>
                    </a:solidFill>
                  </a:tcPr>
                </a:tc>
              </a:tr>
            </a:tbl>
          </a:graphicData>
        </a:graphic>
      </p:graphicFrame>
      <p:sp>
        <p:nvSpPr>
          <p:cNvPr id="10" name="Validation notes"/>
          <p:cNvSpPr txBox="1"/>
          <p:nvPr/>
        </p:nvSpPr>
        <p:spPr>
          <a:xfrm>
            <a:off x="4572000" y="2788920"/>
            <a:ext cx="7040880" cy="3108960"/>
          </a:xfrm>
          <a:prstGeom prst="rect">
            <a:avLst/>
          </a:prstGeom>
          <a:noFill/>
          <a:ln/>
        </p:spPr>
        <p:txBody>
          <a:bodyPr wrap="square" lIns="0" tIns="0" rIns="0" bIns="0" rtlCol="0" anchor="t"/>
          <a:lstStyle/>
          <a:p>
            <a:pPr marL="177800" indent="-177800">
              <a:spcAft>
                <a:spcPts val="1000"/>
              </a:spcAft>
              <a:buSzPct val="100000"/>
              <a:buChar char="•"/>
            </a:pPr>
            <a:r>
              <a:rPr lang="en-US" sz="1600" b="1" dirty="0">
                <a:solidFill>
                  <a:schemeClr val="tx1"/>
                </a:solidFill>
              </a:rPr>
              <a:t>Same dates and window </a:t>
            </a:r>
            <a:pPr indent="0" marL="0">
              <a:spcAft>
                <a:spcPts val="1000"/>
              </a:spcAft>
              <a:buNone/>
            </a:pPr>
            <a:r>
              <a:rPr lang="en-US" sz="1600" dirty="0">
                <a:solidFill>
                  <a:schemeClr val="tx1"/>
                </a:solidFill>
              </a:rPr>
              <a:t>as the published study: descending, 17 February – 6 April 2019 (48 days).</a:t>
            </a:r>
            <a:endParaRPr lang="en-US" sz="1600" dirty="0"/>
          </a:p>
          <a:p>
            <a:pPr marL="177800" indent="-177800">
              <a:spcAft>
                <a:spcPts val="1000"/>
              </a:spcAft>
              <a:buSzPct val="100000"/>
              <a:buChar char="•"/>
            </a:pPr>
            <a:r>
              <a:rPr lang="en-US" sz="1600" b="1" dirty="0">
                <a:solidFill>
                  <a:schemeClr val="tx1"/>
                </a:solidFill>
              </a:rPr>
              <a:t>Within their own spread: </a:t>
            </a:r>
            <a:pPr indent="0" marL="0">
              <a:spcAft>
                <a:spcPts val="1000"/>
              </a:spcAft>
              <a:buNone/>
            </a:pPr>
            <a:r>
              <a:rPr lang="en-US" sz="1600" dirty="0">
                <a:solidFill>
                  <a:schemeClr val="tx1"/>
                </a:solidFill>
              </a:rPr>
              <a:t>Chen et al. report 2–44 cm differences between their sensors.</a:t>
            </a:r>
            <a:endParaRPr lang="en-US" sz="1600" dirty="0"/>
          </a:p>
          <a:p>
            <a:pPr marL="177800" indent="-177800">
              <a:spcAft>
                <a:spcPts val="1000"/>
              </a:spcAft>
              <a:buSzPct val="100000"/>
              <a:buChar char="•"/>
            </a:pPr>
            <a:r>
              <a:rPr lang="en-US" sz="1600" b="1" dirty="0">
                <a:solidFill>
                  <a:schemeClr val="tx1"/>
                </a:solidFill>
              </a:rPr>
              <a:t>Free processing: </a:t>
            </a:r>
            <a:pPr indent="0" marL="0">
              <a:spcAft>
                <a:spcPts val="1000"/>
              </a:spcAft>
              <a:buNone/>
            </a:pPr>
            <a:r>
              <a:rPr lang="en-US" sz="1600" dirty="0">
                <a:solidFill>
                  <a:schemeClr val="tx1"/>
                </a:solidFill>
              </a:rPr>
              <a:t>ASF HyP3 instead of licensed GAMMA; polynomial ramp removal instead of split-spectrum.</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Coherence dates the consolidation</a:t>
            </a:r>
            <a:endParaRPr lang="en-US" sz="3400" dirty="0"/>
          </a:p>
        </p:txBody>
      </p:sp>
      <p:graphicFrame>
        <p:nvGraphicFramePr>
          <p:cNvPr id="3" name="Coherent area chart" descr=""/>
          <p:cNvGraphicFramePr/>
          <p:nvPr/>
        </p:nvGraphicFramePr>
        <p:xfrm>
          <a:off x="548640" y="132588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4" name="50 percent threshold"/>
          <p:cNvSpPr/>
          <p:nvPr/>
        </p:nvSpPr>
        <p:spPr>
          <a:xfrm>
            <a:off x="1298448" y="3652114"/>
            <a:ext cx="6448349" cy="0"/>
          </a:xfrm>
          <a:prstGeom prst="line">
            <a:avLst/>
          </a:prstGeom>
          <a:noFill/>
          <a:ln w="19050">
            <a:solidFill>
              <a:srgbClr val="5C6B7A"/>
            </a:solidFill>
            <a:prstDash val="dash"/>
          </a:ln>
        </p:spPr>
      </p:sp>
      <p:sp>
        <p:nvSpPr>
          <p:cNvPr id="5" name="Threshold label"/>
          <p:cNvSpPr txBox="1"/>
          <p:nvPr/>
        </p:nvSpPr>
        <p:spPr>
          <a:xfrm>
            <a:off x="5735117" y="3322930"/>
            <a:ext cx="2011680" cy="274320"/>
          </a:xfrm>
          <a:prstGeom prst="rect">
            <a:avLst/>
          </a:prstGeom>
          <a:noFill/>
          <a:ln/>
        </p:spPr>
        <p:txBody>
          <a:bodyPr wrap="square" lIns="0" tIns="0" rIns="0" bIns="0" rtlCol="0" anchor="ctr"/>
          <a:lstStyle/>
          <a:p>
            <a:pPr algn="r" indent="0" marL="0">
              <a:buNone/>
            </a:pPr>
            <a:r>
              <a:rPr lang="en-US" sz="1100" dirty="0">
                <a:solidFill>
                  <a:schemeClr val="accent4"/>
                </a:solidFill>
              </a:rPr>
              <a:t>50% onset threshold</a:t>
            </a:r>
            <a:endParaRPr lang="en-US" sz="1100" dirty="0"/>
          </a:p>
        </p:txBody>
      </p:sp>
      <p:sp>
        <p:nvSpPr>
          <p:cNvPr id="6" name="Onset 2019 card"/>
          <p:cNvSpPr/>
          <p:nvPr/>
        </p:nvSpPr>
        <p:spPr>
          <a:xfrm>
            <a:off x="8366760" y="1325880"/>
            <a:ext cx="3246120" cy="1508760"/>
          </a:xfrm>
          <a:prstGeom prst="roundRect">
            <a:avLst>
              <a:gd name="adj" fmla="val 7273"/>
            </a:avLst>
          </a:prstGeom>
          <a:solidFill>
            <a:schemeClr val="bg2"/>
          </a:solidFill>
          <a:ln/>
        </p:spPr>
      </p:sp>
      <p:sp>
        <p:nvSpPr>
          <p:cNvPr id="7" name="Onset 2019 value"/>
          <p:cNvSpPr txBox="1"/>
          <p:nvPr/>
        </p:nvSpPr>
        <p:spPr>
          <a:xfrm>
            <a:off x="8595360" y="1593088"/>
            <a:ext cx="2788920" cy="462280"/>
          </a:xfrm>
          <a:prstGeom prst="rect">
            <a:avLst/>
          </a:prstGeom>
          <a:noFill/>
          <a:ln/>
        </p:spPr>
        <p:txBody>
          <a:bodyPr wrap="square" lIns="0" tIns="0" rIns="0" bIns="0" rtlCol="0" anchor="b"/>
          <a:lstStyle/>
          <a:p>
            <a:pPr indent="0" marL="0">
              <a:buNone/>
            </a:pPr>
            <a:r>
              <a:rPr lang="en-US" sz="2800" b="1" dirty="0">
                <a:solidFill>
                  <a:schemeClr val="accent1"/>
                </a:solidFill>
                <a:latin typeface="Georgia" pitchFamily="34" charset="0"/>
                <a:ea typeface="Georgia" pitchFamily="34" charset="-122"/>
                <a:cs typeface="Georgia" pitchFamily="34" charset="-120"/>
              </a:rPr>
              <a:t>30 Jan 2019</a:t>
            </a:r>
            <a:endParaRPr lang="en-US" sz="2800" dirty="0"/>
          </a:p>
        </p:txBody>
      </p:sp>
      <p:sp>
        <p:nvSpPr>
          <p:cNvPr id="8" name="Onset 2019 label"/>
          <p:cNvSpPr txBox="1"/>
          <p:nvPr/>
        </p:nvSpPr>
        <p:spPr>
          <a:xfrm>
            <a:off x="8595360" y="2091944"/>
            <a:ext cx="2788920" cy="512064"/>
          </a:xfrm>
          <a:prstGeom prst="rect">
            <a:avLst/>
          </a:prstGeom>
          <a:noFill/>
          <a:ln/>
        </p:spPr>
        <p:txBody>
          <a:bodyPr wrap="square" lIns="0" tIns="0" rIns="0" bIns="0" rtlCol="0" anchor="t"/>
          <a:lstStyle/>
          <a:p>
            <a:pPr indent="0" marL="0">
              <a:buNone/>
            </a:pPr>
            <a:r>
              <a:rPr lang="en-US" sz="1400" dirty="0">
                <a:solidFill>
                  <a:schemeClr val="tx1"/>
                </a:solidFill>
              </a:rPr>
              <a:t>consolidated once; coherent to early April</a:t>
            </a:r>
            <a:endParaRPr lang="en-US" sz="1400" dirty="0"/>
          </a:p>
        </p:txBody>
      </p:sp>
      <p:sp>
        <p:nvSpPr>
          <p:cNvPr id="9" name="Onset 2021 card"/>
          <p:cNvSpPr/>
          <p:nvPr/>
        </p:nvSpPr>
        <p:spPr>
          <a:xfrm>
            <a:off x="8366760" y="3017520"/>
            <a:ext cx="3246120" cy="1508760"/>
          </a:xfrm>
          <a:prstGeom prst="roundRect">
            <a:avLst>
              <a:gd name="adj" fmla="val 7273"/>
            </a:avLst>
          </a:prstGeom>
          <a:solidFill>
            <a:schemeClr val="bg2"/>
          </a:solidFill>
          <a:ln/>
        </p:spPr>
      </p:sp>
      <p:sp>
        <p:nvSpPr>
          <p:cNvPr id="10" name="Onset 2021 value"/>
          <p:cNvSpPr txBox="1"/>
          <p:nvPr/>
        </p:nvSpPr>
        <p:spPr>
          <a:xfrm>
            <a:off x="8595360" y="3284728"/>
            <a:ext cx="2788920" cy="462280"/>
          </a:xfrm>
          <a:prstGeom prst="rect">
            <a:avLst/>
          </a:prstGeom>
          <a:noFill/>
          <a:ln/>
        </p:spPr>
        <p:txBody>
          <a:bodyPr wrap="square" lIns="0" tIns="0" rIns="0" bIns="0" rtlCol="0" anchor="b"/>
          <a:lstStyle/>
          <a:p>
            <a:pPr indent="0" marL="0">
              <a:buNone/>
            </a:pPr>
            <a:r>
              <a:rPr lang="en-US" sz="2800" b="1" dirty="0">
                <a:solidFill>
                  <a:schemeClr val="accent2"/>
                </a:solidFill>
                <a:latin typeface="Georgia" pitchFamily="34" charset="0"/>
                <a:ea typeface="Georgia" pitchFamily="34" charset="-122"/>
                <a:cs typeface="Georgia" pitchFamily="34" charset="-120"/>
              </a:rPr>
              <a:t>20 Mar 2021</a:t>
            </a:r>
            <a:endParaRPr lang="en-US" sz="2800" dirty="0"/>
          </a:p>
        </p:txBody>
      </p:sp>
      <p:sp>
        <p:nvSpPr>
          <p:cNvPr id="11" name="Onset 2021 label"/>
          <p:cNvSpPr txBox="1"/>
          <p:nvPr/>
        </p:nvSpPr>
        <p:spPr>
          <a:xfrm>
            <a:off x="8595360" y="3783584"/>
            <a:ext cx="2788920" cy="512064"/>
          </a:xfrm>
          <a:prstGeom prst="rect">
            <a:avLst/>
          </a:prstGeom>
          <a:noFill/>
          <a:ln/>
        </p:spPr>
        <p:txBody>
          <a:bodyPr wrap="square" lIns="0" tIns="0" rIns="0" bIns="0" rtlCol="0" anchor="t"/>
          <a:lstStyle/>
          <a:p>
            <a:pPr indent="0" marL="0">
              <a:buNone/>
            </a:pPr>
            <a:r>
              <a:rPr lang="en-US" sz="1400" dirty="0">
                <a:solidFill>
                  <a:schemeClr val="tx1"/>
                </a:solidFill>
              </a:rPr>
              <a:t>49 days later, after a failed first attempt</a:t>
            </a:r>
            <a:endParaRPr lang="en-US" sz="1400" dirty="0"/>
          </a:p>
        </p:txBody>
      </p:sp>
      <p:sp>
        <p:nvSpPr>
          <p:cNvPr id="12" name="Onset note"/>
          <p:cNvSpPr txBox="1"/>
          <p:nvPr/>
        </p:nvSpPr>
        <p:spPr>
          <a:xfrm>
            <a:off x="8366760" y="4709160"/>
            <a:ext cx="3246120" cy="1463040"/>
          </a:xfrm>
          <a:prstGeom prst="rect">
            <a:avLst/>
          </a:prstGeom>
          <a:noFill/>
          <a:ln/>
        </p:spPr>
        <p:txBody>
          <a:bodyPr wrap="square" lIns="0" tIns="0" rIns="0" bIns="0" rtlCol="0" anchor="t"/>
          <a:lstStyle/>
          <a:p>
            <a:pPr indent="0" marL="0">
              <a:buNone/>
            </a:pPr>
            <a:r>
              <a:rPr lang="en-US" sz="1300" b="1" dirty="0">
                <a:solidFill>
                  <a:schemeClr val="tx1"/>
                </a:solidFill>
              </a:rPr>
              <a:t>2020–21: </a:t>
            </a:r>
            <a:pPr indent="0" marL="0">
              <a:buNone/>
            </a:pPr>
            <a:r>
              <a:rPr lang="en-US" sz="1300" dirty="0">
                <a:solidFill>
                  <a:schemeClr val="tx1"/>
                </a:solidFill>
              </a:rPr>
              <a:t>55% in late February, 16% in early March, 95% by mid-March; decay to 55% by late April. The late-December value is a single pair, not sustained.</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The late winter was more mobile</a:t>
            </a:r>
            <a:endParaRPr lang="en-US" sz="3400" dirty="0"/>
          </a:p>
        </p:txBody>
      </p:sp>
      <p:sp>
        <p:nvSpPr>
          <p:cNvPr id="3" name="Cross-winter figure frame"/>
          <p:cNvSpPr/>
          <p:nvPr/>
        </p:nvSpPr>
        <p:spPr>
          <a:xfrm>
            <a:off x="548640" y="1325880"/>
            <a:ext cx="7589520" cy="3779044"/>
          </a:xfrm>
          <a:prstGeom prst="roundRect">
            <a:avLst>
              <a:gd name="adj" fmla="val 2904"/>
            </a:avLst>
          </a:prstGeom>
          <a:solidFill>
            <a:schemeClr val="bg2"/>
          </a:solidFill>
          <a:ln/>
        </p:spPr>
      </p:sp>
      <p:pic>
        <p:nvPicPr>
          <p:cNvPr id="4" name="Cross-winter figure" descr="/Users/bhakthadarshan/Documents/DUK/Confernce/figures/fig_talk_cross_winter.png">    </p:cNvPr>
          <p:cNvPicPr>
            <a:picLocks noChangeAspect="1"/>
          </p:cNvPicPr>
          <p:nvPr/>
        </p:nvPicPr>
        <p:blipFill>
          <a:blip r:embed="rId1"/>
          <a:stretch>
            <a:fillRect/>
          </a:stretch>
        </p:blipFill>
        <p:spPr>
          <a:xfrm>
            <a:off x="685800" y="1463040"/>
            <a:ext cx="7315200" cy="3093244"/>
          </a:xfrm>
          <a:prstGeom prst="rect">
            <a:avLst/>
          </a:prstGeom>
        </p:spPr>
      </p:pic>
      <p:sp>
        <p:nvSpPr>
          <p:cNvPr id="5" name="Cross-winter figure caption"/>
          <p:cNvSpPr txBox="1"/>
          <p:nvPr/>
        </p:nvSpPr>
        <p:spPr>
          <a:xfrm>
            <a:off x="731520" y="4647724"/>
            <a:ext cx="7223760" cy="365760"/>
          </a:xfrm>
          <a:prstGeom prst="rect">
            <a:avLst/>
          </a:prstGeom>
          <a:noFill/>
          <a:ln/>
        </p:spPr>
        <p:txBody>
          <a:bodyPr wrap="square" lIns="0" tIns="0" rIns="0" bIns="0" rtlCol="0" anchor="ctr"/>
          <a:lstStyle/>
          <a:p>
            <a:pPr indent="0" marL="0">
              <a:buNone/>
            </a:pPr>
            <a:r>
              <a:rPr lang="en-US" sz="1100" i="1" dirty="0">
                <a:solidFill>
                  <a:schemeClr val="accent4"/>
                </a:solidFill>
              </a:rPr>
              <a:t>Onset (left) and horizontal deformation in both winters (right)</a:t>
            </a:r>
            <a:endParaRPr lang="en-US" sz="1100" dirty="0"/>
          </a:p>
        </p:txBody>
      </p:sp>
      <p:sp>
        <p:nvSpPr>
          <p:cNvPr id="6" name="Range 1 card"/>
          <p:cNvSpPr/>
          <p:nvPr/>
        </p:nvSpPr>
        <p:spPr>
          <a:xfrm>
            <a:off x="548640" y="5287804"/>
            <a:ext cx="3703320" cy="884396"/>
          </a:xfrm>
          <a:prstGeom prst="roundRect">
            <a:avLst>
              <a:gd name="adj" fmla="val 12407"/>
            </a:avLst>
          </a:prstGeom>
          <a:solidFill>
            <a:schemeClr val="bg2"/>
          </a:solidFill>
          <a:ln/>
        </p:spPr>
      </p:sp>
      <p:sp>
        <p:nvSpPr>
          <p:cNvPr id="7" name="Range 1 text"/>
          <p:cNvSpPr txBox="1"/>
          <p:nvPr/>
        </p:nvSpPr>
        <p:spPr>
          <a:xfrm>
            <a:off x="777240" y="5287804"/>
            <a:ext cx="3246120" cy="884396"/>
          </a:xfrm>
          <a:prstGeom prst="rect">
            <a:avLst/>
          </a:prstGeom>
          <a:noFill/>
          <a:ln/>
        </p:spPr>
        <p:txBody>
          <a:bodyPr wrap="square" lIns="0" tIns="0" rIns="0" bIns="0" rtlCol="0" anchor="ctr"/>
          <a:lstStyle/>
          <a:p>
            <a:pPr indent="0" marL="0">
              <a:buNone/>
            </a:pPr>
            <a:r>
              <a:rPr lang="en-US" sz="1300" b="1" dirty="0">
                <a:solidFill>
                  <a:schemeClr val="accent1"/>
                </a:solidFill>
              </a:rPr>
              <a:t>2018–19 (24 days)</a:t>
            </a:r>
            <a:endParaRPr lang="en-US" sz="1300" dirty="0"/>
          </a:p>
          <a:p>
            <a:pPr indent="0" marL="0">
              <a:buNone/>
            </a:pPr>
            <a:r>
              <a:rPr lang="en-US" sz="1300" dirty="0">
                <a:solidFill>
                  <a:schemeClr val="tx1"/>
                </a:solidFill>
              </a:rPr>
              <a:t>horizontal −55 to +51 cm</a:t>
            </a:r>
            <a:endParaRPr lang="en-US" sz="1300" dirty="0"/>
          </a:p>
          <a:p>
            <a:pPr indent="0" marL="0">
              <a:buNone/>
            </a:pPr>
            <a:r>
              <a:rPr lang="en-US" sz="1300" dirty="0">
                <a:solidFill>
                  <a:schemeClr val="tx1"/>
                </a:solidFill>
              </a:rPr>
              <a:t>vertical −11 to +21 cm</a:t>
            </a:r>
            <a:endParaRPr lang="en-US" sz="1300" dirty="0"/>
          </a:p>
        </p:txBody>
      </p:sp>
      <p:sp>
        <p:nvSpPr>
          <p:cNvPr id="8" name="Range 2 card"/>
          <p:cNvSpPr/>
          <p:nvPr/>
        </p:nvSpPr>
        <p:spPr>
          <a:xfrm>
            <a:off x="4434840" y="5287804"/>
            <a:ext cx="3703320" cy="884396"/>
          </a:xfrm>
          <a:prstGeom prst="roundRect">
            <a:avLst>
              <a:gd name="adj" fmla="val 12407"/>
            </a:avLst>
          </a:prstGeom>
          <a:solidFill>
            <a:schemeClr val="bg2"/>
          </a:solidFill>
          <a:ln/>
        </p:spPr>
      </p:sp>
      <p:sp>
        <p:nvSpPr>
          <p:cNvPr id="9" name="Range 2 text"/>
          <p:cNvSpPr txBox="1"/>
          <p:nvPr/>
        </p:nvSpPr>
        <p:spPr>
          <a:xfrm>
            <a:off x="4663440" y="5287804"/>
            <a:ext cx="3246120" cy="884396"/>
          </a:xfrm>
          <a:prstGeom prst="rect">
            <a:avLst/>
          </a:prstGeom>
          <a:noFill/>
          <a:ln/>
        </p:spPr>
        <p:txBody>
          <a:bodyPr wrap="square" lIns="0" tIns="0" rIns="0" bIns="0" rtlCol="0" anchor="ctr"/>
          <a:lstStyle/>
          <a:p>
            <a:pPr indent="0" marL="0">
              <a:buNone/>
            </a:pPr>
            <a:r>
              <a:rPr lang="en-US" sz="1300" b="1" dirty="0">
                <a:solidFill>
                  <a:schemeClr val="accent2"/>
                </a:solidFill>
              </a:rPr>
              <a:t>2020–21 (20 days)</a:t>
            </a:r>
            <a:endParaRPr lang="en-US" sz="1300" dirty="0"/>
          </a:p>
          <a:p>
            <a:pPr indent="0" marL="0">
              <a:buNone/>
            </a:pPr>
            <a:r>
              <a:rPr lang="en-US" sz="1300" dirty="0">
                <a:solidFill>
                  <a:schemeClr val="tx1"/>
                </a:solidFill>
              </a:rPr>
              <a:t>horizontal −60 to +45 cm</a:t>
            </a:r>
            <a:endParaRPr lang="en-US" sz="1300" dirty="0"/>
          </a:p>
          <a:p>
            <a:pPr indent="0" marL="0">
              <a:buNone/>
            </a:pPr>
            <a:r>
              <a:rPr lang="en-US" sz="1300" dirty="0">
                <a:solidFill>
                  <a:schemeClr val="tx1"/>
                </a:solidFill>
              </a:rPr>
              <a:t>vertical −16 to +29 cm</a:t>
            </a:r>
            <a:endParaRPr lang="en-US" sz="1300" dirty="0"/>
          </a:p>
        </p:txBody>
      </p:sp>
      <p:sp>
        <p:nvSpPr>
          <p:cNvPr id="10" name="Horizontal change card"/>
          <p:cNvSpPr/>
          <p:nvPr/>
        </p:nvSpPr>
        <p:spPr>
          <a:xfrm>
            <a:off x="8412480" y="1325880"/>
            <a:ext cx="3200400" cy="1508760"/>
          </a:xfrm>
          <a:prstGeom prst="roundRect">
            <a:avLst>
              <a:gd name="adj" fmla="val 7273"/>
            </a:avLst>
          </a:prstGeom>
          <a:solidFill>
            <a:schemeClr val="bg2"/>
          </a:solidFill>
          <a:ln/>
        </p:spPr>
      </p:sp>
      <p:sp>
        <p:nvSpPr>
          <p:cNvPr id="11" name="Horizontal change value"/>
          <p:cNvSpPr txBox="1"/>
          <p:nvPr/>
        </p:nvSpPr>
        <p:spPr>
          <a:xfrm>
            <a:off x="8641080" y="1527048"/>
            <a:ext cx="2743200" cy="594360"/>
          </a:xfrm>
          <a:prstGeom prst="rect">
            <a:avLst/>
          </a:prstGeom>
          <a:noFill/>
          <a:ln/>
        </p:spPr>
        <p:txBody>
          <a:bodyPr wrap="square" lIns="0" tIns="0" rIns="0" bIns="0" rtlCol="0" anchor="b"/>
          <a:lstStyle/>
          <a:p>
            <a:pPr indent="0" marL="0">
              <a:buNone/>
            </a:pPr>
            <a:r>
              <a:rPr lang="en-US" sz="3600" b="1" dirty="0">
                <a:solidFill>
                  <a:schemeClr val="accent2"/>
                </a:solidFill>
                <a:latin typeface="Georgia" pitchFamily="34" charset="0"/>
                <a:ea typeface="Georgia" pitchFamily="34" charset="-122"/>
                <a:cs typeface="Georgia" pitchFamily="34" charset="-120"/>
              </a:rPr>
              <a:t>×2.7</a:t>
            </a:r>
            <a:endParaRPr lang="en-US" sz="3600" dirty="0"/>
          </a:p>
        </p:txBody>
      </p:sp>
      <p:sp>
        <p:nvSpPr>
          <p:cNvPr id="12" name="Horizontal change label"/>
          <p:cNvSpPr txBox="1"/>
          <p:nvPr/>
        </p:nvSpPr>
        <p:spPr>
          <a:xfrm>
            <a:off x="8641080" y="2157984"/>
            <a:ext cx="2743200" cy="512064"/>
          </a:xfrm>
          <a:prstGeom prst="rect">
            <a:avLst/>
          </a:prstGeom>
          <a:noFill/>
          <a:ln/>
        </p:spPr>
        <p:txBody>
          <a:bodyPr wrap="square" lIns="0" tIns="0" rIns="0" bIns="0" rtlCol="0" anchor="t"/>
          <a:lstStyle/>
          <a:p>
            <a:pPr indent="0" marL="0">
              <a:buNone/>
            </a:pPr>
            <a:r>
              <a:rPr lang="en-US" sz="1400" dirty="0">
                <a:solidFill>
                  <a:schemeClr val="tx1"/>
                </a:solidFill>
              </a:rPr>
              <a:t>horizontal rate at P4: −0.43 → −1.18 cm/day</a:t>
            </a:r>
            <a:endParaRPr lang="en-US" sz="1400" dirty="0"/>
          </a:p>
        </p:txBody>
      </p:sp>
      <p:sp>
        <p:nvSpPr>
          <p:cNvPr id="13" name="Vertical change card"/>
          <p:cNvSpPr/>
          <p:nvPr/>
        </p:nvSpPr>
        <p:spPr>
          <a:xfrm>
            <a:off x="8412480" y="3017520"/>
            <a:ext cx="3200400" cy="1508760"/>
          </a:xfrm>
          <a:prstGeom prst="roundRect">
            <a:avLst>
              <a:gd name="adj" fmla="val 7273"/>
            </a:avLst>
          </a:prstGeom>
          <a:solidFill>
            <a:schemeClr val="bg2"/>
          </a:solidFill>
          <a:ln/>
        </p:spPr>
      </p:sp>
      <p:sp>
        <p:nvSpPr>
          <p:cNvPr id="14" name="Vertical change value"/>
          <p:cNvSpPr txBox="1"/>
          <p:nvPr/>
        </p:nvSpPr>
        <p:spPr>
          <a:xfrm>
            <a:off x="8641080" y="3218688"/>
            <a:ext cx="2743200" cy="594360"/>
          </a:xfrm>
          <a:prstGeom prst="rect">
            <a:avLst/>
          </a:prstGeom>
          <a:noFill/>
          <a:ln/>
        </p:spPr>
        <p:txBody>
          <a:bodyPr wrap="square" lIns="0" tIns="0" rIns="0" bIns="0" rtlCol="0" anchor="b"/>
          <a:lstStyle/>
          <a:p>
            <a:pPr indent="0" marL="0">
              <a:buNone/>
            </a:pPr>
            <a:r>
              <a:rPr lang="en-US" sz="3600" b="1" dirty="0">
                <a:solidFill>
                  <a:schemeClr val="accent6"/>
                </a:solidFill>
                <a:latin typeface="Georgia" pitchFamily="34" charset="0"/>
                <a:ea typeface="Georgia" pitchFamily="34" charset="-122"/>
                <a:cs typeface="Georgia" pitchFamily="34" charset="-120"/>
              </a:rPr>
              <a:t>Sign flip</a:t>
            </a:r>
            <a:endParaRPr lang="en-US" sz="3600" dirty="0"/>
          </a:p>
        </p:txBody>
      </p:sp>
      <p:sp>
        <p:nvSpPr>
          <p:cNvPr id="15" name="Vertical change label"/>
          <p:cNvSpPr txBox="1"/>
          <p:nvPr/>
        </p:nvSpPr>
        <p:spPr>
          <a:xfrm>
            <a:off x="8641080" y="3849624"/>
            <a:ext cx="2743200" cy="512064"/>
          </a:xfrm>
          <a:prstGeom prst="rect">
            <a:avLst/>
          </a:prstGeom>
          <a:noFill/>
          <a:ln/>
        </p:spPr>
        <p:txBody>
          <a:bodyPr wrap="square" lIns="0" tIns="0" rIns="0" bIns="0" rtlCol="0" anchor="t"/>
          <a:lstStyle/>
          <a:p>
            <a:pPr indent="0" marL="0">
              <a:buNone/>
            </a:pPr>
            <a:r>
              <a:rPr lang="en-US" sz="1400" dirty="0">
                <a:solidFill>
                  <a:schemeClr val="tx1"/>
                </a:solidFill>
              </a:rPr>
              <a:t>vertical rate at P4: −0.18 → +1.42 cm/day</a:t>
            </a:r>
            <a:endParaRPr lang="en-US" sz="1400" dirty="0"/>
          </a:p>
        </p:txBody>
      </p:sp>
      <p:sp>
        <p:nvSpPr>
          <p:cNvPr id="16" name="Rates note"/>
          <p:cNvSpPr txBox="1"/>
          <p:nvPr/>
        </p:nvSpPr>
        <p:spPr>
          <a:xfrm>
            <a:off x="8412480" y="4709160"/>
            <a:ext cx="3200400" cy="1463040"/>
          </a:xfrm>
          <a:prstGeom prst="rect">
            <a:avLst/>
          </a:prstGeom>
          <a:noFill/>
          <a:ln/>
        </p:spPr>
        <p:txBody>
          <a:bodyPr wrap="square" lIns="0" tIns="0" rIns="0" bIns="0" rtlCol="0" anchor="t"/>
          <a:lstStyle/>
          <a:p>
            <a:pPr indent="0" marL="0">
              <a:buNone/>
            </a:pPr>
            <a:r>
              <a:rPr lang="en-US" sz="1300" dirty="0">
                <a:solidFill>
                  <a:schemeClr val="tx1"/>
                </a:solidFill>
              </a:rPr>
              <a:t>P4, 8.2 km offshore, is the outermost reliable point. Rates are compared because the windows differ (24 vs 20 days).</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Conclusions</a:t>
            </a:r>
            <a:endParaRPr lang="en-US" sz="3400" dirty="0"/>
          </a:p>
        </p:txBody>
      </p:sp>
      <p:sp>
        <p:nvSpPr>
          <p:cNvPr id="3" name="Conclusion 1 badge"/>
          <p:cNvSpPr/>
          <p:nvPr/>
        </p:nvSpPr>
        <p:spPr>
          <a:xfrm>
            <a:off x="548640" y="1463040"/>
            <a:ext cx="731520" cy="731520"/>
          </a:xfrm>
          <a:prstGeom prst="ellipse">
            <a:avLst/>
          </a:prstGeom>
          <a:solidFill>
            <a:schemeClr val="accent1"/>
          </a:solidFill>
          <a:ln/>
        </p:spPr>
      </p:sp>
      <p:sp>
        <p:nvSpPr>
          <p:cNvPr id="4" name="Conclusion 1 number"/>
          <p:cNvSpPr txBox="1"/>
          <p:nvPr/>
        </p:nvSpPr>
        <p:spPr>
          <a:xfrm>
            <a:off x="548640" y="14630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Conclusion 1 text"/>
          <p:cNvSpPr txBox="1"/>
          <p:nvPr/>
        </p:nvSpPr>
        <p:spPr>
          <a:xfrm>
            <a:off x="1554480" y="1371600"/>
            <a:ext cx="10058400" cy="960120"/>
          </a:xfrm>
          <a:prstGeom prst="rect">
            <a:avLst/>
          </a:prstGeom>
          <a:noFill/>
          <a:ln/>
        </p:spPr>
        <p:txBody>
          <a:bodyPr wrap="square" lIns="0" tIns="0" rIns="0" bIns="0" rtlCol="0" anchor="ctr"/>
          <a:lstStyle/>
          <a:p>
            <a:pPr indent="0" marL="0">
              <a:buNone/>
            </a:pPr>
            <a:r>
              <a:rPr lang="en-US" sz="1900" b="1" dirty="0">
                <a:solidFill>
                  <a:schemeClr val="tx2"/>
                </a:solidFill>
              </a:rPr>
              <a:t>Coherence dates consolidation </a:t>
            </a:r>
            <a:pPr indent="0" marL="0">
              <a:buNone/>
            </a:pPr>
            <a:r>
              <a:rPr lang="en-US" sz="1900" dirty="0">
                <a:solidFill>
                  <a:schemeClr val="tx1"/>
                </a:solidFill>
              </a:rPr>
              <a:t>and shows whether it succeeds, capturing a mid-winter break-up and refreeze invisible to deformation.</a:t>
            </a:r>
            <a:endParaRPr lang="en-US" sz="1900" dirty="0"/>
          </a:p>
        </p:txBody>
      </p:sp>
      <p:sp>
        <p:nvSpPr>
          <p:cNvPr id="6" name="Conclusion 2 badge"/>
          <p:cNvSpPr/>
          <p:nvPr/>
        </p:nvSpPr>
        <p:spPr>
          <a:xfrm>
            <a:off x="548640" y="2971800"/>
            <a:ext cx="731520" cy="731520"/>
          </a:xfrm>
          <a:prstGeom prst="ellipse">
            <a:avLst/>
          </a:prstGeom>
          <a:solidFill>
            <a:schemeClr val="accent1"/>
          </a:solidFill>
          <a:ln/>
        </p:spPr>
      </p:sp>
      <p:sp>
        <p:nvSpPr>
          <p:cNvPr id="7" name="Conclusion 2 number"/>
          <p:cNvSpPr txBox="1"/>
          <p:nvPr/>
        </p:nvSpPr>
        <p:spPr>
          <a:xfrm>
            <a:off x="548640" y="297180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8" name="Conclusion 2 text"/>
          <p:cNvSpPr txBox="1"/>
          <p:nvPr/>
        </p:nvSpPr>
        <p:spPr>
          <a:xfrm>
            <a:off x="1554480" y="2880360"/>
            <a:ext cx="10058400" cy="960120"/>
          </a:xfrm>
          <a:prstGeom prst="rect">
            <a:avLst/>
          </a:prstGeom>
          <a:noFill/>
          <a:ln/>
        </p:spPr>
        <p:txBody>
          <a:bodyPr wrap="square" lIns="0" tIns="0" rIns="0" bIns="0" rtlCol="0" anchor="ctr"/>
          <a:lstStyle/>
          <a:p>
            <a:pPr indent="0" marL="0">
              <a:buNone/>
            </a:pPr>
            <a:r>
              <a:rPr lang="en-US" sz="1900" b="1" dirty="0">
                <a:solidFill>
                  <a:schemeClr val="tx2"/>
                </a:solidFill>
              </a:rPr>
              <a:t>Free processing reproduces Chen et al. </a:t>
            </a:r>
            <a:pPr indent="0" marL="0">
              <a:buNone/>
            </a:pPr>
            <a:r>
              <a:rPr lang="en-US" sz="1900" dirty="0">
                <a:solidFill>
                  <a:schemeClr val="tx1"/>
                </a:solidFill>
              </a:rPr>
              <a:t>to within 2 cm, with 0.7–1.6 cm precision from a land control.</a:t>
            </a:r>
            <a:endParaRPr lang="en-US" sz="1900" dirty="0"/>
          </a:p>
        </p:txBody>
      </p:sp>
      <p:sp>
        <p:nvSpPr>
          <p:cNvPr id="9" name="Conclusion 3 badge"/>
          <p:cNvSpPr/>
          <p:nvPr/>
        </p:nvSpPr>
        <p:spPr>
          <a:xfrm>
            <a:off x="548640" y="4480560"/>
            <a:ext cx="731520" cy="731520"/>
          </a:xfrm>
          <a:prstGeom prst="ellipse">
            <a:avLst/>
          </a:prstGeom>
          <a:solidFill>
            <a:schemeClr val="accent1"/>
          </a:solidFill>
          <a:ln/>
        </p:spPr>
      </p:sp>
      <p:sp>
        <p:nvSpPr>
          <p:cNvPr id="10" name="Conclusion 3 number"/>
          <p:cNvSpPr txBox="1"/>
          <p:nvPr/>
        </p:nvSpPr>
        <p:spPr>
          <a:xfrm>
            <a:off x="548640" y="448056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1" name="Conclusion 3 text"/>
          <p:cNvSpPr txBox="1"/>
          <p:nvPr/>
        </p:nvSpPr>
        <p:spPr>
          <a:xfrm>
            <a:off x="1554480" y="4389120"/>
            <a:ext cx="10058400" cy="960120"/>
          </a:xfrm>
          <a:prstGeom prst="rect">
            <a:avLst/>
          </a:prstGeom>
          <a:noFill/>
          <a:ln/>
        </p:spPr>
        <p:txBody>
          <a:bodyPr wrap="square" lIns="0" tIns="0" rIns="0" bIns="0" rtlCol="0" anchor="ctr"/>
          <a:lstStyle/>
          <a:p>
            <a:pPr indent="0" marL="0">
              <a:buNone/>
            </a:pPr>
            <a:r>
              <a:rPr lang="en-US" sz="1900" b="1" dirty="0">
                <a:solidFill>
                  <a:schemeClr val="tx2"/>
                </a:solidFill>
              </a:rPr>
              <a:t>The late, intermittent winter was more mobile </a:t>
            </a:r>
            <a:pPr indent="0" marL="0">
              <a:buNone/>
            </a:pPr>
            <a:r>
              <a:rPr lang="en-US" sz="1900" dirty="0">
                <a:solidFill>
                  <a:schemeClr val="tx1"/>
                </a:solidFill>
              </a:rPr>
              <a:t>(×2.7 horizontal rate at P4); two winters cannot yet separate cause from coincidence.</a:t>
            </a:r>
            <a:endParaRPr lang="en-US" sz="1900" dirty="0"/>
          </a:p>
        </p:txBody>
      </p:sp>
      <p:sp>
        <p:nvSpPr>
          <p:cNvPr id="12" name="Caveat card"/>
          <p:cNvSpPr/>
          <p:nvPr/>
        </p:nvSpPr>
        <p:spPr>
          <a:xfrm>
            <a:off x="548640" y="5532120"/>
            <a:ext cx="11064240" cy="685800"/>
          </a:xfrm>
          <a:prstGeom prst="roundRect">
            <a:avLst>
              <a:gd name="adj" fmla="val 16000"/>
            </a:avLst>
          </a:prstGeom>
          <a:solidFill>
            <a:schemeClr val="bg2"/>
          </a:solidFill>
          <a:ln/>
        </p:spPr>
      </p:sp>
      <p:sp>
        <p:nvSpPr>
          <p:cNvPr id="13" name="Caveat text"/>
          <p:cNvSpPr txBox="1"/>
          <p:nvPr/>
        </p:nvSpPr>
        <p:spPr>
          <a:xfrm>
            <a:off x="822960" y="5532120"/>
            <a:ext cx="10515600" cy="685800"/>
          </a:xfrm>
          <a:prstGeom prst="rect">
            <a:avLst/>
          </a:prstGeom>
          <a:noFill/>
          <a:ln/>
        </p:spPr>
        <p:txBody>
          <a:bodyPr wrap="square" lIns="0" tIns="0" rIns="0" bIns="0" rtlCol="0" anchor="ctr"/>
          <a:lstStyle/>
          <a:p>
            <a:pPr indent="0" marL="0">
              <a:buNone/>
            </a:pPr>
            <a:r>
              <a:rPr lang="en-US" sz="1400" dirty="0">
                <a:solidFill>
                  <a:schemeClr val="tx1"/>
                </a:solidFill>
              </a:rPr>
              <a:t>Dates are late-biased (snow and ice-growth changes also cost coherence); longer records and ice-draft data are needed.</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1097280"/>
            <a:ext cx="6675120" cy="2651760"/>
          </a:xfrm>
          <a:prstGeom prst="rect">
            <a:avLst/>
          </a:prstGeom>
          <a:noFill/>
          <a:ln/>
        </p:spPr>
        <p:txBody>
          <a:bodyPr wrap="square" lIns="0" tIns="0" rIns="0" bIns="0" rtlCol="0" anchor="b"/>
          <a:lstStyle/>
          <a:p>
            <a:pPr algn="l" indent="0" marL="0">
              <a:buNone/>
            </a:pPr>
            <a:r>
              <a:rPr lang="en-US" sz="3600" b="1" dirty="0">
                <a:solidFill>
                  <a:schemeClr val="bg1"/>
                </a:solidFill>
              </a:rPr>
              <a:t>Thank you</a:t>
            </a:r>
            <a:endParaRPr lang="en-US" sz="3600" dirty="0"/>
          </a:p>
        </p:txBody>
      </p:sp>
      <p:sp>
        <p:nvSpPr>
          <p:cNvPr id="3" name="Text 0"/>
          <p:cNvSpPr/>
          <p:nvPr>
            <p:ph idx="101" type="body" hasCustomPrompt="1"/>
          </p:nvPr>
        </p:nvSpPr>
        <p:spPr>
          <a:xfrm>
            <a:off x="731520" y="3931920"/>
            <a:ext cx="6675120" cy="822960"/>
          </a:xfrm>
          <a:prstGeom prst="rect">
            <a:avLst/>
          </a:prstGeom>
          <a:noFill/>
          <a:ln/>
        </p:spPr>
        <p:txBody>
          <a:bodyPr wrap="square" lIns="0" tIns="0" rIns="0" bIns="0" rtlCol="0" anchor="t"/>
          <a:lstStyle/>
          <a:p>
            <a:pPr indent="0" marL="0">
              <a:buNone/>
            </a:pPr>
            <a:r>
              <a:rPr lang="en-US" sz="1800" dirty="0">
                <a:solidFill>
                  <a:schemeClr val="accent3"/>
                </a:solidFill>
              </a:rPr>
              <a:t>Questions and discussion welcome</a:t>
            </a:r>
            <a:endParaRPr lang="en-US" sz="1800" dirty="0"/>
          </a:p>
        </p:txBody>
      </p:sp>
      <p:sp>
        <p:nvSpPr>
          <p:cNvPr id="4" name="Text 0"/>
          <p:cNvSpPr/>
          <p:nvPr>
            <p:ph idx="102" type="body" hasCustomPrompt="1"/>
          </p:nvPr>
        </p:nvSpPr>
        <p:spPr>
          <a:xfrm>
            <a:off x="731520" y="4983480"/>
            <a:ext cx="6675120" cy="1280160"/>
          </a:xfrm>
          <a:prstGeom prst="rect">
            <a:avLst/>
          </a:prstGeom>
          <a:noFill/>
          <a:ln/>
        </p:spPr>
        <p:txBody>
          <a:bodyPr wrap="square" lIns="0" tIns="0" rIns="0" bIns="0" rtlCol="0" anchor="t"/>
          <a:lstStyle/>
          <a:p>
            <a:pPr indent="0" marL="0">
              <a:buNone/>
            </a:pPr>
            <a:r>
              <a:rPr lang="en-US" sz="1400" b="1" dirty="0">
                <a:solidFill>
                  <a:schemeClr val="bg1"/>
                </a:solidFill>
              </a:rPr>
              <a:t>Ananthanarayanan B</a:t>
            </a:r>
            <a:endParaRPr lang="en-US" sz="1400" dirty="0"/>
          </a:p>
          <a:p>
            <a:pPr indent="0" marL="0">
              <a:buNone/>
            </a:pPr>
            <a:r>
              <a:rPr lang="en-US" sz="1400" dirty="0">
                <a:solidFill>
                  <a:schemeClr val="bg1"/>
                </a:solidFill>
              </a:rPr>
              <a:t>ananthanarayanan.ds25@duk.ac.in</a:t>
            </a:r>
            <a:endParaRPr lang="en-US" sz="1400" dirty="0"/>
          </a:p>
          <a:p>
            <a:pPr indent="0" marL="0">
              <a:buNone/>
            </a:pPr>
            <a:r>
              <a:rPr lang="en-US" sz="1400" dirty="0">
                <a:solidFill>
                  <a:schemeClr val="bg1"/>
                </a:solidFill>
              </a:rPr>
              <a:t>Corresponding author: shamjid.p@duk.ac.in</a:t>
            </a:r>
            <a:endParaRPr lang="en-US" sz="1400" dirty="0"/>
          </a:p>
        </p:txBody>
      </p:sp>
      <p:sp>
        <p:nvSpPr>
          <p:cNvPr id="5" name="Headline 1 card"/>
          <p:cNvSpPr/>
          <p:nvPr/>
        </p:nvSpPr>
        <p:spPr>
          <a:xfrm>
            <a:off x="8001000" y="1188720"/>
            <a:ext cx="3566160" cy="1234440"/>
          </a:xfrm>
          <a:prstGeom prst="roundRect">
            <a:avLst>
              <a:gd name="adj" fmla="val 8889"/>
            </a:avLst>
          </a:prstGeom>
          <a:solidFill>
            <a:srgbClr val="13315C"/>
          </a:solidFill>
          <a:ln/>
        </p:spPr>
      </p:sp>
      <p:sp>
        <p:nvSpPr>
          <p:cNvPr id="6" name="Headline 1 value"/>
          <p:cNvSpPr txBox="1"/>
          <p:nvPr/>
        </p:nvSpPr>
        <p:spPr>
          <a:xfrm>
            <a:off x="8275320" y="1298448"/>
            <a:ext cx="3017520" cy="594360"/>
          </a:xfrm>
          <a:prstGeom prst="rect">
            <a:avLst/>
          </a:prstGeom>
          <a:noFill/>
          <a:ln/>
        </p:spPr>
        <p:txBody>
          <a:bodyPr wrap="square" lIns="0" tIns="0" rIns="0" bIns="0" rtlCol="0" anchor="b"/>
          <a:lstStyle/>
          <a:p>
            <a:pPr indent="0" marL="0">
              <a:buNone/>
            </a:pPr>
            <a:r>
              <a:rPr lang="en-US" sz="3000" b="1" dirty="0">
                <a:solidFill>
                  <a:schemeClr val="accent2"/>
                </a:solidFill>
                <a:latin typeface="Georgia" pitchFamily="34" charset="0"/>
                <a:ea typeface="Georgia" pitchFamily="34" charset="-122"/>
                <a:cs typeface="Georgia" pitchFamily="34" charset="-120"/>
              </a:rPr>
              <a:t>49 days</a:t>
            </a:r>
            <a:endParaRPr lang="en-US" sz="3000" dirty="0"/>
          </a:p>
        </p:txBody>
      </p:sp>
      <p:sp>
        <p:nvSpPr>
          <p:cNvPr id="7" name="Headline 1 label"/>
          <p:cNvSpPr txBox="1"/>
          <p:nvPr/>
        </p:nvSpPr>
        <p:spPr>
          <a:xfrm>
            <a:off x="8275320" y="1920240"/>
            <a:ext cx="3017520" cy="411480"/>
          </a:xfrm>
          <a:prstGeom prst="rect">
            <a:avLst/>
          </a:prstGeom>
          <a:noFill/>
          <a:ln/>
        </p:spPr>
        <p:txBody>
          <a:bodyPr wrap="square" lIns="0" tIns="0" rIns="0" bIns="0" rtlCol="0" anchor="t"/>
          <a:lstStyle/>
          <a:p>
            <a:pPr indent="0" marL="0">
              <a:buNone/>
            </a:pPr>
            <a:r>
              <a:rPr lang="en-US" sz="1300" dirty="0">
                <a:solidFill>
                  <a:schemeClr val="bg1"/>
                </a:solidFill>
              </a:rPr>
              <a:t>later consolidation, after a failed first attempt</a:t>
            </a:r>
            <a:endParaRPr lang="en-US" sz="1300" dirty="0"/>
          </a:p>
        </p:txBody>
      </p:sp>
      <p:sp>
        <p:nvSpPr>
          <p:cNvPr id="8" name="Headline 2 card"/>
          <p:cNvSpPr/>
          <p:nvPr/>
        </p:nvSpPr>
        <p:spPr>
          <a:xfrm>
            <a:off x="8001000" y="2606040"/>
            <a:ext cx="3566160" cy="1234440"/>
          </a:xfrm>
          <a:prstGeom prst="roundRect">
            <a:avLst>
              <a:gd name="adj" fmla="val 8889"/>
            </a:avLst>
          </a:prstGeom>
          <a:solidFill>
            <a:srgbClr val="13315C"/>
          </a:solidFill>
          <a:ln/>
        </p:spPr>
      </p:sp>
      <p:sp>
        <p:nvSpPr>
          <p:cNvPr id="9" name="Headline 2 value"/>
          <p:cNvSpPr txBox="1"/>
          <p:nvPr/>
        </p:nvSpPr>
        <p:spPr>
          <a:xfrm>
            <a:off x="8275320" y="2715768"/>
            <a:ext cx="3017520" cy="594360"/>
          </a:xfrm>
          <a:prstGeom prst="rect">
            <a:avLst/>
          </a:prstGeom>
          <a:noFill/>
          <a:ln/>
        </p:spPr>
        <p:txBody>
          <a:bodyPr wrap="square" lIns="0" tIns="0" rIns="0" bIns="0" rtlCol="0" anchor="b"/>
          <a:lstStyle/>
          <a:p>
            <a:pPr indent="0" marL="0">
              <a:buNone/>
            </a:pPr>
            <a:r>
              <a:rPr lang="en-US" sz="3000" b="1" dirty="0">
                <a:solidFill>
                  <a:schemeClr val="accent3"/>
                </a:solidFill>
                <a:latin typeface="Georgia" pitchFamily="34" charset="0"/>
                <a:ea typeface="Georgia" pitchFamily="34" charset="-122"/>
                <a:cs typeface="Georgia" pitchFamily="34" charset="-120"/>
              </a:rPr>
              <a:t>≤ 2 cm</a:t>
            </a:r>
            <a:endParaRPr lang="en-US" sz="3000" dirty="0"/>
          </a:p>
        </p:txBody>
      </p:sp>
      <p:sp>
        <p:nvSpPr>
          <p:cNvPr id="10" name="Headline 2 label"/>
          <p:cNvSpPr txBox="1"/>
          <p:nvPr/>
        </p:nvSpPr>
        <p:spPr>
          <a:xfrm>
            <a:off x="8275320" y="3337560"/>
            <a:ext cx="3017520" cy="411480"/>
          </a:xfrm>
          <a:prstGeom prst="rect">
            <a:avLst/>
          </a:prstGeom>
          <a:noFill/>
          <a:ln/>
        </p:spPr>
        <p:txBody>
          <a:bodyPr wrap="square" lIns="0" tIns="0" rIns="0" bIns="0" rtlCol="0" anchor="t"/>
          <a:lstStyle/>
          <a:p>
            <a:pPr indent="0" marL="0">
              <a:buNone/>
            </a:pPr>
            <a:r>
              <a:rPr lang="en-US" sz="1300" dirty="0">
                <a:solidFill>
                  <a:schemeClr val="bg1"/>
                </a:solidFill>
              </a:rPr>
              <a:t>agreement with Chen et al. (2021)</a:t>
            </a:r>
            <a:endParaRPr lang="en-US" sz="1300" dirty="0"/>
          </a:p>
        </p:txBody>
      </p:sp>
      <p:sp>
        <p:nvSpPr>
          <p:cNvPr id="11" name="Headline 3 card"/>
          <p:cNvSpPr/>
          <p:nvPr/>
        </p:nvSpPr>
        <p:spPr>
          <a:xfrm>
            <a:off x="8001000" y="4023360"/>
            <a:ext cx="3566160" cy="1234440"/>
          </a:xfrm>
          <a:prstGeom prst="roundRect">
            <a:avLst>
              <a:gd name="adj" fmla="val 8889"/>
            </a:avLst>
          </a:prstGeom>
          <a:solidFill>
            <a:srgbClr val="13315C"/>
          </a:solidFill>
          <a:ln/>
        </p:spPr>
      </p:sp>
      <p:sp>
        <p:nvSpPr>
          <p:cNvPr id="12" name="Headline 3 value"/>
          <p:cNvSpPr txBox="1"/>
          <p:nvPr/>
        </p:nvSpPr>
        <p:spPr>
          <a:xfrm>
            <a:off x="8275320" y="4133088"/>
            <a:ext cx="3017520" cy="594360"/>
          </a:xfrm>
          <a:prstGeom prst="rect">
            <a:avLst/>
          </a:prstGeom>
          <a:noFill/>
          <a:ln/>
        </p:spPr>
        <p:txBody>
          <a:bodyPr wrap="square" lIns="0" tIns="0" rIns="0" bIns="0" rtlCol="0" anchor="b"/>
          <a:lstStyle/>
          <a:p>
            <a:pPr indent="0" marL="0">
              <a:buNone/>
            </a:pPr>
            <a:r>
              <a:rPr lang="en-US" sz="3000" b="1" dirty="0">
                <a:solidFill>
                  <a:schemeClr val="accent3"/>
                </a:solidFill>
                <a:latin typeface="Georgia" pitchFamily="34" charset="0"/>
                <a:ea typeface="Georgia" pitchFamily="34" charset="-122"/>
                <a:cs typeface="Georgia" pitchFamily="34" charset="-120"/>
              </a:rPr>
              <a:t>×2.7</a:t>
            </a:r>
            <a:endParaRPr lang="en-US" sz="3000" dirty="0"/>
          </a:p>
        </p:txBody>
      </p:sp>
      <p:sp>
        <p:nvSpPr>
          <p:cNvPr id="13" name="Headline 3 label"/>
          <p:cNvSpPr txBox="1"/>
          <p:nvPr/>
        </p:nvSpPr>
        <p:spPr>
          <a:xfrm>
            <a:off x="8275320" y="4754880"/>
            <a:ext cx="3017520" cy="411480"/>
          </a:xfrm>
          <a:prstGeom prst="rect">
            <a:avLst/>
          </a:prstGeom>
          <a:noFill/>
          <a:ln/>
        </p:spPr>
        <p:txBody>
          <a:bodyPr wrap="square" lIns="0" tIns="0" rIns="0" bIns="0" rtlCol="0" anchor="t"/>
          <a:lstStyle/>
          <a:p>
            <a:pPr indent="0" marL="0">
              <a:buNone/>
            </a:pPr>
            <a:r>
              <a:rPr lang="en-US" sz="1300" dirty="0">
                <a:solidFill>
                  <a:schemeClr val="bg1"/>
                </a:solidFill>
              </a:rPr>
              <a:t>faster horizontal motion in the late winter</a:t>
            </a:r>
            <a:endParaRPr lang="en-US" sz="1300" dirty="0"/>
          </a:p>
        </p:txBody>
      </p:sp>
    </p:spTree>
  </p:cSld>
  <p:clrMapOvr>
    <a:masterClrMapping/>
  </p:clrMapOvr>
</p:sld>
</file>

<file path=ppt/theme/theme1.xml><?xml version="1.0" encoding="utf-8"?>
<a:theme xmlns:a="http://schemas.openxmlformats.org/drawingml/2006/main" name="Polar Night">
  <a:themeElements>
    <a:clrScheme name="Polar Night">
      <a:dk1>
        <a:srgbClr val="16243A"/>
      </a:dk1>
      <a:lt1>
        <a:srgbClr val="FFFFFF"/>
      </a:lt1>
      <a:dk2>
        <a:srgbClr val="0B2545"/>
      </a:dk2>
      <a:lt2>
        <a:srgbClr val="EAF2F8"/>
      </a:lt2>
      <a:accent1>
        <a:srgbClr val="1B6A8C"/>
      </a:accent1>
      <a:accent2>
        <a:srgbClr val="E07A2F"/>
      </a:accent2>
      <a:accent3>
        <a:srgbClr val="8FC1DA"/>
      </a:accent3>
      <a:accent4>
        <a:srgbClr val="5C6B7A"/>
      </a:accent4>
      <a:accent5>
        <a:srgbClr val="2E8B6E"/>
      </a:accent5>
      <a:accent6>
        <a:srgbClr val="B23A48"/>
      </a:accent6>
      <a:hlink>
        <a:srgbClr val="1B6A8C"/>
      </a:hlink>
      <a:folHlink>
        <a:srgbClr val="5C6B7A"/>
      </a:folHlink>
    </a:clrScheme>
    <a:fontScheme name="Polar Nigh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Coherence onset and two-dimensional deformation of landfast sea ice at Cambridge Bay</dc:title>
  <dc:subject>PptxGenJS Presentation</dc:subject>
  <dc:creator>Ananthanarayanan B</dc:creator>
  <cp:lastModifiedBy>Ananthanarayanan B</cp:lastModifiedBy>
  <cp:revision>1</cp:revision>
  <dcterms:created xsi:type="dcterms:W3CDTF">2026-10-04T15:30:09Z</dcterms:created>
  <dcterms:modified xsi:type="dcterms:W3CDTF">2026-10-04T15:30:09Z</dcterms:modified>
</cp:coreProperties>
</file>